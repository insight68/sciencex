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a0555d67564acb" /><Relationship Type="http://schemas.openxmlformats.org/officeDocument/2006/relationships/extended-properties" Target="/docProps/app.xml" Id="R91607bf4217c4f5e" /><Relationship Type="http://schemas.openxmlformats.org/officeDocument/2006/relationships/officeDocument" Target="/ppt/presentation.xml" Id="Rd626e971880d4a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42adb23d714241"/>
  </p:sldMasterIdLst>
  <p:notesMasterIdLst>
    <p:notesMasterId xmlns:r="http://schemas.openxmlformats.org/officeDocument/2006/relationships" r:id="R9e72083c409b4bc2"/>
  </p:notesMasterIdLst>
  <p:sldIdLst>
    <p:sldId xmlns:r="http://schemas.openxmlformats.org/officeDocument/2006/relationships" id="256" r:id="R55497d9e37174d9e"/>
    <p:sldId xmlns:r="http://schemas.openxmlformats.org/officeDocument/2006/relationships" id="257" r:id="R02c882b8be5c49e1"/>
    <p:sldId xmlns:r="http://schemas.openxmlformats.org/officeDocument/2006/relationships" id="258" r:id="Rcfe709aec55e4610"/>
    <p:sldId xmlns:r="http://schemas.openxmlformats.org/officeDocument/2006/relationships" id="259" r:id="R5be428e34c3d44f6"/>
    <p:sldId xmlns:r="http://schemas.openxmlformats.org/officeDocument/2006/relationships" id="260" r:id="R7b5d0b03dd0a4fd9"/>
    <p:sldId xmlns:r="http://schemas.openxmlformats.org/officeDocument/2006/relationships" id="261" r:id="Rd31faf8eed7247c7"/>
    <p:sldId xmlns:r="http://schemas.openxmlformats.org/officeDocument/2006/relationships" id="262" r:id="R80b36705077a463f"/>
    <p:sldId xmlns:r="http://schemas.openxmlformats.org/officeDocument/2006/relationships" id="263" r:id="Rfeae1a917f694dbe"/>
    <p:sldId xmlns:r="http://schemas.openxmlformats.org/officeDocument/2006/relationships" id="264" r:id="R8162df7a5f3d4621"/>
    <p:sldId xmlns:r="http://schemas.openxmlformats.org/officeDocument/2006/relationships" id="265" r:id="R0b6f4a8519d2482a"/>
    <p:sldId xmlns:r="http://schemas.openxmlformats.org/officeDocument/2006/relationships" id="266" r:id="R3b7ef5b3706f4324"/>
    <p:sldId xmlns:r="http://schemas.openxmlformats.org/officeDocument/2006/relationships" id="267" r:id="R7db518e8a3434d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d23ee4daa0421c" /><Relationship Type="http://schemas.openxmlformats.org/officeDocument/2006/relationships/slideMaster" Target="/ppt/slideMasters/slideMaster1.xml" Id="R8242adb23d714241" /><Relationship Type="http://schemas.openxmlformats.org/officeDocument/2006/relationships/notesMaster" Target="/ppt/notesMasters/notesMaster1.xml" Id="R9e72083c409b4bc2" /><Relationship Type="http://schemas.openxmlformats.org/officeDocument/2006/relationships/presProps" Target="/ppt/presProps.xml" Id="Rb2dc6438af084f27" /><Relationship Type="http://schemas.openxmlformats.org/officeDocument/2006/relationships/tableStyles" Target="/ppt/tableStyles.xml" Id="R5b5772d63dea4f79" /><Relationship Type="http://schemas.openxmlformats.org/officeDocument/2006/relationships/slide" Target="/ppt/slides/slide1.xml" Id="R55497d9e37174d9e" /><Relationship Type="http://schemas.openxmlformats.org/officeDocument/2006/relationships/slide" Target="/ppt/slides/slide2.xml" Id="R02c882b8be5c49e1" /><Relationship Type="http://schemas.openxmlformats.org/officeDocument/2006/relationships/slide" Target="/ppt/slides/slide3.xml" Id="Rcfe709aec55e4610" /><Relationship Type="http://schemas.openxmlformats.org/officeDocument/2006/relationships/slide" Target="/ppt/slides/slide4.xml" Id="R5be428e34c3d44f6" /><Relationship Type="http://schemas.openxmlformats.org/officeDocument/2006/relationships/slide" Target="/ppt/slides/slide5.xml" Id="R7b5d0b03dd0a4fd9" /><Relationship Type="http://schemas.openxmlformats.org/officeDocument/2006/relationships/slide" Target="/ppt/slides/slide6.xml" Id="Rd31faf8eed7247c7" /><Relationship Type="http://schemas.openxmlformats.org/officeDocument/2006/relationships/slide" Target="/ppt/slides/slide7.xml" Id="R80b36705077a463f" /><Relationship Type="http://schemas.openxmlformats.org/officeDocument/2006/relationships/slide" Target="/ppt/slides/slide8.xml" Id="Rfeae1a917f694dbe" /><Relationship Type="http://schemas.openxmlformats.org/officeDocument/2006/relationships/slide" Target="/ppt/slides/slide9.xml" Id="R8162df7a5f3d4621" /><Relationship Type="http://schemas.openxmlformats.org/officeDocument/2006/relationships/slide" Target="/ppt/slides/slide10.xml" Id="R0b6f4a8519d2482a" /><Relationship Type="http://schemas.openxmlformats.org/officeDocument/2006/relationships/slide" Target="/ppt/slides/slide11.xml" Id="R3b7ef5b3706f4324" /><Relationship Type="http://schemas.openxmlformats.org/officeDocument/2006/relationships/slide" Target="/ppt/slides/slide12.xml" Id="R7db518e8a3434d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2bc4eed48b40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e9acaa77a14638" /><Relationship Type="http://schemas.openxmlformats.org/officeDocument/2006/relationships/notesMaster" Target="/ppt/notesMasters/notesMaster1.xml" Id="R9438db2e537a4b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2afa5bf42a4868" /><Relationship Type="http://schemas.openxmlformats.org/officeDocument/2006/relationships/notesMaster" Target="/ppt/notesMasters/notesMaster1.xml" Id="R39cc5fae502e4a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f941799f2d47ac" /><Relationship Type="http://schemas.openxmlformats.org/officeDocument/2006/relationships/notesMaster" Target="/ppt/notesMasters/notesMaster1.xml" Id="Rf0e4854d0b6d49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fd79135204482d" /><Relationship Type="http://schemas.openxmlformats.org/officeDocument/2006/relationships/notesMaster" Target="/ppt/notesMasters/notesMaster1.xml" Id="R070b7b5f5cc84a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46912c647144a4" /><Relationship Type="http://schemas.openxmlformats.org/officeDocument/2006/relationships/notesMaster" Target="/ppt/notesMasters/notesMaster1.xml" Id="R230fab650fcb43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1ffad82da64a64" /><Relationship Type="http://schemas.openxmlformats.org/officeDocument/2006/relationships/notesMaster" Target="/ppt/notesMasters/notesMaster1.xml" Id="Rfeaf2ff261b642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cee56e1278419e" /><Relationship Type="http://schemas.openxmlformats.org/officeDocument/2006/relationships/notesMaster" Target="/ppt/notesMasters/notesMaster1.xml" Id="Ra14b1cd0c1fd4c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27adf207dc4dc1" /><Relationship Type="http://schemas.openxmlformats.org/officeDocument/2006/relationships/notesMaster" Target="/ppt/notesMasters/notesMaster1.xml" Id="R26429bdbfe4046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cb1014531e4aba" /><Relationship Type="http://schemas.openxmlformats.org/officeDocument/2006/relationships/notesMaster" Target="/ppt/notesMasters/notesMaster1.xml" Id="R0426bf55319d4f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f604c04c7f4097" /><Relationship Type="http://schemas.openxmlformats.org/officeDocument/2006/relationships/notesMaster" Target="/ppt/notesMasters/notesMaster1.xml" Id="Rb35c3f8be1d249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a5f5d2adb3421d" /><Relationship Type="http://schemas.openxmlformats.org/officeDocument/2006/relationships/notesMaster" Target="/ppt/notesMasters/notesMaster1.xml" Id="Rd82f3aac190746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316977e7ed4ca9" /><Relationship Type="http://schemas.openxmlformats.org/officeDocument/2006/relationships/notesMaster" Target="/ppt/notesMasters/notesMaster1.xml" Id="Refb115a8b8ab4b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开场先给出一句话定位：ScienceX 是开源、本地优先、可追溯的 AI 科研工作台。</a:t>
            </a:r>
          </a:p>
          <a:p xmlns:a="http://schemas.openxmlformats.org/drawingml/2006/main">
            <a:r>
              <a:t>强调“工作台”三个字。它不是只回答问题的聊天框，而是承载研究项目、研究线程、工具调用、数据版本和研究产物的桌面环境。</a:t>
            </a:r>
          </a:p>
          <a:p xmlns:a="http://schemas.openxmlformats.org/drawingml/2006/main">
            <a:r>
              <a:t>这一页只建立共同语言：我们要解决的不是让 AI 说得更多，而是让研究过程更连续、更可核对。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科研时间经常被四类工作切碎：找资料、跟进度、追逻辑和改表达。它们重要，但重复、规模大，也容易丢上下文。</a:t>
            </a:r>
          </a:p>
          <a:p xmlns:a="http://schemas.openxmlformats.org/drawingml/2006/main">
            <a:r>
              <a:t>ScienceX 对每一类工作都要求留下可检查的产物。例如检索不是给几个链接，而是形成带出处的文献表；进度不是聊天记录，而是阶段总结和下一步清单。</a:t>
            </a:r>
          </a:p>
          <a:p xmlns:a="http://schemas.openxmlformats.org/drawingml/2006/main">
            <a:r>
              <a:t>右侧是不能外包的部分。研究者仍然决定读什么、信什么、优先做什么，以及结论是否成立。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 ScienceX 的责任边界。左边是系统擅长的执行、整理、计算和记录，右边是研究者必须承担的判断。</a:t>
            </a:r>
          </a:p>
          <a:p xmlns:a="http://schemas.openxmlformats.org/drawingml/2006/main">
            <a:r>
              <a:t>中间的“确认”很关键。自动化结果只有在研究者检查来源、方法、告警和产物之后，才可以进入下一轮研究状态。</a:t>
            </a:r>
          </a:p>
          <a:p xmlns:a="http://schemas.openxmlformats.org/drawingml/2006/main">
            <a:r>
              <a:t>因此我们把当前运行模式明确写成 Human-driven Research Loop。ScienceX 能加速研究，但不替代研究者签署最终结论。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这里展示的是当前品牌首页中的真实产品界面，已经裁切并脱敏。</a:t>
            </a:r>
          </a:p>
          <a:p xmlns:a="http://schemas.openxmlformats.org/drawingml/2006/main">
            <a:r>
              <a:t>左侧研究线程承载研究问题、过程说明、文件和后续行动；右上是定时任务入口；右下是产品里可查看的科研 Skills。</a:t>
            </a:r>
          </a:p>
          <a:p xmlns:a="http://schemas.openxmlformats.org/drawingml/2006/main">
            <a:r>
              <a:t>这说明 ScienceX 的价值不在于功能数量，而在于这些能力是否在同一个研究上下文中持续工作。</a:t>
            </a:r>
          </a:p>
          <a:p xmlns:a="http://schemas.openxmlformats.org/drawingml/2006/main">
            <a:r>
              <a:t>定时任务也有明确边界：本地任务只在应用运行、设备保持唤醒时执行。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ScienceX 的核心不是线性工作流，而是 Research Loop。研究问题产生候选假设，假设需要证据与数据，再进入实验或计算。</a:t>
            </a:r>
          </a:p>
          <a:p xmlns:a="http://schemas.openxmlformats.org/drawingml/2006/main">
            <a:r>
              <a:t>结果必须连同边界一起被保存，然后转化成下一轮问题。闭环的价值，是每一轮都能知道我们改了什么、为什么改、结果如何变化。</a:t>
            </a:r>
          </a:p>
          <a:p xmlns:a="http://schemas.openxmlformats.org/drawingml/2006/main">
            <a:r>
              <a:t>底部的 Research Memory 是状态层。它保存目标、假设、数据版本、证据关系、关键决策、结果和未解决问题。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这一页刻意把现在、下一阶段和长期愿景分开，避免把未来能力当成现状。</a:t>
            </a:r>
          </a:p>
          <a:p xmlns:a="http://schemas.openxmlformats.org/drawingml/2006/main">
            <a:r>
              <a:t>当前可用的是 Research Assistant：研究线程、本地项目、科研 Skills、数据版本、确定性分析、证据和重放。</a:t>
            </a:r>
          </a:p>
          <a:p xmlns:a="http://schemas.openxmlformats.org/drawingml/2006/main">
            <a:r>
              <a:t>下一阶段才是更完整的 Research Agent，它需要在人工确认后组织计划、执行和验证。AI Scientist 是长期愿景，强调结果持续改变候选假设和研究方向。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这条案例用模拟细胞活力数据演示完整研究链路，三分钟内完成版本化实验设计、确定性 4PL 分析、技术证据评估和结果重放。</a:t>
            </a:r>
          </a:p>
          <a:p xmlns:a="http://schemas.openxmlformats.org/drawingml/2006/main">
            <a:r>
              <a:t>四个事实可以核对：24 个孔位、SHA-256 输入与产物哈希、固定原始版本重放，以及三类研究产物。</a:t>
            </a:r>
          </a:p>
          <a:p xmlns:a="http://schemas.openxmlformats.org/drawingml/2006/main">
            <a:r>
              <a:t>更重要的是，它保留失败和不确定性。缺孔输入会明确失败，弱响应会标记“技术证据尚无定论”，系统不会静默补值或把运行完成写成科学结论。</a:t>
            </a:r>
          </a:p>
          <a:p xmlns:a="http://schemas.openxmlformats.org/drawingml/2006/main">
            <a:r>
              <a:t>需要明确：这是产品教学中的模拟数据，不代表真实药效或湿实验验证。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一次研究推进分成五个动作。先理解当前问题和证据，再形成计划，之后调用已授权能力执行。</a:t>
            </a:r>
          </a:p>
          <a:p xmlns:a="http://schemas.openxmlformats.org/drawingml/2006/main">
            <a:r>
              <a:t>执行后必须验证输入、结果、告警和产物，最后由研究者确认哪些状态值得保留。</a:t>
            </a:r>
          </a:p>
          <a:p xmlns:a="http://schemas.openxmlformats.org/drawingml/2006/main">
            <a:r>
              <a:t>底部的状态层把每次运行连接起来。这样下一次不是从空白聊天开始，而是从已有目标、假设、数据版本和未解决问题继续。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当前首页列出 20 个科研 Skills。它们按研究任务组织，而不是按技术栈堆叠。</a:t>
            </a:r>
          </a:p>
          <a:p xmlns:a="http://schemas.openxmlformats.org/drawingml/2006/main">
            <a:r>
              <a:t>这一页先看研究前半程：发现与检索、调研与推理、研究与实验。研究者能看到 Skill 的名称、用途和适用边界。</a:t>
            </a:r>
          </a:p>
          <a:p xmlns:a="http://schemas.openxmlformats.org/drawingml/2006/main">
            <a:r>
              <a:t>例如 scansci-pdf 负责论文获取流程，good-question 用评审式追问暴露论证缺口，experiment-design 把研究问题转成实验设计。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这一页是研究后半程。写作与呈现能力负责把研究过程组织成论文、图像、幻灯片、视频和课程产物。</a:t>
            </a:r>
          </a:p>
          <a:p xmlns:a="http://schemas.openxmlformats.org/drawingml/2006/main">
            <a:r>
              <a:t>审查与记忆能力负责论文审查、引用核对和长期上下文；能力评测则在采用新的 MCP 或 Skill 之前检查质量。</a:t>
            </a:r>
          </a:p>
          <a:p xmlns:a="http://schemas.openxmlformats.org/drawingml/2006/main">
            <a:r>
              <a:t>需要再次强调，已集成不等于无条件可运行。某些 Skills 需要本机依赖、外部服务或用户授权，ScienceX 不会默认获得论文库、数据库或其他系统的访问权。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ScienceX 可以连接本地文件、代码与终端、模型提供商、MCP、数据源和计算环境，但每一项都以本机配置和用户授权为前提。</a:t>
            </a:r>
          </a:p>
          <a:p xmlns:a="http://schemas.openxmlformats.org/drawingml/2006/main">
            <a:r>
              <a:t>连接环境不等于自动拥有访问权。ScienceX 不会默认获得数据库、论文库或第三方系统权限。</a:t>
            </a:r>
          </a:p>
          <a:p xmlns:a="http://schemas.openxmlformats.org/drawingml/2006/main">
            <a:r>
              <a:t>右侧四条边界是面向科研使用的底线：AI 可以纠错但不替代论证，可以初筛但不替代精读；敏感和未公开数据要先确认边界；运行结果不能被夸大成科学结论。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收束到一个可执行的开始方式。打开本地研究项目，说清范围、输出格式和验收条件，然后检查来源、产物与下一步建议。</a:t>
            </a:r>
          </a:p>
          <a:p xmlns:a="http://schemas.openxmlformats.org/drawingml/2006/main">
            <a:r>
              <a:t>示例指令故意包含四个约束：时间范围、整理维度、每条出处，以及找不到就明确说明。这些约束让任务可检查，也把“不要编造”写成验收标准。</a:t>
            </a:r>
          </a:p>
          <a:p xmlns:a="http://schemas.openxmlformats.org/drawingml/2006/main">
            <a:r>
              <a:t>最后回到产品定位：ScienceX 是科研工作台。它让研究问题、证据、运行和下一步进入同一条可追溯链路。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0ac79ac4f343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07074f56604508" /><Relationship Type="http://schemas.openxmlformats.org/officeDocument/2006/relationships/slideLayout" Target="/ppt/slideLayouts/slideLayout1.xml" Id="Rc2c43e7814fa4a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c43e7814fa4a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51df8ed6f4421" /><Relationship Type="http://schemas.openxmlformats.org/officeDocument/2006/relationships/notesSlide" Target="/ppt/notesSlides/notesSlide1.xml" Id="Rabf3c3cb284749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8744c95b34d5f" /><Relationship Type="http://schemas.openxmlformats.org/officeDocument/2006/relationships/notesSlide" Target="/ppt/notesSlides/notesSlide2.xml" Id="Rd7b65b751eae40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7699aca8e4bce" /><Relationship Type="http://schemas.openxmlformats.org/officeDocument/2006/relationships/notesSlide" Target="/ppt/notesSlides/notesSlide3.xml" Id="R58671a04562040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c3f0c48234a84" /><Relationship Type="http://schemas.openxmlformats.org/officeDocument/2006/relationships/image" Target="/ppt/media/image.png" Id="R0ffb826c70b84b3b" /><Relationship Type="http://schemas.openxmlformats.org/officeDocument/2006/relationships/notesSlide" Target="/ppt/notesSlides/notesSlide4.xml" Id="R1a215132f29241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80c79fdb740f7" /><Relationship Type="http://schemas.openxmlformats.org/officeDocument/2006/relationships/notesSlide" Target="/ppt/notesSlides/notesSlide5.xml" Id="Rae5f239120c34c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c207c7ec34b71" /><Relationship Type="http://schemas.openxmlformats.org/officeDocument/2006/relationships/notesSlide" Target="/ppt/notesSlides/notesSlide6.xml" Id="Red3afcecd4924f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576c9107d4755" /><Relationship Type="http://schemas.openxmlformats.org/officeDocument/2006/relationships/image" Target="/ppt/media/image2.png" Id="R564b53ababaa4743" /><Relationship Type="http://schemas.openxmlformats.org/officeDocument/2006/relationships/notesSlide" Target="/ppt/notesSlides/notesSlide7.xml" Id="Raaacb6f0abc441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a75f29d7749a5" /><Relationship Type="http://schemas.openxmlformats.org/officeDocument/2006/relationships/notesSlide" Target="/ppt/notesSlides/notesSlide8.xml" Id="R11cdbe9955274d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d7b8440b64ec1" /><Relationship Type="http://schemas.openxmlformats.org/officeDocument/2006/relationships/notesSlide" Target="/ppt/notesSlides/notesSlide9.xml" Id="R5fec668b037b40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6da42e0634af4" /><Relationship Type="http://schemas.openxmlformats.org/officeDocument/2006/relationships/notesSlide" Target="/ppt/notesSlides/notesSlide10.xml" Id="R0a7656991e5d4f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c770924a74046" /><Relationship Type="http://schemas.openxmlformats.org/officeDocument/2006/relationships/notesSlide" Target="/ppt/notesSlides/notesSlide11.xml" Id="Rd8a9428649ac48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35fdecd2a419d" /><Relationship Type="http://schemas.openxmlformats.org/officeDocument/2006/relationships/notesSlide" Target="/ppt/notesSlides/notesSlide12.xml" Id="R07268c571d854c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28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62526C-A38D-474D-8068-9005B293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E2E82-EB77-4A47-9298-9F3802B4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OPEN SOURCE · LOCAL FIRST · TRACEABLE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2809F-784F-4FD8-8B00-023A770F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00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54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7246C-9D1D-4220-87D6-398AB1C4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5400" b="1" i="0">
                <a:solidFill>
                  <a:srgbClr val="00C86F"/>
                </a:solidFill>
                <a:latin typeface="Songti SC"/>
                <a:ea typeface="Songti SC"/>
                <a:cs typeface="Songti SC"/>
              </a:defRPr>
            </a:pPr>
            <a:r>
              <a:rPr sz="5400" b="1" i="0">
                <a:solidFill>
                  <a:srgbClr val="00C86F"/>
                </a:solidFill>
                <a:latin typeface="Songti SC"/>
                <a:ea typeface="Songti SC"/>
                <a:cs typeface="Songti SC"/>
              </a:rPr>
              <a:t>科研工作台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335D1-0EC9-4B8D-8FA1-4D943E66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 i="0">
                <a:solidFill>
                  <a:srgbClr val="C7DAD3"/>
                </a:solidFill>
                <a:latin typeface="Heiti SC"/>
                <a:ea typeface="Heiti SC"/>
                <a:cs typeface="Heiti SC"/>
              </a:defRPr>
            </a:pPr>
            <a:r>
              <a:rPr sz="1875" b="0" i="0">
                <a:solidFill>
                  <a:srgbClr val="C7DAD3"/>
                </a:solidFill>
                <a:latin typeface="Heiti SC"/>
                <a:ea typeface="Heiti SC"/>
                <a:cs typeface="Heiti SC"/>
              </a:rPr>
              <a:t>让研究问题、证据与下一步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 i="0">
                <a:solidFill>
                  <a:srgbClr val="C7DAD3"/>
                </a:solidFill>
                <a:latin typeface="Heiti SC"/>
                <a:ea typeface="Heiti SC"/>
                <a:cs typeface="Heiti SC"/>
              </a:defRPr>
            </a:pPr>
            <a:r>
              <a:rPr sz="1875" b="0" i="0">
                <a:solidFill>
                  <a:srgbClr val="C7DAD3"/>
                </a:solidFill>
                <a:latin typeface="Heiti SC"/>
                <a:ea typeface="Heiti SC"/>
                <a:cs typeface="Heiti SC"/>
              </a:rPr>
              <a:t>进入同一条可追溯链路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A8C0A-CFB3-4CB3-8846-FDA63E88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104900"/>
            <a:ext cx="2952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0000"/>
              </a:lnSpc>
              <a:buNone/>
              <a:defRPr sz="217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217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00BAA-AF77-4BF1-8EC9-DF20EA3A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981075"/>
            <a:ext cx="2381250" cy="2381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5D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32106-223A-4A06-9034-3CDD6663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1476375" cy="14763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73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1901A-82FD-4769-852A-061CC398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219200" cy="3429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0B4A3F"/>
          </a:solidFill>
          <a:ln xmlns:a="http://schemas.openxmlformats.org/drawingml/2006/main" w="9525">
            <a:solidFill>
              <a:srgbClr val="1E6D5E"/>
            </a:solidFill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E8E2"/>
                </a:solidFill>
                <a:latin typeface="Heiti SC"/>
                <a:ea typeface="Heiti SC"/>
                <a:cs typeface="Heiti SC"/>
              </a:defRPr>
            </a:pPr>
            <a:r>
              <a:rPr sz="1050" b="1">
                <a:solidFill>
                  <a:srgbClr val="D7E8E2"/>
                </a:solidFill>
                <a:latin typeface="Heiti SC"/>
                <a:ea typeface="Heiti SC"/>
                <a:cs typeface="Heiti SC"/>
              </a:rPr>
              <a:t>本地数据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B0AB5-8435-45AD-A130-286DC9D8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91150"/>
            <a:ext cx="1219200" cy="3429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0B4A3F"/>
          </a:solidFill>
          <a:ln xmlns:a="http://schemas.openxmlformats.org/drawingml/2006/main" w="9525">
            <a:solidFill>
              <a:srgbClr val="1E6D5E"/>
            </a:solidFill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E8E2"/>
                </a:solidFill>
                <a:latin typeface="Heiti SC"/>
                <a:ea typeface="Heiti SC"/>
                <a:cs typeface="Heiti SC"/>
              </a:defRPr>
            </a:pPr>
            <a:r>
              <a:rPr sz="1050" b="1">
                <a:solidFill>
                  <a:srgbClr val="D7E8E2"/>
                </a:solidFill>
                <a:latin typeface="Heiti SC"/>
                <a:ea typeface="Heiti SC"/>
                <a:cs typeface="Heiti SC"/>
              </a:rPr>
              <a:t>开放源码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B57802-1DF7-42D1-B683-7DF140A6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391150"/>
            <a:ext cx="1381125" cy="3429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0B4A3F"/>
          </a:solidFill>
          <a:ln xmlns:a="http://schemas.openxmlformats.org/drawingml/2006/main" w="9525">
            <a:solidFill>
              <a:srgbClr val="1E6D5E"/>
            </a:solidFill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E8E2"/>
                </a:solidFill>
                <a:latin typeface="Heiti SC"/>
                <a:ea typeface="Heiti SC"/>
                <a:cs typeface="Heiti SC"/>
              </a:defRPr>
            </a:pPr>
            <a:r>
              <a:rPr sz="1050" b="1">
                <a:solidFill>
                  <a:srgbClr val="D7E8E2"/>
                </a:solidFill>
                <a:latin typeface="Heiti SC"/>
                <a:ea typeface="Heiti SC"/>
                <a:cs typeface="Heiti SC"/>
              </a:rPr>
              <a:t>跨平台桌面端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04DE3-60A0-42FD-A170-9C9F5186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6EA99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6EA996"/>
                </a:solidFill>
                <a:latin typeface="Avenir Next"/>
                <a:ea typeface="Avenir Next"/>
                <a:cs typeface="Avenir Next"/>
              </a:rPr>
              <a:t>SCIENCEX · BRAND 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4A173-DA28-4AA8-8BD4-D33BBC6A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EA996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6EA996"/>
                </a:solidFill>
                <a:latin typeface="Avenir Next"/>
                <a:ea typeface="Avenir Next"/>
                <a:cs typeface="Avenir Next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13676006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C6BFC5-4014-492A-A5C6-BB0FA0C9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EE761-9416-4D6B-B455-0DC403AC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DAILY RESEARCH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6A2B6-545D-4FB5-87FD-3C86CB01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四件重复工作交给 ScienceX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E0638-DC55-4E97-B022-329E56BF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科研最稀缺的不是信息，而是研究者的注意力。可重复、可检查的工作交给系统，关键判断留给研究者。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3B965-B33A-4EF7-B132-1A3C24B9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D5EF1-CBB2-4C8F-82EC-B786F5F6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重复工作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FD300-CE2A-4360-BB10-FE91E556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52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形成产物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6F877-2340-4723-8B0D-BA6BF01E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52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研究者保留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5E234-AA86-4D3E-8ED5-827B9D9C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63A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94B14-5819-4DE2-90F8-C5142F33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288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88890-4DF8-4074-A674-4C0AD9A3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搜索资料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FAEBA-AC63-4E6D-8C16-BF88A2ED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098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带出处的文献表与证据摘要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46BDB-6905-4DD1-85A7-007E7869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098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决定精读什么、相信什么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F69852-664D-4F8D-8A76-1F7ABEF8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479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DA254E-1CF9-4853-8697-B4982392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30231-B579-434A-A595-EA14663B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进度跟踪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8ED0C7-3C61-4BAC-A30C-DD2FA053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进度板、阶段总结与下一步清单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4FC74A-1943-4773-9327-FCC8B7C8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480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决定优先级和研究方向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B087C2-E471-4D66-855E-8BB2155F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861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341CB0-8A64-4335-8F34-66900853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42EE36-00C7-44EF-8B79-D933D626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理清逻辑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ADFB7-4553-4858-8B94-20B9FBF9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862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论证缺口与待验证问题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29E3D6-A444-4609-9092-E3418575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862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回答关键问题、修正论证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1B1518-E1AC-4D18-BC8D-1B551E9E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243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E81146-8698-45F1-AA22-1D2C36F5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434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9F18FA-D748-4BCD-9D77-8FCB0A20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修改表达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D995C1-6088-4BC5-B21C-05EBB047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244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修改建议、差异记录与风格档案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6C7E14-D4C4-4992-B5E9-AEDBD0E1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244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保留观点、结论和个人风格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CA8B7B-303B-460A-9585-C6C73FBA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625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75EB13-B03F-422C-8544-DC0707A5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43575"/>
            <a:ext cx="110871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9525">
            <a:solidFill>
              <a:srgbClr val="003A3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3F381B-C74B-4106-B712-397A2DB2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提速的关键不是让 AI 代替思考，而是让它接手重复工作，并把证据和下一步留在研究过程里。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53C6CA-5CFE-47A3-8E22-98A988D8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42DCC5-6B4B-4201-B80C-B3ED7D3A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02</a:t>
            </a:r>
          </a:p>
        </p:txBody>
      </p:sp>
    </p:spTree>
    <p:extLst>
      <p:ext uri="{BB962C8B-B14F-4D97-AF65-F5344CB8AC3E}">
        <p14:creationId xmlns:p14="http://schemas.microsoft.com/office/powerpoint/2010/main" val="10397684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8567B-F102-47D7-9E1D-9B9CF087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2DAF3-36FC-428C-A575-9FE08747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HUMAN IN THE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D82CC-D900-4435-AFC4-AAD74236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系统执行，研究者判断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E1D63-BAEF-4ACC-A28F-1076D1B3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高风险操作需要授权，关键证据需要人工复核。ScienceX 承担执行和记录，研究者承担科学判断。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E2A31-EA42-4813-B0C6-A001CD56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F439A-15A5-4732-BADF-D80BA673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81175"/>
            <a:ext cx="5219700" cy="36671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9525">
            <a:solidFill>
              <a:srgbClr val="003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AFC33-A77D-474D-A675-3BD40D06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81175"/>
            <a:ext cx="5600700" cy="36671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0FAF4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67A14-BF86-4381-B221-530429A2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A1B9D-165A-4E7F-A0A1-2146CF5B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29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执行与记录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76C36-BB11-49CA-B0CC-D0B3DA8D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4000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rPr>
              <a:t>• 检索、阅读与整理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rPr>
              <a:t>• 编码、计算与比较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rPr>
              <a:t>• 执行获得授权的工具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rPr>
              <a:t>• 保存过程和候选假设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B989C-01A3-46AF-B51C-D37857A6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14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RESEARCHER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6D3ED5-0FB7-4C76-9FCD-BA3473A4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1935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92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科学判断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829D34-06C3-445A-A36F-A719BF8E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62300"/>
            <a:ext cx="4286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• 提出重要研究问题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• 审核方案与关键证据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• 判断结果是否成立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• 决定下一轮研究方向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05108-831D-4BF4-9AE3-7A6ED703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6707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62626-E4B0-4392-B63B-5015E68C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5242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275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确认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559D49-8CE6-496D-B2EF-90A5759D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734050"/>
            <a:ext cx="8896350" cy="466725"/>
          </a:xfrm>
          <a:prstGeom xmlns:a="http://schemas.openxmlformats.org/drawingml/2006/main" prst="roundRect">
            <a:avLst>
              <a:gd name="adj" fmla="val 24490"/>
            </a:avLst>
          </a:prstGeom>
          <a:solidFill xmlns:a="http://schemas.openxmlformats.org/drawingml/2006/main">
            <a:srgbClr val="063A32"/>
          </a:solidFill>
          <a:ln xmlns:a="http://schemas.openxmlformats.org/drawingml/2006/main" w="9525">
            <a:solidFill>
              <a:srgbClr val="063A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69CC6-5FB0-440C-B217-AB490B35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483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350" b="1" i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Human-driven Research Loop  ·  研究者发起、授权、复核并作出最终判断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F3A8F5-D87F-44BF-9780-54519825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505300-0E73-46E3-8640-37FD2B19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03</a:t>
            </a:r>
          </a:p>
        </p:txBody>
      </p:sp>
    </p:spTree>
    <p:extLst>
      <p:ext uri="{BB962C8B-B14F-4D97-AF65-F5344CB8AC3E}">
        <p14:creationId xmlns:p14="http://schemas.microsoft.com/office/powerpoint/2010/main" val="5275304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5849B-BAF6-43C7-B866-F87A6767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86375-C55A-4D9B-A3B0-20595004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PRODUCT IN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D6DAD-5F2C-4946-B147-E5E2F743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产品已经进入研究过程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5DA0B-00DF-4489-8ED1-45CB85E0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研究项目、研究线程、定时任务与科研 Skills，已经进入同一个桌面工作台。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42628-4190-478E-AFFE-7F47BCF5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b826c70b84b3b"/>
          <a:srcRect xmlns:a="http://schemas.openxmlformats.org/drawingml/2006/main" l="0" t="5685" r="0" b="56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19250"/>
            <a:ext cx="11087100" cy="457200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089A0-4933-46DE-B324-B6E073A6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6C52E-E2AC-4C6F-A804-8972AFF9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04</a:t>
            </a:r>
          </a:p>
        </p:txBody>
      </p:sp>
    </p:spTree>
    <p:extLst>
      <p:ext uri="{BB962C8B-B14F-4D97-AF65-F5344CB8AC3E}">
        <p14:creationId xmlns:p14="http://schemas.microsoft.com/office/powerpoint/2010/main" val="1403377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28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E4F53A-8BF8-4493-A3B6-072AAAC4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86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282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02821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482BD-8C95-4F43-9409-BAA4726A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RESEARCH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B04D3-E9E1-459A-989F-4B4B4992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科研不是一次性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0F2D8-7225-43B9-A703-6300A0C2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C5D8D1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C5D8D1"/>
                </a:solidFill>
                <a:latin typeface="Heiti SC"/>
                <a:ea typeface="Heiti SC"/>
                <a:cs typeface="Heiti SC"/>
              </a:rPr>
              <a:t>结果不是终点，而是下一轮研究的输入。ScienceX 保存状态并执行任务，研究者判断证据与方向。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D5950-4CFB-4C54-894C-6558E510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99008-60C6-42CE-9BEF-D2901A28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A4B40"/>
          </a:solidFill>
          <a:ln xmlns:a="http://schemas.openxmlformats.org/drawingml/2006/main" w="14288">
            <a:solidFill>
              <a:srgbClr val="1C65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B2215-266C-4E22-9903-26E0A3A9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E778E-2349-4816-B083-D6DFB77B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研究问题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061FE-C3BF-47DB-8C53-FC663808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DF4BFF-9F0C-4877-9C21-C5D898F1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A4B40"/>
          </a:solidFill>
          <a:ln xmlns:a="http://schemas.openxmlformats.org/drawingml/2006/main" w="14288">
            <a:solidFill>
              <a:srgbClr val="1C65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ED0D1-D784-4B2E-9C95-C8A74E1E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974B6-B24B-4A4D-BB8C-97F0071E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候选假设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B51C40-5972-4DB9-862C-B13C5979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rPr>
              <a:t>Hypothesis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C025EA-27AB-447C-9072-6BA96C36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A4B40"/>
          </a:solidFill>
          <a:ln xmlns:a="http://schemas.openxmlformats.org/drawingml/2006/main" w="14288">
            <a:solidFill>
              <a:srgbClr val="1C65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222A47-3031-4C58-B0CB-EC3F066A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C334FA-A9DA-4F3D-B481-7BB42F66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证据与数据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1AF5AE-50E8-4562-90B3-0E84ADC3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9B674-C51A-4C44-8D87-DC480D14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A4B40"/>
          </a:solidFill>
          <a:ln xmlns:a="http://schemas.openxmlformats.org/drawingml/2006/main" w="14288">
            <a:solidFill>
              <a:srgbClr val="1C65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75E8D-911A-4FDB-89B5-CB066AE3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34378E-52E0-4160-8278-259ECD42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实验 / 计算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BB7A13-B03A-441F-9A53-245DFDF5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rPr>
              <a:t>Experiment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5276C7-0047-442E-A4E6-975A307C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A4B40"/>
          </a:solidFill>
          <a:ln xmlns:a="http://schemas.openxmlformats.org/drawingml/2006/main" w="14288">
            <a:solidFill>
              <a:srgbClr val="1C65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59BEBF-BA80-4D26-B945-12976547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FB9191-6BEB-46A6-94D8-B168CCCE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结果与边界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4B7D91-5A48-4514-8B2E-542AA003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rPr>
              <a:t>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0E5B1E-9B39-4B97-AF88-45B2C9C4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0C86F"/>
          </a:solidFill>
          <a:ln xmlns:a="http://schemas.openxmlformats.org/drawingml/2006/main" w="14288">
            <a:solidFill>
              <a:srgbClr val="00C8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9BA1C0-927C-461A-AE5A-FA8F1772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282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2821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129568-A2FD-445E-8ED1-2785D4C6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002821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002821"/>
                </a:solidFill>
                <a:latin typeface="Songti SC"/>
                <a:ea typeface="Songti SC"/>
                <a:cs typeface="Songti SC"/>
              </a:rPr>
              <a:t>下一轮问题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0A2EEA-4761-4C4C-82CB-3D1913B7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075C43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075C43"/>
                </a:solidFill>
                <a:latin typeface="Avenir Next"/>
                <a:ea typeface="Avenir Next"/>
                <a:cs typeface="Avenir Next"/>
              </a:rPr>
              <a:t>Next question</a:t>
            </a:r>
          </a:p>
        </p:txBody>
      </p:sp>
      <p:cxnSp>
        <p:nvCxnSpPr>
          <p:cNvPr id="71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133600" y="2638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C99F"/>
            </a:solidFill>
            <a:prstDash val="solid"/>
            <a:head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000500" y="2638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C99F"/>
            </a:solidFill>
            <a:prstDash val="solid"/>
            <a:head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867400" y="2638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C99F"/>
            </a:solidFill>
            <a:prstDash val="solid"/>
            <a:head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734300" y="2638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C99F"/>
            </a:solidFill>
            <a:prstDash val="solid"/>
            <a:head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22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9601200" y="2638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C99F"/>
            </a:solidFill>
            <a:prstDash val="solid"/>
            <a:head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26" idx="2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>
            <a:off x="1419225" y="3200400"/>
            <a:ext cx="9334500" cy="228600"/>
          </a:xfrm>
          <a:prstGeom xmlns:a="http://schemas.openxmlformats.org/drawingml/2006/main" prst="bentConnector3">
            <a:avLst/>
          </a:prstGeom>
          <a:ln xmlns:a="http://schemas.openxmlformats.org/drawingml/2006/main" w="19050">
            <a:solidFill>
              <a:srgbClr val="00C86F"/>
            </a:solidFill>
            <a:prstDash val="solid"/>
            <a:head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2C7E12-35F5-4997-890A-7915998B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99822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063D34"/>
          </a:solidFill>
          <a:ln xmlns:a="http://schemas.openxmlformats.org/drawingml/2006/main" w="9525">
            <a:solidFill>
              <a:srgbClr val="1B665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F3CB1A-5FEB-4B6F-9719-47F0398B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910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RESEARCH MEMORY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287C41-DFB3-4580-A799-E57642FF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14875"/>
            <a:ext cx="9258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650" b="1" i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研究目标 · 候选假设 · 数据版本 · 证据关系 · 关键决策 · 结果 · 未解决问题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98246E-8453-418B-B73C-B777AC5F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15000"/>
            <a:ext cx="861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BED7CF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BED7CF"/>
                </a:solidFill>
                <a:latin typeface="Heiti SC"/>
                <a:ea typeface="Heiti SC"/>
                <a:cs typeface="Heiti SC"/>
              </a:rPr>
              <a:t>当前闭环由研究者驱动。ScienceX 协助执行、记录与重放，不替代最终科学判断。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641893-B510-40EF-8925-A18A06EA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584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1028AF-93D0-4CDD-BC92-E301DFCF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B8A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B8A5"/>
                </a:solidFill>
                <a:latin typeface="Avenir Next"/>
                <a:ea typeface="Avenir Next"/>
                <a:cs typeface="Avenir Next"/>
              </a:rPr>
              <a:t>SCIENCEX · 05</a:t>
            </a:r>
          </a:p>
        </p:txBody>
      </p:sp>
    </p:spTree>
    <p:extLst>
      <p:ext uri="{BB962C8B-B14F-4D97-AF65-F5344CB8AC3E}">
        <p14:creationId xmlns:p14="http://schemas.microsoft.com/office/powerpoint/2010/main" val="10752897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21A769-ABB8-403B-8F9C-E7E43066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11186-6148-4906-B96F-F6ACB9F5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CAPABILITY MATURITY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076AD-8563-4BB5-9343-2BC8D32C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从回答问题，到持续推进研究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1A358-D04D-4AA5-8E07-1B45F7CF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产品能力与长期愿景分开表达。当前可用、下一阶段与长期愿景，不混在同一张能力清单里。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1AB64-E107-4389-9A31-BEA989CB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34CFD-73FE-4BDC-9E42-2AD41D98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333750" cy="373380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0FAF4"/>
          </a:solidFill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4E550-DC21-4553-9231-0BFB3ED6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53676-5113-49EE-A293-A3E8327F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19300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86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2821"/>
                </a:solidFill>
                <a:latin typeface="Heiti SC"/>
                <a:ea typeface="Heiti SC"/>
                <a:cs typeface="Heiti SC"/>
              </a:defRPr>
            </a:pPr>
            <a:r>
              <a:rPr sz="975" b="1">
                <a:solidFill>
                  <a:srgbClr val="002821"/>
                </a:solidFill>
                <a:latin typeface="Heiti SC"/>
                <a:ea typeface="Heiti SC"/>
                <a:cs typeface="Heiti SC"/>
              </a:rPr>
              <a:t>当前可用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500F2F-0B94-474A-829D-2A897CD6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Research Assistant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D1A1E-F38A-4475-AE67-C90FD3F3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2325"/>
            <a:ext cx="2724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研究线程、本地项目、科研 Skills、数据版本、确定性分析、证据与重放。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484B7-0990-4CD2-B1CA-49BB43A2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C8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B0170-8ECA-4103-A4C3-235E405D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保存上下文 · 执行与记录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77449-9E84-4DD3-92DC-A9EC6560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3333750" cy="373380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7F9F5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030E1-66D8-4121-8A46-0F531C61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rPr>
              <a:t>NEXT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AFDD50-190F-4CB8-B867-5F395FC8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19300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1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下一阶段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D6C23B-10AD-4334-9DAF-5716E08D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670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Research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65BA06-A106-4BDF-9AA7-99331BCC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62325"/>
            <a:ext cx="2724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更完整地组织计划、执行和验证，并在人工确认后更新研究状态。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5185A9-F400-4A2E-9FDC-F3FA735C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625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D1CE7B-F5B5-4178-90BC-D9965AFD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53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rPr>
              <a:t>计划 · 执行 · 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72F026-EF36-44DF-B932-A386F855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09750"/>
            <a:ext cx="3333750" cy="373380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7F9F5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351297-CA25-407A-8C76-4574168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rPr>
              <a:t>VISION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A8E9C0-32EC-4B18-A7F9-F898648C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019300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1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长期愿景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34B8B2-FA33-4E1E-BD0B-15244E4F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670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AI Scientist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B704BE-3EA5-45E7-8E64-2DC3910C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62325"/>
            <a:ext cx="2724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让结果持续影响候选假设、实验设计和后续研究方向。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423D4C-D7B8-4A78-A0B9-3C35E81E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625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CE55EF-886E-4A08-A34D-57308F2D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53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rPr>
              <a:t>Hypothesis · Evidence · Next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5AECC8-DB1B-4153-9B91-AEE9766F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当前产品定位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499F24-5E37-4F1F-9EAF-1BE9A475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721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ScienceX 当前提供 Research Assistant 能力，后续才逐步走向更完整的 Research Agent。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5923DE-1334-4869-8AD9-9A7B8386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B051F5-B14D-4C0F-9D24-5C4605E7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06</a:t>
            </a:r>
          </a:p>
        </p:txBody>
      </p:sp>
    </p:spTree>
    <p:extLst>
      <p:ext uri="{BB962C8B-B14F-4D97-AF65-F5344CB8AC3E}">
        <p14:creationId xmlns:p14="http://schemas.microsoft.com/office/powerpoint/2010/main" val="21427341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73F48-AF74-4124-8966-A38CFD2C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D0FA5-D26F-4F1A-A1B9-1F224B9F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RUNNABLE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E3B7E-EA87-4B5B-8AAB-FFA1342E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7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7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一条可以实际运行和重放的研究链路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63AE4-214F-440C-B949-4E150184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本地教学案例保留数据版本、运行证据、失败和不确定性，而不是只展示成功结果。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491DC-9D9E-4CB9-97A3-8DA2D679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b53ababaa4743"/>
          <a:stretch xmlns:a="http://schemas.openxmlformats.org/drawingml/2006/main"/>
        </p:blipFill>
        <p:spPr>
          <a:xfrm xmlns:a="http://schemas.openxmlformats.org/drawingml/2006/main">
            <a:off x="552450" y="1831181"/>
            <a:ext cx="11087100" cy="3233738"/>
          </a:xfrm>
          <a:prstGeom xmlns:a="http://schemas.openxmlformats.org/drawingml/2006/main" prst="roundRect">
            <a:avLst>
              <a:gd name="adj" fmla="val 529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4935E-9683-4545-9818-85AB4819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14950"/>
            <a:ext cx="822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2B68F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2B68F2"/>
                </a:solidFill>
                <a:latin typeface="Avenir Next"/>
                <a:ea typeface="Avenir Next"/>
                <a:cs typeface="Avenir Next"/>
              </a:rPr>
              <a:t>03 MIN   ·   24 WELLS   ·   SHA-256   ·   REPLAY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AA648A-57E3-4649-B709-92B65E06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871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2CE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086DA-F740-45BF-BA63-743C6BD9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24550"/>
            <a:ext cx="1059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725515"/>
                </a:solidFill>
                <a:latin typeface="Heiti SC"/>
                <a:ea typeface="Heiti SC"/>
                <a:cs typeface="Heiti SC"/>
              </a:defRPr>
            </a:pPr>
            <a:r>
              <a:rPr sz="1275" b="1" i="0">
                <a:solidFill>
                  <a:srgbClr val="725515"/>
                </a:solidFill>
                <a:latin typeface="Heiti SC"/>
                <a:ea typeface="Heiti SC"/>
                <a:cs typeface="Heiti SC"/>
              </a:rPr>
              <a:t>模拟数据，仅用于产品教学；不代表真实药效、湿实验验证或科学结论。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23D763-666E-4FF1-8E83-74C68630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CA375-247F-4DF9-B293-74598DAE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07</a:t>
            </a:r>
          </a:p>
        </p:txBody>
      </p:sp>
    </p:spTree>
    <p:extLst>
      <p:ext uri="{BB962C8B-B14F-4D97-AF65-F5344CB8AC3E}">
        <p14:creationId xmlns:p14="http://schemas.microsoft.com/office/powerpoint/2010/main" val="3740478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256869-FD3D-4007-98A2-E9B07C02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1FD3A-F61C-4C8B-A649-41E1F668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HOW IT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C3163-1C02-41FA-8F25-0ECC2866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ScienceX 承载一次研究推进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1EDD4-3F1A-4C8F-9E9F-BE2B8E82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8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模型负责推理。ScienceX 读取研究状态、组织执行能力、保存运行证据，并把关键判断交还给研究者。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1E839-166C-4521-9AE3-1AFE6986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41194-0621-4818-9C1C-8B28F47B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AF4"/>
          </a:solidFill>
          <a:ln xmlns:a="http://schemas.openxmlformats.org/drawingml/2006/main" w="14288">
            <a:solidFill>
              <a:srgbClr val="CCD9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C8CA9-D4EF-49EA-AF0A-59D733FE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57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73349-BAE8-4774-81C0-C597BF64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Understand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75661-3FAE-46EE-BB3D-DDCE7B10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76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AF4"/>
          </a:solidFill>
          <a:ln xmlns:a="http://schemas.openxmlformats.org/drawingml/2006/main" w="14288">
            <a:solidFill>
              <a:srgbClr val="CCD9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45892-748D-40A6-A1A8-6AB320AA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57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D2365-728E-4622-8961-086A758C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908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E03104-915D-4C31-A136-6238B829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76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86F"/>
          </a:solidFill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F47B9-3162-4F66-B4DB-9E231E46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57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282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2821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09C83-9B7F-4D0C-BA18-FBCC76F6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908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6DCBF-48C2-4F5D-B706-9F7C19EE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76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AF4"/>
          </a:solidFill>
          <a:ln xmlns:a="http://schemas.openxmlformats.org/drawingml/2006/main" w="14288">
            <a:solidFill>
              <a:srgbClr val="CCD9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88C21-79BB-403C-81D3-1FC70A8E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57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69419-9FBA-4F6C-A2F5-0DB8F945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908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3D7828-2373-4840-8D19-4C24BF69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76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AF4"/>
          </a:solidFill>
          <a:ln xmlns:a="http://schemas.openxmlformats.org/drawingml/2006/main" w="14288">
            <a:solidFill>
              <a:srgbClr val="CCD9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154B8D-8D02-4CFF-97DE-F4541827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57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A8E3E2-50B1-49C8-BA30-8D3CE605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908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Learn</a:t>
            </a:r>
          </a:p>
        </p:txBody>
      </p:sp>
      <p:cxnSp>
        <p:nvCxnSpPr>
          <p:cNvPr id="56" name=""/>
          <p:cNvCxnSpPr>
            <a:stCxn xmlns:a="http://schemas.openxmlformats.org/drawingml/2006/main" id="6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2038350" y="26765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F52"/>
            </a:solidFill>
            <a:prstDash val="solid"/>
            <a:head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9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4286250" y="26765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F52"/>
            </a:solidFill>
            <a:prstDash val="solid"/>
            <a:head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2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6534150" y="26765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F52"/>
            </a:solidFill>
            <a:prstDash val="solid"/>
            <a:head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5" idx="6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8782050" y="26765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F52"/>
            </a:solidFill>
            <a:prstDash val="solid"/>
            <a:head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00B190-CF38-4CF4-A3F9-745E1299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读取问题、线程与证据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AC6C29-F4A7-45BC-BEEE-6355B27E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004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拆解任务与执行路径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78FAD1-B576-4BD8-9205-5BEBD28A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004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调用已授权能力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4852BE-5188-4F52-8E49-C72DD72D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004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检查输入、结果与产物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F8D8CA-9122-4505-B779-30FD3E1B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004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确认后保存关键状态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71762A-9D92-43EA-B4F8-325E1F54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110871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9525">
            <a:solidFill>
              <a:srgbClr val="003A3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A828B7-4873-4DB6-8186-33EE9A4D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RESEARCH MEMORY · STATE LAYER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6231EB-F759-473C-B2F2-AC026557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650" b="1" i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目标 · 假设 · 数据版本 · 证据 · 关键决策 · 未解决问题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C74B10-16FC-4C71-BF51-DF8DA0F6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7680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D5E6E0"/>
                </a:solidFill>
                <a:latin typeface="Heiti SC"/>
                <a:ea typeface="Heiti SC"/>
                <a:cs typeface="Heiti SC"/>
              </a:defRPr>
            </a:pPr>
            <a:r>
              <a:rPr sz="1350" b="1" i="0">
                <a:solidFill>
                  <a:srgbClr val="D5E6E0"/>
                </a:solidFill>
                <a:latin typeface="Heiti SC"/>
                <a:ea typeface="Heiti SC"/>
                <a:cs typeface="Heiti SC"/>
              </a:rPr>
              <a:t>自动化执行不等于科学结论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5E28D4-839D-41AD-B38E-B4CF7284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C7A83B-DBED-45D2-8895-3CE1BB1A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08</a:t>
            </a:r>
          </a:p>
        </p:txBody>
      </p:sp>
    </p:spTree>
    <p:extLst>
      <p:ext uri="{BB962C8B-B14F-4D97-AF65-F5344CB8AC3E}">
        <p14:creationId xmlns:p14="http://schemas.microsoft.com/office/powerpoint/2010/main" val="11739820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0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F1007D-0853-4896-9D0E-A4347935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26895-3058-49ED-8C14-7A3FA2DF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RESEARCH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F0596-8B1D-4C69-B69A-63AFEF41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20 个科研 Skills，把方法带进任务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1A125-D025-4FE2-9F8D-6327DAA9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953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3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12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这些 Skills 是可以查看、检查和组合的任务方法，不是藏在聊天框里的提示词。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9161A-B83E-4D0A-ACB0-EA89B10A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13628-AC20-45DD-8C3B-4B67E1F8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2333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94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4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91E69-6FF9-43AC-8881-0619155A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个科研 Skills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已集成到 ScienceX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C9EB2-A964-47A3-B3F1-D5E09DF0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3390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发现、推理、实验、表达、审查与评测，共同覆盖从问题到产物的研究过程。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CB0CCA-BBE4-49C7-A501-AEABA814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186BB-049D-49D0-BE0E-130295A2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69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发现与检索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C2F3F-56D6-4834-913E-03332DF7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908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找到方法、论文与可核对来源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798BF1-7536-47EE-BBED-7BB89ECB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81375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274054-67FC-47F5-B3EE-F8D36D45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57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find-science-skills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F15CF-DE24-4DB6-86A8-B6E73B46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719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giiisp-paper-search-apis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509D23-1962-488A-8624-ADFED22C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863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scansci-pdf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12F351-90D4-40E7-B5C0-63386A1E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32E641-CF27-4A5A-9813-343F88D7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调研与推理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00E2B9-C765-4542-8C34-80460C0F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908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形成候选方向并暴露论证缺口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B90632-3CF9-46B3-A3F0-2AA55F24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81375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595853-7770-457B-A929-00AFE252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57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sci-employee-deep-research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0C46FF-9F9C-43CF-ACFD-6BD38DC4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719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scispark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62A230-52BA-4D7F-80D9-8C56D1F8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863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good-question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5F293C-2E6C-4FE2-987E-A31F2D08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52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51EBD2-1899-4DB0-9685-A04D2765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669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研究与实验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FCD112-7A8B-4604-ACDA-12CE27C6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908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转成设计、数据基线与验证步骤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87C2EB-0833-42CB-9BFD-1411A9C2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81375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0D085B-ED01-42B9-B12E-68F9EEC4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57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experiment-design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6191DD-8364-4D34-BDBF-3144DC29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719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research-baseline-builder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2CE2AC-4EF7-490F-9799-F0425E15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34C102-5D93-449A-9AF6-C3EABE20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09</a:t>
            </a:r>
          </a:p>
        </p:txBody>
      </p:sp>
    </p:spTree>
    <p:extLst>
      <p:ext uri="{BB962C8B-B14F-4D97-AF65-F5344CB8AC3E}">
        <p14:creationId xmlns:p14="http://schemas.microsoft.com/office/powerpoint/2010/main" val="2815573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1AC391-E0E8-4861-97EE-5C6EE04E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98E23-3506-44BA-A70A-93FCC7AC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RESEARCH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28806-2A49-4781-80E3-7816757C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7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7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从研究产出到审查，能力边界都可见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18EEB-AD48-49A7-9469-097B1279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方法进入任务后，仍需要质量审查、引用核对、长期记忆和新工具采用前的评测。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11621-C8C2-433A-8DAB-11B63C48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357D3-8F41-4310-AA72-51F1C642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BC51E-6592-4D72-8063-EE698021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写作与呈现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9E8FD-AB9D-474D-98AF-C5033712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组织论文、图像、幻灯片、视频与课程产物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14638-AA44-40C2-9E0B-E9569240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1C6A9-0A99-453B-91A4-9D6D3AC3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01  academic-writing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5272C-F9F5-4A7A-A759-8ACB4F07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3382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50510-6A7F-4237-B8BF-AE6D8E2B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02  scientific-humanization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2A172-897E-487A-A781-159F9EAB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7197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9A794-1D1A-4BAD-8B1F-7DB5EDA7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03  giiisp-scientific-image-generation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6BDBCE-54C2-47D6-BB13-81A08C0E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FDB65-CA75-4B6F-9BC5-6883D5D6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04  visual-deck-builder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1C1E7-ED33-4C0C-98D3-06B52AF9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4827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02B89A-CD5A-4F25-9FFD-3E5A9858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05  manim-agent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03E70A-BB96-4AC5-9F24-DEE59133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8642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C817B7-6D94-43DC-9332-8D409402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06  practical-course-producer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D4473A-348F-4C86-8C0F-3C516AC6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09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B9BB32-6A81-4782-9F61-2DA39D7D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336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审查与记忆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BEF90C-40B4-44EA-A389-ED47ABDA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479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检查论文与引用，并保存长期研究上下文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F8936B-3424-49DF-9DAF-23E86ADA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147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B68333-2332-490E-BD07-87A68BF2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623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01  thesis-audit-reviewer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4B5671-50F9-4A68-B801-8CF472C8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3382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3D50CB-F702-48AE-AA21-67E57F07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0005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02  papercheck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3FC39A-9F55-459D-AF30-8AC5F14F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37197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9FF155-2F55-4A0B-9DEC-5CDC84A4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386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03  cognitive-profile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ACA5B7-4819-42D9-BED1-8830F7E9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1012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CA844A-32C5-417A-BAAF-D1051AE3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768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04  world-threads-entry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77F91B-8624-44CF-99C6-37500578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5E825D-7111-49CF-AEFB-65543B7A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能力评测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1AB402-6D19-4D31-8FA6-C78E7BCE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采用新工具前检查 MCP 与 Skill 的质量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B7DCC5-8569-454C-9810-BB7F06C1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14700"/>
            <a:ext cx="249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E68257-7EC6-4304-B1AD-11F2CCFB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623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01  mcp-criticagent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51FC25-A804-4CDB-B879-493399D3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33825"/>
            <a:ext cx="249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E40907-5577-493C-A640-2EBDFFC5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02  skill-criticagent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38694D-86D7-4C44-AF08-ACE0A14D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0"/>
            <a:ext cx="11087100" cy="36195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E5F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1A25F7-A577-49C3-B114-02A5FFC5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76950"/>
            <a:ext cx="1059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200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已集成不等于无条件可运行。依赖、外部服务、连接状态与用户授权仍然决定实际可用范围。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4D4A87-4E8A-4075-B30B-9684A478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ACA121-9A2E-4502-800E-AB6F8C1E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10</a:t>
            </a:r>
          </a:p>
        </p:txBody>
      </p:sp>
    </p:spTree>
    <p:extLst>
      <p:ext uri="{BB962C8B-B14F-4D97-AF65-F5344CB8AC3E}">
        <p14:creationId xmlns:p14="http://schemas.microsoft.com/office/powerpoint/2010/main" val="10909235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A3073C-947B-4B46-9991-82A50A73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CFB8F-786C-4927-8FB3-DA0188E5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C1AC1-20D1-484C-9503-40A4C6B0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连接真实环境，也明确使用边界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E4CC2-C7BB-4C8A-A1F6-233B2403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953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12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只调用本机已安装、已配置并获得授权的能力。连接执行环境，不等于扩大访问权限。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1C684-FA24-4441-BA44-97C9C62E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370C4-45A4-4C30-B8D6-4765FB9D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003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A32"/>
          </a:solidFill>
          <a:ln xmlns:a="http://schemas.openxmlformats.org/drawingml/2006/main" w="9525">
            <a:solidFill>
              <a:srgbClr val="003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DA4FD-C23B-49EE-AA58-9AF1F154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766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977FA-31E3-4673-AB07-55866A07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743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AUTHORIZED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019C1-2F22-4D3F-B977-EDC1A106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6C14C-EC30-4B6C-AA65-53D1CA89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本地文件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15E5F-8515-4FCA-A629-14CB629E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PDF / CSV / 项目目录</a:t>
            </a:r>
          </a:p>
        </p:txBody>
      </p:sp>
      <p:cxnSp>
        <p:nvCxnSpPr>
          <p:cNvPr id="60" name=""/>
          <p:cNvCxnSpPr>
            <a:stCxn xmlns:a="http://schemas.openxmlformats.org/drawingml/2006/main" id="9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2543175" y="2343150"/>
            <a:ext cx="266700" cy="12668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0B5A6"/>
            </a:solidFill>
            <a:prstDash val="solid"/>
            <a:head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559F7-14E9-4012-9CD1-E46690D1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304A1-9A28-4869-9128-AB6F2AEA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代码与终端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23747-ADD4-49D0-88C1-E0026BB5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仓库 / 命令 / 脚本</a:t>
            </a:r>
          </a:p>
        </p:txBody>
      </p:sp>
      <p:cxnSp>
        <p:nvCxnSpPr>
          <p:cNvPr id="64" name=""/>
          <p:cNvCxnSpPr>
            <a:stCxn xmlns:a="http://schemas.openxmlformats.org/drawingml/2006/main" id="13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2543175" y="3609975"/>
            <a:ext cx="26670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0B5A6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2AA008-D43C-4394-991C-A87E14B3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52625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91B64D-C68C-43F4-A2E4-EB271EF1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85975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模型提供商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6BAD51-6657-4224-B37A-B8EE4F59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09825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已配置的推理模型</a:t>
            </a:r>
          </a:p>
        </p:txBody>
      </p:sp>
      <p:cxnSp>
        <p:nvCxnSpPr>
          <p:cNvPr id="68" name=""/>
          <p:cNvCxnSpPr>
            <a:stCxn xmlns:a="http://schemas.openxmlformats.org/drawingml/2006/main" id="17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>
            <a:off x="2809875" y="2343150"/>
            <a:ext cx="3810000" cy="12668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0B5A6"/>
            </a:solidFill>
            <a:prstDash val="solid"/>
            <a:head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02EAFA-00C9-4D2A-9AE8-25B81F11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52950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258C4E-91F0-4E76-A199-A0646840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8630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MCP 服务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DADFE7-AE87-4684-A160-16B24131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10150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已启用的扩展工具</a:t>
            </a:r>
          </a:p>
        </p:txBody>
      </p:sp>
      <p:cxnSp>
        <p:nvCxnSpPr>
          <p:cNvPr id="72" name=""/>
          <p:cNvCxnSpPr>
            <a:stCxn xmlns:a="http://schemas.openxmlformats.org/drawingml/2006/main" id="21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2809875" y="3609975"/>
            <a:ext cx="381000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0B5A6"/>
            </a:solidFill>
            <a:prstDash val="solid"/>
            <a:head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1115AE-178D-459B-85E7-A92C31D2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0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425DDA-3B65-4FCB-8AE1-B93E27D6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6260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数据源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6EBC7-B44A-429A-8721-EBD7D0A4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86450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授权的数据库与服务</a:t>
            </a:r>
          </a:p>
        </p:txBody>
      </p:sp>
      <p:cxnSp>
        <p:nvCxnSpPr>
          <p:cNvPr id="76" name=""/>
          <p:cNvCxnSpPr>
            <a:stCxn xmlns:a="http://schemas.openxmlformats.org/drawingml/2006/main" id="25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2809875" y="3609975"/>
            <a:ext cx="666750" cy="22098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0B5A6"/>
            </a:solidFill>
            <a:prstDash val="solid"/>
            <a:head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604DAD-571B-4450-80A6-CABBE677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429250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2381DE-CBAB-46CA-8DA5-4B35B13D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6260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计算环境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435E19-9364-4DE6-AB49-59D12B98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886450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本机已有计算能力</a:t>
            </a:r>
          </a:p>
        </p:txBody>
      </p:sp>
      <p:cxnSp>
        <p:nvCxnSpPr>
          <p:cNvPr id="80" name=""/>
          <p:cNvCxnSpPr>
            <a:stCxn xmlns:a="http://schemas.openxmlformats.org/drawingml/2006/main" id="29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2809875" y="3609975"/>
            <a:ext cx="2876550" cy="22098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0B5A6"/>
            </a:solidFill>
            <a:prstDash val="solid"/>
            <a:head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E50271-9A75-430E-89F9-8FF9490C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43075"/>
            <a:ext cx="4638675" cy="4152900"/>
          </a:xfrm>
          <a:prstGeom xmlns:a="http://schemas.openxmlformats.org/drawingml/2006/main" prst="roundRect">
            <a:avLst>
              <a:gd name="adj" fmla="val 4587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9525">
            <a:solidFill>
              <a:srgbClr val="003A3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183C01-B06A-40EF-BE7D-7BEA391E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SCIENCEX 使用边界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12C7C0-AE26-4771-86E6-3472A0E9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765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523B22-2809-4EA6-9C58-079489D6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479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AI 纠错，不替你写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A01D9C-385A-4703-8EED-E6B8A87E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1467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675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F33356-B0C6-4DB4-B037-C71D0742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623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CE8218-589F-4DFD-9ABB-5965851D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33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AI 初筛，不替你读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78FD83-130B-48B1-9BE8-6672BD5A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0047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675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AB9BD6-002A-4B30-9A0D-B6C3794C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481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CD095D-99F6-497A-8545-5FDFE1CC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195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数据有边界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749C18-9513-43FF-BB6C-E0C4046B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8627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675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D816CC-1BE5-4E38-B780-A09F08E1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339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3F5B77-CFD5-454F-AD56-48CE1B14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05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不夸大结果与结论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5388D9-04B0-47C2-90C4-ABAF60CB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4578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CFE2DB"/>
                </a:solidFill>
                <a:latin typeface="Heiti SC"/>
                <a:ea typeface="Heiti SC"/>
                <a:cs typeface="Heiti SC"/>
              </a:defRPr>
            </a:pPr>
            <a:r>
              <a:rPr sz="1200" b="1" i="0">
                <a:solidFill>
                  <a:srgbClr val="CFE2DB"/>
                </a:solidFill>
                <a:latin typeface="Heiti SC"/>
                <a:ea typeface="Heiti SC"/>
                <a:cs typeface="Heiti SC"/>
              </a:rPr>
              <a:t>关键证据仍需人工复核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695DD2-A07F-4D1F-A96A-382BE25F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02F45C-BFAD-4413-AA60-9D289F3B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11</a:t>
            </a:r>
          </a:p>
        </p:txBody>
      </p:sp>
    </p:spTree>
    <p:extLst>
      <p:ext uri="{BB962C8B-B14F-4D97-AF65-F5344CB8AC3E}">
        <p14:creationId xmlns:p14="http://schemas.microsoft.com/office/powerpoint/2010/main" val="2800613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28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E51911-97FE-452C-B52B-415736AA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39EC5-D78C-4E18-B7DB-0CBED453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09 · START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94023-13F9-4EA3-8118-E9476FA3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5334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1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41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第一条链路，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1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41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从一个真实问题开始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0308A-0B5A-4F76-8456-2E80DD12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231FA-C4E4-42F2-AFC5-BD91AFF5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打开本地研究项目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283E06-5B0C-48B9-BCD9-D3024363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146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80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C3D0D-1216-4022-A988-C7252346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971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4B5FE-D466-430C-B1DA-7B549F15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861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说清范围、格式和验收条件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17B25-7385-4E44-9F6A-05296232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1146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80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0C821-0D6C-4121-9B09-B972489E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71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0E050-D83F-42D2-9DAF-18CEF7DB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861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检查来源、产物与下一步建议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4A25A-825E-4F09-90D8-97B345B9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57675"/>
            <a:ext cx="109347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0A4A3F"/>
          </a:solidFill>
          <a:ln xmlns:a="http://schemas.openxmlformats.org/drawingml/2006/main" w="9525">
            <a:solidFill>
              <a:srgbClr val="28716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77032E-B689-47F0-966D-3DBE00E9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Heiti SC"/>
                <a:ea typeface="Heiti SC"/>
                <a:cs typeface="Heiti SC"/>
              </a:defRPr>
            </a:pPr>
            <a:r>
              <a:rPr sz="900" b="1" i="0">
                <a:solidFill>
                  <a:srgbClr val="00C86F"/>
                </a:solidFill>
                <a:latin typeface="Heiti SC"/>
                <a:ea typeface="Heiti SC"/>
                <a:cs typeface="Heiti SC"/>
              </a:rPr>
              <a:t>可以直接开始的示例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07F47C-EC17-4F29-BB8A-78DAEA77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1040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  <a:defRPr sz="1500" b="1" i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“检索近三年关于 X 的代表论文，按方法、数据、结论和局限整理成表，每条附出处；先给 10 篇，找不到就明确说明，不要编造。”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974BF-4BE1-4BBE-91AF-BE4FD54E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7063C1-D61C-47B9-A4B6-2801A7BA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19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科研工作台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90287B-0D4E-414A-B604-CCE19B85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5790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A5C9B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A5C9BC"/>
                </a:solidFill>
                <a:latin typeface="Avenir Next"/>
                <a:ea typeface="Avenir Next"/>
                <a:cs typeface="Avenir Next"/>
              </a:rPr>
              <a:t>github.com/insight68/ScienceX</a:t>
            </a:r>
          </a:p>
        </p:txBody>
      </p:sp>
    </p:spTree>
    <p:extLst>
      <p:ext uri="{BB962C8B-B14F-4D97-AF65-F5344CB8AC3E}">
        <p14:creationId xmlns:p14="http://schemas.microsoft.com/office/powerpoint/2010/main" val="12427745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2026-09-04T13:18:52.3310000Z</dcterms:created>
  <dcterms:modified xsi:type="dcterms:W3CDTF">2026-09-04T13:18:52.3310000Z</dcterms:modified>
</coreProperties>
</file>