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3cb5070cce042d7" /><Relationship Type="http://schemas.openxmlformats.org/officeDocument/2006/relationships/extended-properties" Target="/docProps/app.xml" Id="R41400f460e7740bf" /><Relationship Type="http://schemas.openxmlformats.org/officeDocument/2006/relationships/officeDocument" Target="/ppt/presentation.xml" Id="R928c89ce8e944f2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997e102c1264600"/>
  </p:sldMasterIdLst>
  <p:notesMasterIdLst>
    <p:notesMasterId xmlns:r="http://schemas.openxmlformats.org/officeDocument/2006/relationships" r:id="Rd8e0347094324ff5"/>
  </p:notesMasterIdLst>
  <p:sldIdLst>
    <p:sldId xmlns:r="http://schemas.openxmlformats.org/officeDocument/2006/relationships" id="256" r:id="R54506b26fa114a97"/>
    <p:sldId xmlns:r="http://schemas.openxmlformats.org/officeDocument/2006/relationships" id="257" r:id="Rdc8f3f3324f1499f"/>
    <p:sldId xmlns:r="http://schemas.openxmlformats.org/officeDocument/2006/relationships" id="258" r:id="R2bd7ab74b76541c7"/>
    <p:sldId xmlns:r="http://schemas.openxmlformats.org/officeDocument/2006/relationships" id="259" r:id="Re44356fe93ac4b02"/>
    <p:sldId xmlns:r="http://schemas.openxmlformats.org/officeDocument/2006/relationships" id="260" r:id="R3b2d8b30ccfc46ef"/>
    <p:sldId xmlns:r="http://schemas.openxmlformats.org/officeDocument/2006/relationships" id="261" r:id="R5a8f26335f9b4cf0"/>
    <p:sldId xmlns:r="http://schemas.openxmlformats.org/officeDocument/2006/relationships" id="262" r:id="R0a9db5a54fa14c87"/>
    <p:sldId xmlns:r="http://schemas.openxmlformats.org/officeDocument/2006/relationships" id="263" r:id="R9cd1b087a27c40ca"/>
    <p:sldId xmlns:r="http://schemas.openxmlformats.org/officeDocument/2006/relationships" id="264" r:id="R07bb659660f34fbc"/>
    <p:sldId xmlns:r="http://schemas.openxmlformats.org/officeDocument/2006/relationships" id="265" r:id="R348451191caa45df"/>
    <p:sldId xmlns:r="http://schemas.openxmlformats.org/officeDocument/2006/relationships" id="266" r:id="R96554033deff4669"/>
    <p:sldId xmlns:r="http://schemas.openxmlformats.org/officeDocument/2006/relationships" id="267" r:id="R6af6a005aa3d415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d2c9693cd4c4de6" /><Relationship Type="http://schemas.openxmlformats.org/officeDocument/2006/relationships/slideMaster" Target="/ppt/slideMasters/slideMaster1.xml" Id="Rc997e102c1264600" /><Relationship Type="http://schemas.openxmlformats.org/officeDocument/2006/relationships/notesMaster" Target="/ppt/notesMasters/notesMaster1.xml" Id="Rd8e0347094324ff5" /><Relationship Type="http://schemas.openxmlformats.org/officeDocument/2006/relationships/presProps" Target="/ppt/presProps.xml" Id="R1dbd67f117ab485b" /><Relationship Type="http://schemas.openxmlformats.org/officeDocument/2006/relationships/tableStyles" Target="/ppt/tableStyles.xml" Id="R1e1a3d7b3f2241e8" /><Relationship Type="http://schemas.openxmlformats.org/officeDocument/2006/relationships/slide" Target="/ppt/slides/slide1.xml" Id="R54506b26fa114a97" /><Relationship Type="http://schemas.openxmlformats.org/officeDocument/2006/relationships/slide" Target="/ppt/slides/slide2.xml" Id="Rdc8f3f3324f1499f" /><Relationship Type="http://schemas.openxmlformats.org/officeDocument/2006/relationships/slide" Target="/ppt/slides/slide3.xml" Id="R2bd7ab74b76541c7" /><Relationship Type="http://schemas.openxmlformats.org/officeDocument/2006/relationships/slide" Target="/ppt/slides/slide4.xml" Id="Re44356fe93ac4b02" /><Relationship Type="http://schemas.openxmlformats.org/officeDocument/2006/relationships/slide" Target="/ppt/slides/slide5.xml" Id="R3b2d8b30ccfc46ef" /><Relationship Type="http://schemas.openxmlformats.org/officeDocument/2006/relationships/slide" Target="/ppt/slides/slide6.xml" Id="R5a8f26335f9b4cf0" /><Relationship Type="http://schemas.openxmlformats.org/officeDocument/2006/relationships/slide" Target="/ppt/slides/slide7.xml" Id="R0a9db5a54fa14c87" /><Relationship Type="http://schemas.openxmlformats.org/officeDocument/2006/relationships/slide" Target="/ppt/slides/slide8.xml" Id="R9cd1b087a27c40ca" /><Relationship Type="http://schemas.openxmlformats.org/officeDocument/2006/relationships/slide" Target="/ppt/slides/slide9.xml" Id="R07bb659660f34fbc" /><Relationship Type="http://schemas.openxmlformats.org/officeDocument/2006/relationships/slide" Target="/ppt/slides/slide10.xml" Id="R348451191caa45df" /><Relationship Type="http://schemas.openxmlformats.org/officeDocument/2006/relationships/slide" Target="/ppt/slides/slide11.xml" Id="R96554033deff4669" /><Relationship Type="http://schemas.openxmlformats.org/officeDocument/2006/relationships/slide" Target="/ppt/slides/slide12.xml" Id="R6af6a005aa3d415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e7b4e8d1d614ea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a39e498428a41cb" /><Relationship Type="http://schemas.openxmlformats.org/officeDocument/2006/relationships/notesMaster" Target="/ppt/notesMasters/notesMaster1.xml" Id="R8e45568ffc7d43e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9d6c296f9c14426" /><Relationship Type="http://schemas.openxmlformats.org/officeDocument/2006/relationships/notesMaster" Target="/ppt/notesMasters/notesMaster1.xml" Id="Rcb9a3455cd4b482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31cc9a2386d4560" /><Relationship Type="http://schemas.openxmlformats.org/officeDocument/2006/relationships/notesMaster" Target="/ppt/notesMasters/notesMaster1.xml" Id="R199e78f50a13455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4c3121f4d4a4d29" /><Relationship Type="http://schemas.openxmlformats.org/officeDocument/2006/relationships/notesMaster" Target="/ppt/notesMasters/notesMaster1.xml" Id="R000bd515bb74471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f8fa5fc9afc482d" /><Relationship Type="http://schemas.openxmlformats.org/officeDocument/2006/relationships/notesMaster" Target="/ppt/notesMasters/notesMaster1.xml" Id="R434acd69b9ae4f6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ddce32982114bf2" /><Relationship Type="http://schemas.openxmlformats.org/officeDocument/2006/relationships/notesMaster" Target="/ppt/notesMasters/notesMaster1.xml" Id="R18a67e0d17384f8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684e189b27b4133" /><Relationship Type="http://schemas.openxmlformats.org/officeDocument/2006/relationships/notesMaster" Target="/ppt/notesMasters/notesMaster1.xml" Id="R8ffcc2e76d4643a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42449a52c3f4391" /><Relationship Type="http://schemas.openxmlformats.org/officeDocument/2006/relationships/notesMaster" Target="/ppt/notesMasters/notesMaster1.xml" Id="R50f3a60a959c431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f52eae66df34104" /><Relationship Type="http://schemas.openxmlformats.org/officeDocument/2006/relationships/notesMaster" Target="/ppt/notesMasters/notesMaster1.xml" Id="Ra065ad3a18f0431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170b12070fb4b53" /><Relationship Type="http://schemas.openxmlformats.org/officeDocument/2006/relationships/notesMaster" Target="/ppt/notesMasters/notesMaster1.xml" Id="R3ef382b001964cf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af6d4dfef914dab" /><Relationship Type="http://schemas.openxmlformats.org/officeDocument/2006/relationships/notesMaster" Target="/ppt/notesMasters/notesMaster1.xml" Id="Rf2687ccc865a468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cdb1c20e14649b6" /><Relationship Type="http://schemas.openxmlformats.org/officeDocument/2006/relationships/notesMaster" Target="/ppt/notesMasters/notesMaster1.xml" Id="Ra37c90c9fcd7424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开场先给出一句话定位：ScienceX 是开源、本地优先、可追溯的 AI 科研工作台。</a:t>
            </a:r>
          </a:p>
          <a:p xmlns:a="http://schemas.openxmlformats.org/drawingml/2006/main">
            <a:r>
              <a:t>强调“工作台”三个字。它不是只回答问题的聊天框，而是承载研究项目、研究线程、工具调用、数据版本和研究产物的桌面环境。</a:t>
            </a:r>
          </a:p>
          <a:p xmlns:a="http://schemas.openxmlformats.org/drawingml/2006/main">
            <a:r>
              <a:t>这一页只建立共同语言：我们要解决的不是让 AI 说得更多，而是让研究过程更连续、更可核对。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科研时间经常被四类工作切碎：找资料、跟进度、追逻辑和改表达。它们重要，但重复、规模大，也容易丢上下文。</a:t>
            </a:r>
          </a:p>
          <a:p xmlns:a="http://schemas.openxmlformats.org/drawingml/2006/main">
            <a:r>
              <a:t>ScienceX 对每一类工作都要求留下可检查的产物。例如检索不是给几个链接，而是形成带出处的文献表；进度不是聊天记录，而是阶段总结和下一步清单。</a:t>
            </a:r>
          </a:p>
          <a:p xmlns:a="http://schemas.openxmlformats.org/drawingml/2006/main">
            <a:r>
              <a:t>右侧是不能外包的部分。研究者仍然决定读什么、信什么、优先做什么，以及结论是否成立。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这一页是 ScienceX 的责任边界。左边是系统擅长的执行、整理、计算和记录，右边是研究者必须承担的判断。</a:t>
            </a:r>
          </a:p>
          <a:p xmlns:a="http://schemas.openxmlformats.org/drawingml/2006/main">
            <a:r>
              <a:t>中间的“确认”很关键。自动化结果只有在研究者检查来源、方法、告警和产物之后，才可以进入下一轮研究状态。</a:t>
            </a:r>
          </a:p>
          <a:p xmlns:a="http://schemas.openxmlformats.org/drawingml/2006/main">
            <a:r>
              <a:t>因此我们把当前运行模式明确写成 Human-driven Research Loop。ScienceX 能加速研究，但不替代研究者签署最终结论。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这里展示的是当前品牌首页中的真实产品界面，已经裁切并脱敏。</a:t>
            </a:r>
          </a:p>
          <a:p xmlns:a="http://schemas.openxmlformats.org/drawingml/2006/main">
            <a:r>
              <a:t>左侧研究线程承载研究问题、过程说明、文件和后续行动；右上是定时任务入口；右下是产品里可查看的科研 Skills。</a:t>
            </a:r>
          </a:p>
          <a:p xmlns:a="http://schemas.openxmlformats.org/drawingml/2006/main">
            <a:r>
              <a:t>这说明 ScienceX 的价值不在于功能数量，而在于这些能力是否在同一个研究上下文中持续工作。</a:t>
            </a:r>
          </a:p>
          <a:p xmlns:a="http://schemas.openxmlformats.org/drawingml/2006/main">
            <a:r>
              <a:t>定时任务也有明确边界：本地任务只在应用运行、设备保持唤醒时执行。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ScienceX 的核心不是线性工作流，而是 Research Loop。研究问题产生候选假设，假设需要证据与数据，再进入实验或计算。</a:t>
            </a:r>
          </a:p>
          <a:p xmlns:a="http://schemas.openxmlformats.org/drawingml/2006/main">
            <a:r>
              <a:t>结果必须连同边界一起被保存，然后转化成下一轮问题。闭环的价值，是每一轮都能知道我们改了什么、为什么改、结果如何变化。</a:t>
            </a:r>
          </a:p>
          <a:p xmlns:a="http://schemas.openxmlformats.org/drawingml/2006/main">
            <a:r>
              <a:t>底部的 Research Memory 是状态层。它保存目标、假设、数据版本、证据关系、关键决策、结果和未解决问题。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这一页刻意把现在、下一阶段和长期愿景分开，避免把未来能力当成现状。</a:t>
            </a:r>
          </a:p>
          <a:p xmlns:a="http://schemas.openxmlformats.org/drawingml/2006/main">
            <a:r>
              <a:t>当前可用的是 Research Assistant：研究线程、本地项目、科研 Skills、数据版本、确定性分析、证据和重放。</a:t>
            </a:r>
          </a:p>
          <a:p xmlns:a="http://schemas.openxmlformats.org/drawingml/2006/main">
            <a:r>
              <a:t>下一阶段才是更完整的 Research Agent，它需要在人工确认后组织计划、执行和验证。AI Scientist 是长期愿景，强调结果持续改变候选假设和研究方向。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这条案例用模拟细胞活力数据演示完整研究链路，三分钟内完成版本化实验设计、确定性 4PL 分析、技术证据评估和结果重放。</a:t>
            </a:r>
          </a:p>
          <a:p xmlns:a="http://schemas.openxmlformats.org/drawingml/2006/main">
            <a:r>
              <a:t>四个事实可以核对：24 个孔位、SHA-256 输入与产物哈希、固定原始版本重放，以及三类研究产物。</a:t>
            </a:r>
          </a:p>
          <a:p xmlns:a="http://schemas.openxmlformats.org/drawingml/2006/main">
            <a:r>
              <a:t>更重要的是，它保留失败和不确定性。缺孔输入会明确失败，弱响应会标记“技术证据尚无定论”，系统不会静默补值或把运行完成写成科学结论。</a:t>
            </a:r>
          </a:p>
          <a:p xmlns:a="http://schemas.openxmlformats.org/drawingml/2006/main">
            <a:r>
              <a:t>需要明确：这是产品教学中的模拟数据，不代表真实药效或湿实验验证。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一次研究推进分成五个动作。先理解当前问题和证据，再形成计划，之后调用已授权能力执行。</a:t>
            </a:r>
          </a:p>
          <a:p xmlns:a="http://schemas.openxmlformats.org/drawingml/2006/main">
            <a:r>
              <a:t>执行后必须验证输入、结果、告警和产物，最后由研究者确认哪些状态值得保留。</a:t>
            </a:r>
          </a:p>
          <a:p xmlns:a="http://schemas.openxmlformats.org/drawingml/2006/main">
            <a:r>
              <a:t>底部的状态层把每次运行连接起来。这样下一次不是从空白聊天开始，而是从已有目标、假设、数据版本和未解决问题继续。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当前首页列出 20 个科研 Skills。它们按研究任务组织，而不是按技术栈堆叠。</a:t>
            </a:r>
          </a:p>
          <a:p xmlns:a="http://schemas.openxmlformats.org/drawingml/2006/main">
            <a:r>
              <a:t>这一页先看研究前半程：发现与检索、调研与推理、研究与实验。研究者能看到 Skill 的名称、用途和适用边界。</a:t>
            </a:r>
          </a:p>
          <a:p xmlns:a="http://schemas.openxmlformats.org/drawingml/2006/main">
            <a:r>
              <a:t>例如 scansci-pdf 负责论文获取流程，good-question 用评审式追问暴露论证缺口，experiment-design 把研究问题转成实验设计。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这一页是研究后半程。写作与呈现能力负责把研究过程组织成论文、图像、幻灯片、视频和课程产物。</a:t>
            </a:r>
          </a:p>
          <a:p xmlns:a="http://schemas.openxmlformats.org/drawingml/2006/main">
            <a:r>
              <a:t>审查与记忆能力负责论文审查、引用核对和长期上下文；能力评测则在采用新的 MCP 或 Skill 之前检查质量。</a:t>
            </a:r>
          </a:p>
          <a:p xmlns:a="http://schemas.openxmlformats.org/drawingml/2006/main">
            <a:r>
              <a:t>需要再次强调，已集成不等于无条件可运行。某些 Skills 需要本机依赖、外部服务或用户授权，ScienceX 不会默认获得论文库、数据库或其他系统的访问权。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ScienceX 可以连接本地文件、代码与终端、模型提供商、MCP、数据源和计算环境，但每一项都以本机配置和用户授权为前提。</a:t>
            </a:r>
          </a:p>
          <a:p xmlns:a="http://schemas.openxmlformats.org/drawingml/2006/main">
            <a:r>
              <a:t>连接环境不等于自动拥有访问权。ScienceX 不会默认获得数据库、论文库或第三方系统权限。</a:t>
            </a:r>
          </a:p>
          <a:p xmlns:a="http://schemas.openxmlformats.org/drawingml/2006/main">
            <a:r>
              <a:t>右侧四条边界是面向科研使用的底线：AI 可以纠错但不替代论证，可以初筛但不替代精读；敏感和未公开数据要先确认边界；运行结果不能被夸大成科学结论。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收束到一个可执行的开始方式。打开本地研究项目，说清范围、输出格式和验收条件，然后检查来源、产物与下一步建议。</a:t>
            </a:r>
          </a:p>
          <a:p xmlns:a="http://schemas.openxmlformats.org/drawingml/2006/main">
            <a:r>
              <a:t>示例指令故意包含四个约束：时间范围、整理维度、每条出处，以及找不到就明确说明。这些约束让任务可检查，也把“不要编造”写成验收标准。</a:t>
            </a:r>
          </a:p>
          <a:p xmlns:a="http://schemas.openxmlformats.org/drawingml/2006/main">
            <a:r>
              <a:t>最后回到产品定位：ScienceX 是科研工作台。它让研究问题、证据、运行和下一步进入同一条可追溯链路。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2d9c25de3d240b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a1edc57d0814de9" /><Relationship Type="http://schemas.openxmlformats.org/officeDocument/2006/relationships/slideLayout" Target="/ppt/slideLayouts/slideLayout1.xml" Id="R0dd1758b255f4e2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dd1758b255f4e2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48080229b2496e" /><Relationship Type="http://schemas.openxmlformats.org/officeDocument/2006/relationships/notesSlide" Target="/ppt/notesSlides/notesSlide1.xml" Id="R14568cecbbcc468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c65a52036d417c" /><Relationship Type="http://schemas.openxmlformats.org/officeDocument/2006/relationships/notesSlide" Target="/ppt/notesSlides/notesSlide2.xml" Id="R256f79cc2cf84ee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8eae92a6e545a0" /><Relationship Type="http://schemas.openxmlformats.org/officeDocument/2006/relationships/notesSlide" Target="/ppt/notesSlides/notesSlide3.xml" Id="R12926d561f064d3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89ff36b51b4581" /><Relationship Type="http://schemas.openxmlformats.org/officeDocument/2006/relationships/image" Target="/ppt/media/image.png" Id="Rd6bfb087d2bb4aad" /><Relationship Type="http://schemas.openxmlformats.org/officeDocument/2006/relationships/notesSlide" Target="/ppt/notesSlides/notesSlide4.xml" Id="Rcd556f71deab461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0fe4eadb15467f" /><Relationship Type="http://schemas.openxmlformats.org/officeDocument/2006/relationships/notesSlide" Target="/ppt/notesSlides/notesSlide5.xml" Id="Raa12990cdb014a7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4a1185995348db" /><Relationship Type="http://schemas.openxmlformats.org/officeDocument/2006/relationships/notesSlide" Target="/ppt/notesSlides/notesSlide6.xml" Id="Rd053e949e54449c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3e6f07725244c6" /><Relationship Type="http://schemas.openxmlformats.org/officeDocument/2006/relationships/image" Target="/ppt/media/image2.png" Id="Rcd5838329464437b" /><Relationship Type="http://schemas.openxmlformats.org/officeDocument/2006/relationships/notesSlide" Target="/ppt/notesSlides/notesSlide7.xml" Id="Rc366ccbfa1a543c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82bf2315f34a1b" /><Relationship Type="http://schemas.openxmlformats.org/officeDocument/2006/relationships/notesSlide" Target="/ppt/notesSlides/notesSlide8.xml" Id="R3274ad01846d4b6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74d4e25c984d99" /><Relationship Type="http://schemas.openxmlformats.org/officeDocument/2006/relationships/notesSlide" Target="/ppt/notesSlides/notesSlide9.xml" Id="Red7e236a1b4142c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509c62ee644271" /><Relationship Type="http://schemas.openxmlformats.org/officeDocument/2006/relationships/notesSlide" Target="/ppt/notesSlides/notesSlide10.xml" Id="Raf93fcfcb78d475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bd408ba5da49c1" /><Relationship Type="http://schemas.openxmlformats.org/officeDocument/2006/relationships/notesSlide" Target="/ppt/notesSlides/notesSlide11.xml" Id="Rb1d7c4af8bc746c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80b2177a3747c7" /><Relationship Type="http://schemas.openxmlformats.org/officeDocument/2006/relationships/notesSlide" Target="/ppt/notesSlides/notesSlide12.xml" Id="R94aa3941b2af485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028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57E654E-1FE0-49EC-942D-DE94AE34D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C8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653255-D748-4DAE-B421-6DAD2E090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 i="0">
                <a:solidFill>
                  <a:srgbClr val="00C86F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 i="0">
                <a:solidFill>
                  <a:srgbClr val="00C86F"/>
                </a:solidFill>
                <a:latin typeface="Avenir Next"/>
                <a:ea typeface="Avenir Next"/>
                <a:cs typeface="Avenir Next"/>
              </a:rPr>
              <a:t>OPEN SOURCE · LOCAL FIRST · TRACEABLE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F63772-EC43-4973-A7D0-F5DE97A98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6000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540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540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ScienceX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879C41-1EA2-4BCC-ABD0-EF84FF3EE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2675"/>
            <a:ext cx="590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88000"/>
              </a:lnSpc>
              <a:buNone/>
              <a:defRPr sz="5400" b="1" i="0">
                <a:solidFill>
                  <a:srgbClr val="00C86F"/>
                </a:solidFill>
                <a:latin typeface="Songti SC"/>
                <a:ea typeface="Songti SC"/>
                <a:cs typeface="Songti SC"/>
              </a:defRPr>
            </a:pPr>
            <a:r>
              <a:rPr sz="5400" b="1" i="0">
                <a:solidFill>
                  <a:srgbClr val="00C86F"/>
                </a:solidFill>
                <a:latin typeface="Songti SC"/>
                <a:ea typeface="Songti SC"/>
                <a:cs typeface="Songti SC"/>
              </a:rPr>
              <a:t>科研工作台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8B1C32-A95E-4818-BCF5-6313778AD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43325"/>
            <a:ext cx="5905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75" b="0" i="0">
                <a:solidFill>
                  <a:srgbClr val="C7DAD3"/>
                </a:solidFill>
                <a:latin typeface="Heiti SC"/>
                <a:ea typeface="Heiti SC"/>
                <a:cs typeface="Heiti SC"/>
              </a:defRPr>
            </a:pPr>
            <a:r>
              <a:rPr sz="1875" b="0" i="0">
                <a:solidFill>
                  <a:srgbClr val="C7DAD3"/>
                </a:solidFill>
                <a:latin typeface="Heiti SC"/>
                <a:ea typeface="Heiti SC"/>
                <a:cs typeface="Heiti SC"/>
              </a:rPr>
              <a:t>让研究问题、证据与下一步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875" b="0" i="0">
                <a:solidFill>
                  <a:srgbClr val="C7DAD3"/>
                </a:solidFill>
                <a:latin typeface="Heiti SC"/>
                <a:ea typeface="Heiti SC"/>
                <a:cs typeface="Heiti SC"/>
              </a:defRPr>
            </a:pPr>
            <a:r>
              <a:rPr sz="1875" b="0" i="0">
                <a:solidFill>
                  <a:srgbClr val="C7DAD3"/>
                </a:solidFill>
                <a:latin typeface="Heiti SC"/>
                <a:ea typeface="Heiti SC"/>
                <a:cs typeface="Heiti SC"/>
              </a:rPr>
              <a:t>进入同一条可追溯链路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ADFA6B-B495-4F0A-B369-B96F57DB5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104900"/>
            <a:ext cx="2952750" cy="3381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80000"/>
              </a:lnSpc>
              <a:buNone/>
              <a:defRPr sz="21750" b="1" i="0">
                <a:solidFill>
                  <a:srgbClr val="00C86F"/>
                </a:solidFill>
                <a:latin typeface="Avenir Next"/>
                <a:ea typeface="Avenir Next"/>
                <a:cs typeface="Avenir Next"/>
              </a:defRPr>
            </a:pPr>
            <a:r>
              <a:rPr sz="21750" b="1" i="0">
                <a:solidFill>
                  <a:srgbClr val="00C86F"/>
                </a:solidFill>
                <a:latin typeface="Avenir Next"/>
                <a:ea typeface="Avenir Next"/>
                <a:cs typeface="Avenir Next"/>
              </a:rPr>
              <a:t>X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321D2B-7135-4E8A-9B3B-6DEC72272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981075"/>
            <a:ext cx="2381250" cy="23812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55D4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A2D39F-C1C2-4C34-ACAF-C50F74347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2857500"/>
            <a:ext cx="1476375" cy="147637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3736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8787EE-A106-4F50-BF69-58AC984A8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91150"/>
            <a:ext cx="1219200" cy="342900"/>
          </a:xfrm>
          <a:prstGeom xmlns:a="http://schemas.openxmlformats.org/drawingml/2006/main" prst="roundRect">
            <a:avLst>
              <a:gd name="adj" fmla="val 41667"/>
            </a:avLst>
          </a:prstGeom>
          <a:solidFill xmlns:a="http://schemas.openxmlformats.org/drawingml/2006/main">
            <a:srgbClr val="0B4A3F"/>
          </a:solidFill>
          <a:ln xmlns:a="http://schemas.openxmlformats.org/drawingml/2006/main" w="9525">
            <a:solidFill>
              <a:srgbClr val="1E6D5E"/>
            </a:solidFill>
            <a:prstDash val="solid"/>
          </a:ln>
        </p:spPr>
        <p:txBody>
          <a:bodyPr xmlns:a="http://schemas.openxmlformats.org/drawingml/2006/main" lIns="76200" tIns="9525" rIns="762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D7E8E2"/>
                </a:solidFill>
                <a:latin typeface="Heiti SC"/>
                <a:ea typeface="Heiti SC"/>
                <a:cs typeface="Heiti SC"/>
              </a:defRPr>
            </a:pPr>
            <a:r>
              <a:rPr sz="1050" b="1">
                <a:solidFill>
                  <a:srgbClr val="D7E8E2"/>
                </a:solidFill>
                <a:latin typeface="Heiti SC"/>
                <a:ea typeface="Heiti SC"/>
                <a:cs typeface="Heiti SC"/>
              </a:rPr>
              <a:t>本地数据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17C8F6A-4780-4F3B-B021-3A7A5268C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5391150"/>
            <a:ext cx="1219200" cy="342900"/>
          </a:xfrm>
          <a:prstGeom xmlns:a="http://schemas.openxmlformats.org/drawingml/2006/main" prst="roundRect">
            <a:avLst>
              <a:gd name="adj" fmla="val 41667"/>
            </a:avLst>
          </a:prstGeom>
          <a:solidFill xmlns:a="http://schemas.openxmlformats.org/drawingml/2006/main">
            <a:srgbClr val="0B4A3F"/>
          </a:solidFill>
          <a:ln xmlns:a="http://schemas.openxmlformats.org/drawingml/2006/main" w="9525">
            <a:solidFill>
              <a:srgbClr val="1E6D5E"/>
            </a:solidFill>
            <a:prstDash val="solid"/>
          </a:ln>
        </p:spPr>
        <p:txBody>
          <a:bodyPr xmlns:a="http://schemas.openxmlformats.org/drawingml/2006/main" lIns="76200" tIns="9525" rIns="762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D7E8E2"/>
                </a:solidFill>
                <a:latin typeface="Heiti SC"/>
                <a:ea typeface="Heiti SC"/>
                <a:cs typeface="Heiti SC"/>
              </a:defRPr>
            </a:pPr>
            <a:r>
              <a:rPr sz="1050" b="1">
                <a:solidFill>
                  <a:srgbClr val="D7E8E2"/>
                </a:solidFill>
                <a:latin typeface="Heiti SC"/>
                <a:ea typeface="Heiti SC"/>
                <a:cs typeface="Heiti SC"/>
              </a:rPr>
              <a:t>开放源码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DA275E-8E38-42E5-BDBD-B45DA3822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5391150"/>
            <a:ext cx="1381125" cy="342900"/>
          </a:xfrm>
          <a:prstGeom xmlns:a="http://schemas.openxmlformats.org/drawingml/2006/main" prst="roundRect">
            <a:avLst>
              <a:gd name="adj" fmla="val 41667"/>
            </a:avLst>
          </a:prstGeom>
          <a:solidFill xmlns:a="http://schemas.openxmlformats.org/drawingml/2006/main">
            <a:srgbClr val="0B4A3F"/>
          </a:solidFill>
          <a:ln xmlns:a="http://schemas.openxmlformats.org/drawingml/2006/main" w="9525">
            <a:solidFill>
              <a:srgbClr val="1E6D5E"/>
            </a:solidFill>
            <a:prstDash val="solid"/>
          </a:ln>
        </p:spPr>
        <p:txBody>
          <a:bodyPr xmlns:a="http://schemas.openxmlformats.org/drawingml/2006/main" lIns="76200" tIns="9525" rIns="762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D7E8E2"/>
                </a:solidFill>
                <a:latin typeface="Heiti SC"/>
                <a:ea typeface="Heiti SC"/>
                <a:cs typeface="Heiti SC"/>
              </a:defRPr>
            </a:pPr>
            <a:r>
              <a:rPr sz="1050" b="1">
                <a:solidFill>
                  <a:srgbClr val="D7E8E2"/>
                </a:solidFill>
                <a:latin typeface="Heiti SC"/>
                <a:ea typeface="Heiti SC"/>
                <a:cs typeface="Heiti SC"/>
              </a:rPr>
              <a:t>跨平台桌面端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DD453B-FDF6-49C4-B2C8-F309A788D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 i="0">
                <a:solidFill>
                  <a:srgbClr val="6EA996"/>
                </a:solidFill>
                <a:latin typeface="Avenir Next"/>
                <a:ea typeface="Avenir Next"/>
                <a:cs typeface="Avenir Next"/>
              </a:defRPr>
            </a:pPr>
            <a:r>
              <a:rPr sz="825" b="1" i="0">
                <a:solidFill>
                  <a:srgbClr val="6EA996"/>
                </a:solidFill>
                <a:latin typeface="Avenir Next"/>
                <a:ea typeface="Avenir Next"/>
                <a:cs typeface="Avenir Next"/>
              </a:rPr>
              <a:t>SCIENCEX · BRAND STORY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6CD8AD-3E48-443C-90C7-94FDC7EFE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34125"/>
            <a:ext cx="85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25" b="0" i="0">
                <a:solidFill>
                  <a:srgbClr val="6EA996"/>
                </a:solidFill>
                <a:latin typeface="Avenir Next"/>
                <a:ea typeface="Avenir Next"/>
                <a:cs typeface="Avenir Next"/>
              </a:defRPr>
            </a:pPr>
            <a:r>
              <a:rPr sz="825" b="0" i="0">
                <a:solidFill>
                  <a:srgbClr val="6EA996"/>
                </a:solidFill>
                <a:latin typeface="Avenir Next"/>
                <a:ea typeface="Avenir Next"/>
                <a:cs typeface="Avenir Next"/>
              </a:rPr>
              <a:t>01 / 12</a:t>
            </a:r>
          </a:p>
        </p:txBody>
      </p:sp>
    </p:spTree>
    <p:extLst>
      <p:ext uri="{BB962C8B-B14F-4D97-AF65-F5344CB8AC3E}">
        <p14:creationId xmlns:p14="http://schemas.microsoft.com/office/powerpoint/2010/main" val="106052630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14D3310-6AA1-4C64-B5EA-D710EAE52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9575"/>
            <a:ext cx="4000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3A3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9525" rIns="762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02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80D424-8210-4340-B874-F7A66954A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57200"/>
            <a:ext cx="304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 i="0">
                <a:solidFill>
                  <a:srgbClr val="008F52"/>
                </a:solidFill>
                <a:latin typeface="Avenir Next"/>
                <a:ea typeface="Avenir Next"/>
                <a:cs typeface="Avenir Next"/>
              </a:defRPr>
            </a:pPr>
            <a:r>
              <a:rPr sz="900" b="1" i="0">
                <a:solidFill>
                  <a:srgbClr val="008F52"/>
                </a:solidFill>
                <a:latin typeface="Avenir Next"/>
                <a:ea typeface="Avenir Next"/>
                <a:cs typeface="Avenir Next"/>
              </a:rPr>
              <a:t>DAILY RESEARCH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A41632-3791-4979-82D7-5584AE898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19150"/>
            <a:ext cx="695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3000" b="1" i="0">
                <a:solidFill>
                  <a:srgbClr val="063A32"/>
                </a:solidFill>
                <a:latin typeface="Songti SC"/>
                <a:ea typeface="Songti SC"/>
                <a:cs typeface="Songti SC"/>
              </a:defRPr>
            </a:pPr>
            <a:r>
              <a:rPr sz="3000" b="1" i="0">
                <a:solidFill>
                  <a:srgbClr val="063A32"/>
                </a:solidFill>
                <a:latin typeface="Songti SC"/>
                <a:ea typeface="Songti SC"/>
                <a:cs typeface="Songti SC"/>
              </a:rPr>
              <a:t>四件重复工作交给 ScienceX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AF0DEE-A054-4ED4-A6DE-EC29A488C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895350"/>
            <a:ext cx="3810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75" b="0" i="0">
                <a:solidFill>
                  <a:srgbClr val="64736E"/>
                </a:solidFill>
                <a:latin typeface="Heiti SC"/>
                <a:ea typeface="Heiti SC"/>
                <a:cs typeface="Heiti SC"/>
              </a:defRPr>
            </a:pPr>
            <a:r>
              <a:rPr sz="1275" b="0" i="0">
                <a:solidFill>
                  <a:srgbClr val="64736E"/>
                </a:solidFill>
                <a:latin typeface="Heiti SC"/>
                <a:ea typeface="Heiti SC"/>
                <a:cs typeface="Heiti SC"/>
              </a:rPr>
              <a:t>科研最稀缺的不是信息，而是研究者的注意力。可重复、可检查的工作交给系统，关键判断留给研究者。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A37457-1EEC-4A77-973D-B6B673385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1910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00" b="1" i="0">
                <a:solidFill>
                  <a:srgbClr val="063A32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 i="0">
                <a:solidFill>
                  <a:srgbClr val="063A32"/>
                </a:solidFill>
                <a:latin typeface="Avenir Next"/>
                <a:ea typeface="Avenir Next"/>
                <a:cs typeface="Avenir Next"/>
              </a:rPr>
              <a:t>ScienceX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205300-DA5C-415E-BD7E-509C6AB96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5260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 i="0">
                <a:solidFill>
                  <a:srgbClr val="008F52"/>
                </a:solidFill>
                <a:latin typeface="Heiti SC"/>
                <a:ea typeface="Heiti SC"/>
                <a:cs typeface="Heiti SC"/>
              </a:defRPr>
            </a:pPr>
            <a:r>
              <a:rPr sz="1050" b="1" i="0">
                <a:solidFill>
                  <a:srgbClr val="008F52"/>
                </a:solidFill>
                <a:latin typeface="Heiti SC"/>
                <a:ea typeface="Heiti SC"/>
                <a:cs typeface="Heiti SC"/>
              </a:rPr>
              <a:t>重复工作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83E893-5E9D-4ECD-BB14-F99D19915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75260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 i="0">
                <a:solidFill>
                  <a:srgbClr val="008F52"/>
                </a:solidFill>
                <a:latin typeface="Heiti SC"/>
                <a:ea typeface="Heiti SC"/>
                <a:cs typeface="Heiti SC"/>
              </a:defRPr>
            </a:pPr>
            <a:r>
              <a:rPr sz="1050" b="1" i="0">
                <a:solidFill>
                  <a:srgbClr val="008F52"/>
                </a:solidFill>
                <a:latin typeface="Heiti SC"/>
                <a:ea typeface="Heiti SC"/>
                <a:cs typeface="Heiti SC"/>
              </a:rPr>
              <a:t>形成产物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C4BC3F-FC09-4C43-8FFB-56A2C3334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175260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 i="0">
                <a:solidFill>
                  <a:srgbClr val="008F52"/>
                </a:solidFill>
                <a:latin typeface="Heiti SC"/>
                <a:ea typeface="Heiti SC"/>
                <a:cs typeface="Heiti SC"/>
              </a:defRPr>
            </a:pPr>
            <a:r>
              <a:rPr sz="1050" b="1" i="0">
                <a:solidFill>
                  <a:srgbClr val="008F52"/>
                </a:solidFill>
                <a:latin typeface="Heiti SC"/>
                <a:ea typeface="Heiti SC"/>
                <a:cs typeface="Heiti SC"/>
              </a:rPr>
              <a:t>研究者保留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DDD257-80E9-4A60-B416-C277AAF55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38350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63A3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97493A-D77F-49D6-8947-B7705C422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2885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 i="0">
                <a:solidFill>
                  <a:srgbClr val="00C86F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 i="0">
                <a:solidFill>
                  <a:srgbClr val="00C86F"/>
                </a:solidFill>
                <a:latin typeface="Avenir Next"/>
                <a:ea typeface="Avenir Next"/>
                <a:cs typeface="Avenir Next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4AEE9A-610C-4909-A23E-361D34593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9075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 i="0">
                <a:solidFill>
                  <a:srgbClr val="063A32"/>
                </a:solidFill>
                <a:latin typeface="Songti SC"/>
                <a:ea typeface="Songti SC"/>
                <a:cs typeface="Songti SC"/>
              </a:defRPr>
            </a:pPr>
            <a:r>
              <a:rPr sz="1875" b="1" i="0">
                <a:solidFill>
                  <a:srgbClr val="063A32"/>
                </a:solidFill>
                <a:latin typeface="Songti SC"/>
                <a:ea typeface="Songti SC"/>
                <a:cs typeface="Songti SC"/>
              </a:rPr>
              <a:t>搜索资料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2F934E9-1F52-43B5-A1D1-C4F361916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209800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 i="0">
                <a:solidFill>
                  <a:srgbClr val="063A32"/>
                </a:solidFill>
                <a:latin typeface="Heiti SC"/>
                <a:ea typeface="Heiti SC"/>
                <a:cs typeface="Heiti SC"/>
              </a:defRPr>
            </a:pPr>
            <a:r>
              <a:rPr sz="1500" b="0" i="0">
                <a:solidFill>
                  <a:srgbClr val="063A32"/>
                </a:solidFill>
                <a:latin typeface="Heiti SC"/>
                <a:ea typeface="Heiti SC"/>
                <a:cs typeface="Heiti SC"/>
              </a:rPr>
              <a:t>带出处的文献表与证据摘要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AAE67A7-2C12-407E-9713-8903AB510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209800"/>
            <a:ext cx="3524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 i="0">
                <a:solidFill>
                  <a:srgbClr val="063A32"/>
                </a:solidFill>
                <a:latin typeface="Heiti SC"/>
                <a:ea typeface="Heiti SC"/>
                <a:cs typeface="Heiti SC"/>
              </a:defRPr>
            </a:pPr>
            <a:r>
              <a:rPr sz="1500" b="0" i="0">
                <a:solidFill>
                  <a:srgbClr val="063A32"/>
                </a:solidFill>
                <a:latin typeface="Heiti SC"/>
                <a:ea typeface="Heiti SC"/>
                <a:cs typeface="Heiti SC"/>
              </a:rPr>
              <a:t>决定精读什么、相信什么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E4BC5AA-59ED-4E7B-94BF-8B3CF2660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47975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CD9D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64BE9D6-C8E8-45FB-BA4E-05FC05053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6705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 i="0">
                <a:solidFill>
                  <a:srgbClr val="00C86F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 i="0">
                <a:solidFill>
                  <a:srgbClr val="00C86F"/>
                </a:solidFill>
                <a:latin typeface="Avenir Next"/>
                <a:ea typeface="Avenir Next"/>
                <a:cs typeface="Avenir Next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093CE45-4592-4ABD-89B5-D03223856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2895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 i="0">
                <a:solidFill>
                  <a:srgbClr val="063A32"/>
                </a:solidFill>
                <a:latin typeface="Songti SC"/>
                <a:ea typeface="Songti SC"/>
                <a:cs typeface="Songti SC"/>
              </a:defRPr>
            </a:pPr>
            <a:r>
              <a:rPr sz="1875" b="1" i="0">
                <a:solidFill>
                  <a:srgbClr val="063A32"/>
                </a:solidFill>
                <a:latin typeface="Songti SC"/>
                <a:ea typeface="Songti SC"/>
                <a:cs typeface="Songti SC"/>
              </a:rPr>
              <a:t>进度跟踪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788D692-FDF4-433D-A04C-A74C863B3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048000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 i="0">
                <a:solidFill>
                  <a:srgbClr val="063A32"/>
                </a:solidFill>
                <a:latin typeface="Heiti SC"/>
                <a:ea typeface="Heiti SC"/>
                <a:cs typeface="Heiti SC"/>
              </a:defRPr>
            </a:pPr>
            <a:r>
              <a:rPr sz="1500" b="0" i="0">
                <a:solidFill>
                  <a:srgbClr val="063A32"/>
                </a:solidFill>
                <a:latin typeface="Heiti SC"/>
                <a:ea typeface="Heiti SC"/>
                <a:cs typeface="Heiti SC"/>
              </a:rPr>
              <a:t>进度板、阶段总结与下一步清单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7F05086-EC1A-4F9A-82FA-CD4A637E0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048000"/>
            <a:ext cx="3524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 i="0">
                <a:solidFill>
                  <a:srgbClr val="063A32"/>
                </a:solidFill>
                <a:latin typeface="Heiti SC"/>
                <a:ea typeface="Heiti SC"/>
                <a:cs typeface="Heiti SC"/>
              </a:defRPr>
            </a:pPr>
            <a:r>
              <a:rPr sz="1500" b="0" i="0">
                <a:solidFill>
                  <a:srgbClr val="063A32"/>
                </a:solidFill>
                <a:latin typeface="Heiti SC"/>
                <a:ea typeface="Heiti SC"/>
                <a:cs typeface="Heiti SC"/>
              </a:rPr>
              <a:t>决定优先级和研究方向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AFC06DC-1ED5-43FB-A44C-33E97E795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86175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CD9D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8174FAC-DD4C-4E12-A1DD-7E4450642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90525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 i="0">
                <a:solidFill>
                  <a:srgbClr val="00C86F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 i="0">
                <a:solidFill>
                  <a:srgbClr val="00C86F"/>
                </a:solidFill>
                <a:latin typeface="Avenir Next"/>
                <a:ea typeface="Avenir Next"/>
                <a:cs typeface="Avenir Next"/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8070529-715D-4A25-A857-DA8210483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6715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 i="0">
                <a:solidFill>
                  <a:srgbClr val="063A32"/>
                </a:solidFill>
                <a:latin typeface="Songti SC"/>
                <a:ea typeface="Songti SC"/>
                <a:cs typeface="Songti SC"/>
              </a:defRPr>
            </a:pPr>
            <a:r>
              <a:rPr sz="1875" b="1" i="0">
                <a:solidFill>
                  <a:srgbClr val="063A32"/>
                </a:solidFill>
                <a:latin typeface="Songti SC"/>
                <a:ea typeface="Songti SC"/>
                <a:cs typeface="Songti SC"/>
              </a:rPr>
              <a:t>理清逻辑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E67C7DB-7E51-421A-9E16-F41BDE056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886200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 i="0">
                <a:solidFill>
                  <a:srgbClr val="063A32"/>
                </a:solidFill>
                <a:latin typeface="Heiti SC"/>
                <a:ea typeface="Heiti SC"/>
                <a:cs typeface="Heiti SC"/>
              </a:defRPr>
            </a:pPr>
            <a:r>
              <a:rPr sz="1500" b="0" i="0">
                <a:solidFill>
                  <a:srgbClr val="063A32"/>
                </a:solidFill>
                <a:latin typeface="Heiti SC"/>
                <a:ea typeface="Heiti SC"/>
                <a:cs typeface="Heiti SC"/>
              </a:rPr>
              <a:t>论证缺口与待验证问题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7339673-FC2C-4E97-81DA-FC47AF295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886200"/>
            <a:ext cx="3524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 i="0">
                <a:solidFill>
                  <a:srgbClr val="063A32"/>
                </a:solidFill>
                <a:latin typeface="Heiti SC"/>
                <a:ea typeface="Heiti SC"/>
                <a:cs typeface="Heiti SC"/>
              </a:defRPr>
            </a:pPr>
            <a:r>
              <a:rPr sz="1500" b="0" i="0">
                <a:solidFill>
                  <a:srgbClr val="063A32"/>
                </a:solidFill>
                <a:latin typeface="Heiti SC"/>
                <a:ea typeface="Heiti SC"/>
                <a:cs typeface="Heiti SC"/>
              </a:rPr>
              <a:t>回答关键问题、修正论证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C2246AC-AD98-4620-BD77-D09A357B9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24375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CD9D2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4BD80F0-3F7A-4106-87F7-DAD4C3D51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74345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 i="0">
                <a:solidFill>
                  <a:srgbClr val="00C86F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 i="0">
                <a:solidFill>
                  <a:srgbClr val="00C86F"/>
                </a:solidFill>
                <a:latin typeface="Avenir Next"/>
                <a:ea typeface="Avenir Next"/>
                <a:cs typeface="Avenir Next"/>
              </a:rPr>
              <a:t>04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BC26D1D-9849-49EF-A0A2-515B34549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70535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 i="0">
                <a:solidFill>
                  <a:srgbClr val="063A32"/>
                </a:solidFill>
                <a:latin typeface="Songti SC"/>
                <a:ea typeface="Songti SC"/>
                <a:cs typeface="Songti SC"/>
              </a:defRPr>
            </a:pPr>
            <a:r>
              <a:rPr sz="1875" b="1" i="0">
                <a:solidFill>
                  <a:srgbClr val="063A32"/>
                </a:solidFill>
                <a:latin typeface="Songti SC"/>
                <a:ea typeface="Songti SC"/>
                <a:cs typeface="Songti SC"/>
              </a:rPr>
              <a:t>修改表达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1867547-189D-41B5-A85C-60AF0FAC2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724400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 i="0">
                <a:solidFill>
                  <a:srgbClr val="063A32"/>
                </a:solidFill>
                <a:latin typeface="Heiti SC"/>
                <a:ea typeface="Heiti SC"/>
                <a:cs typeface="Heiti SC"/>
              </a:defRPr>
            </a:pPr>
            <a:r>
              <a:rPr sz="1500" b="0" i="0">
                <a:solidFill>
                  <a:srgbClr val="063A32"/>
                </a:solidFill>
                <a:latin typeface="Heiti SC"/>
                <a:ea typeface="Heiti SC"/>
                <a:cs typeface="Heiti SC"/>
              </a:rPr>
              <a:t>修改建议、差异记录与风格档案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7D664CE-22B5-4A4E-99C3-0A3B77BC1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4724400"/>
            <a:ext cx="3524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 i="0">
                <a:solidFill>
                  <a:srgbClr val="063A32"/>
                </a:solidFill>
                <a:latin typeface="Heiti SC"/>
                <a:ea typeface="Heiti SC"/>
                <a:cs typeface="Heiti SC"/>
              </a:defRPr>
            </a:pPr>
            <a:r>
              <a:rPr sz="1500" b="0" i="0">
                <a:solidFill>
                  <a:srgbClr val="063A32"/>
                </a:solidFill>
                <a:latin typeface="Heiti SC"/>
                <a:ea typeface="Heiti SC"/>
                <a:cs typeface="Heiti SC"/>
              </a:rPr>
              <a:t>保留观点、结论和个人风格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8999D2C-9E99-4B61-A20A-48A67C9E6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362575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CD9D2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E112395-27AF-4969-AA13-6003C273B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743575"/>
            <a:ext cx="11087100" cy="571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003A32"/>
          </a:solidFill>
          <a:ln xmlns:a="http://schemas.openxmlformats.org/drawingml/2006/main" w="9525">
            <a:solidFill>
              <a:srgbClr val="003A32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C2FE0DA-D52F-44AF-A0F5-44114555E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8645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 i="0">
                <a:solidFill>
                  <a:srgbClr val="FFFFFF"/>
                </a:solidFill>
                <a:latin typeface="Heiti SC"/>
                <a:ea typeface="Heiti SC"/>
                <a:cs typeface="Heiti SC"/>
              </a:defRPr>
            </a:pPr>
            <a:r>
              <a:rPr sz="1500" b="1" i="0">
                <a:solidFill>
                  <a:srgbClr val="FFFFFF"/>
                </a:solidFill>
                <a:latin typeface="Heiti SC"/>
                <a:ea typeface="Heiti SC"/>
                <a:cs typeface="Heiti SC"/>
              </a:rPr>
              <a:t>提速的关键不是让 AI 代替思考，而是让它接手重复工作，并把证据和下一步留在研究过程里。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40A089D-726C-48CA-A2E5-275686A4E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CD9D2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EB98A80-97A7-4E7B-AAB8-A43EA31AD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91300"/>
            <a:ext cx="1714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 i="0">
                <a:solidFill>
                  <a:srgbClr val="7B8B85"/>
                </a:solidFill>
                <a:latin typeface="Avenir Next"/>
                <a:ea typeface="Avenir Next"/>
                <a:cs typeface="Avenir Next"/>
              </a:defRPr>
            </a:pPr>
            <a:r>
              <a:rPr sz="750" b="1" i="0">
                <a:solidFill>
                  <a:srgbClr val="7B8B85"/>
                </a:solidFill>
                <a:latin typeface="Avenir Next"/>
                <a:ea typeface="Avenir Next"/>
                <a:cs typeface="Avenir Next"/>
              </a:rPr>
              <a:t>SCIENCEX · 02</a:t>
            </a:r>
          </a:p>
        </p:txBody>
      </p:sp>
    </p:spTree>
    <p:extLst>
      <p:ext uri="{BB962C8B-B14F-4D97-AF65-F5344CB8AC3E}">
        <p14:creationId xmlns:p14="http://schemas.microsoft.com/office/powerpoint/2010/main" val="210609832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75B3A72-CFA3-454C-B156-02228BBCC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9575"/>
            <a:ext cx="4000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3A3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9525" rIns="762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03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B7CDC0-864C-4C82-AE84-BAE4EB7FC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57200"/>
            <a:ext cx="304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 i="0">
                <a:solidFill>
                  <a:srgbClr val="008F52"/>
                </a:solidFill>
                <a:latin typeface="Avenir Next"/>
                <a:ea typeface="Avenir Next"/>
                <a:cs typeface="Avenir Next"/>
              </a:defRPr>
            </a:pPr>
            <a:r>
              <a:rPr sz="900" b="1" i="0">
                <a:solidFill>
                  <a:srgbClr val="008F52"/>
                </a:solidFill>
                <a:latin typeface="Avenir Next"/>
                <a:ea typeface="Avenir Next"/>
                <a:cs typeface="Avenir Next"/>
              </a:rPr>
              <a:t>HUMAN IN THE LOOP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0088AE-0C51-4241-B274-8A743B351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19150"/>
            <a:ext cx="695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3000" b="1" i="0">
                <a:solidFill>
                  <a:srgbClr val="063A32"/>
                </a:solidFill>
                <a:latin typeface="Songti SC"/>
                <a:ea typeface="Songti SC"/>
                <a:cs typeface="Songti SC"/>
              </a:defRPr>
            </a:pPr>
            <a:r>
              <a:rPr sz="3000" b="1" i="0">
                <a:solidFill>
                  <a:srgbClr val="063A32"/>
                </a:solidFill>
                <a:latin typeface="Songti SC"/>
                <a:ea typeface="Songti SC"/>
                <a:cs typeface="Songti SC"/>
              </a:rPr>
              <a:t>系统执行，研究者判断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FCD504-3B19-4D16-8728-1FE3FA798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895350"/>
            <a:ext cx="3810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75" b="0" i="0">
                <a:solidFill>
                  <a:srgbClr val="64736E"/>
                </a:solidFill>
                <a:latin typeface="Heiti SC"/>
                <a:ea typeface="Heiti SC"/>
                <a:cs typeface="Heiti SC"/>
              </a:defRPr>
            </a:pPr>
            <a:r>
              <a:rPr sz="1275" b="0" i="0">
                <a:solidFill>
                  <a:srgbClr val="64736E"/>
                </a:solidFill>
                <a:latin typeface="Heiti SC"/>
                <a:ea typeface="Heiti SC"/>
                <a:cs typeface="Heiti SC"/>
              </a:rPr>
              <a:t>高风险操作需要授权，关键证据需要人工复核。ScienceX 承担执行和记录，研究者承担科学判断。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922E8C-5640-4FE3-A745-78D6BC744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1910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00" b="1" i="0">
                <a:solidFill>
                  <a:srgbClr val="063A32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 i="0">
                <a:solidFill>
                  <a:srgbClr val="063A32"/>
                </a:solidFill>
                <a:latin typeface="Avenir Next"/>
                <a:ea typeface="Avenir Next"/>
                <a:cs typeface="Avenir Next"/>
              </a:rPr>
              <a:t>ScienceX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203F42-54EC-4C3F-817D-158CB8289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81175"/>
            <a:ext cx="5219700" cy="3667125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003A32"/>
          </a:solidFill>
          <a:ln xmlns:a="http://schemas.openxmlformats.org/drawingml/2006/main" w="9525">
            <a:solidFill>
              <a:srgbClr val="003A3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F42979-E5E4-440F-BBB1-A3016094E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1781175"/>
            <a:ext cx="5600700" cy="3667125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F0FAF4"/>
          </a:solidFill>
          <a:ln xmlns:a="http://schemas.openxmlformats.org/drawingml/2006/main" w="9525">
            <a:solidFill>
              <a:srgbClr val="CCD9D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740C6A-8452-4326-B9ED-43F3DA922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145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00C86F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00C86F"/>
                </a:solidFill>
                <a:latin typeface="Avenir Next"/>
                <a:ea typeface="Avenir Next"/>
                <a:cs typeface="Avenir Next"/>
              </a:rPr>
              <a:t>SCIENCEX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906B74-D1EB-4730-8D4A-9FD86E21C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19350"/>
            <a:ext cx="3619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925" b="1" i="0">
                <a:solidFill>
                  <a:srgbClr val="FFFFFF"/>
                </a:solidFill>
                <a:latin typeface="Songti SC"/>
                <a:ea typeface="Songti SC"/>
                <a:cs typeface="Songti SC"/>
              </a:defRPr>
            </a:pPr>
            <a:r>
              <a:rPr sz="2925" b="1" i="0">
                <a:solidFill>
                  <a:srgbClr val="FFFFFF"/>
                </a:solidFill>
                <a:latin typeface="Songti SC"/>
                <a:ea typeface="Songti SC"/>
                <a:cs typeface="Songti SC"/>
              </a:rPr>
              <a:t>执行与记录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EA227F-B92D-4AFB-A973-87C9E8A0D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62300"/>
            <a:ext cx="400050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725" b="0" i="0">
                <a:solidFill>
                  <a:srgbClr val="D3E4DE"/>
                </a:solidFill>
                <a:latin typeface="Heiti SC"/>
                <a:ea typeface="Heiti SC"/>
                <a:cs typeface="Heiti SC"/>
              </a:defRPr>
            </a:pPr>
            <a:r>
              <a:rPr sz="1725" b="0" i="0">
                <a:solidFill>
                  <a:srgbClr val="D3E4DE"/>
                </a:solidFill>
                <a:latin typeface="Heiti SC"/>
                <a:ea typeface="Heiti SC"/>
                <a:cs typeface="Heiti SC"/>
              </a:rPr>
              <a:t>• 检索、阅读与整理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725" b="0" i="0">
                <a:solidFill>
                  <a:srgbClr val="D3E4DE"/>
                </a:solidFill>
                <a:latin typeface="Heiti SC"/>
                <a:ea typeface="Heiti SC"/>
                <a:cs typeface="Heiti SC"/>
              </a:defRPr>
            </a:pPr>
            <a:r>
              <a:rPr sz="1725" b="0" i="0">
                <a:solidFill>
                  <a:srgbClr val="D3E4DE"/>
                </a:solidFill>
                <a:latin typeface="Heiti SC"/>
                <a:ea typeface="Heiti SC"/>
                <a:cs typeface="Heiti SC"/>
              </a:rPr>
              <a:t>• 编码、计算与比较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725" b="0" i="0">
                <a:solidFill>
                  <a:srgbClr val="D3E4DE"/>
                </a:solidFill>
                <a:latin typeface="Heiti SC"/>
                <a:ea typeface="Heiti SC"/>
                <a:cs typeface="Heiti SC"/>
              </a:defRPr>
            </a:pPr>
            <a:r>
              <a:rPr sz="1725" b="0" i="0">
                <a:solidFill>
                  <a:srgbClr val="D3E4DE"/>
                </a:solidFill>
                <a:latin typeface="Heiti SC"/>
                <a:ea typeface="Heiti SC"/>
                <a:cs typeface="Heiti SC"/>
              </a:rPr>
              <a:t>• 执行获得授权的工具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725" b="0" i="0">
                <a:solidFill>
                  <a:srgbClr val="D3E4DE"/>
                </a:solidFill>
                <a:latin typeface="Heiti SC"/>
                <a:ea typeface="Heiti SC"/>
                <a:cs typeface="Heiti SC"/>
              </a:defRPr>
            </a:pPr>
            <a:r>
              <a:rPr sz="1725" b="0" i="0">
                <a:solidFill>
                  <a:srgbClr val="D3E4DE"/>
                </a:solidFill>
                <a:latin typeface="Heiti SC"/>
                <a:ea typeface="Heiti SC"/>
                <a:cs typeface="Heiti SC"/>
              </a:rPr>
              <a:t>• 保存过程和候选假设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C76DC5-309D-4464-AD71-4A0763F63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1145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008F52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008F52"/>
                </a:solidFill>
                <a:latin typeface="Avenir Next"/>
                <a:ea typeface="Avenir Next"/>
                <a:cs typeface="Avenir Next"/>
              </a:rPr>
              <a:t>RESEARCHER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5ED8EE-A7BB-4B17-9B97-47FA9CA8C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419350"/>
            <a:ext cx="3619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925" b="1" i="0">
                <a:solidFill>
                  <a:srgbClr val="063A32"/>
                </a:solidFill>
                <a:latin typeface="Songti SC"/>
                <a:ea typeface="Songti SC"/>
                <a:cs typeface="Songti SC"/>
              </a:defRPr>
            </a:pPr>
            <a:r>
              <a:rPr sz="2925" b="1" i="0">
                <a:solidFill>
                  <a:srgbClr val="063A32"/>
                </a:solidFill>
                <a:latin typeface="Songti SC"/>
                <a:ea typeface="Songti SC"/>
                <a:cs typeface="Songti SC"/>
              </a:rPr>
              <a:t>科学判断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2A93C9B-53D7-4E96-A197-A7AE39531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162300"/>
            <a:ext cx="428625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725" b="0" i="0">
                <a:solidFill>
                  <a:srgbClr val="063A32"/>
                </a:solidFill>
                <a:latin typeface="Heiti SC"/>
                <a:ea typeface="Heiti SC"/>
                <a:cs typeface="Heiti SC"/>
              </a:defRPr>
            </a:pPr>
            <a:r>
              <a:rPr sz="1725" b="0" i="0">
                <a:solidFill>
                  <a:srgbClr val="063A32"/>
                </a:solidFill>
                <a:latin typeface="Heiti SC"/>
                <a:ea typeface="Heiti SC"/>
                <a:cs typeface="Heiti SC"/>
              </a:rPr>
              <a:t>• 提出重要研究问题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725" b="0" i="0">
                <a:solidFill>
                  <a:srgbClr val="063A32"/>
                </a:solidFill>
                <a:latin typeface="Heiti SC"/>
                <a:ea typeface="Heiti SC"/>
                <a:cs typeface="Heiti SC"/>
              </a:defRPr>
            </a:pPr>
            <a:r>
              <a:rPr sz="1725" b="0" i="0">
                <a:solidFill>
                  <a:srgbClr val="063A32"/>
                </a:solidFill>
                <a:latin typeface="Heiti SC"/>
                <a:ea typeface="Heiti SC"/>
                <a:cs typeface="Heiti SC"/>
              </a:rPr>
              <a:t>• 审核方案与关键证据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725" b="0" i="0">
                <a:solidFill>
                  <a:srgbClr val="063A32"/>
                </a:solidFill>
                <a:latin typeface="Heiti SC"/>
                <a:ea typeface="Heiti SC"/>
                <a:cs typeface="Heiti SC"/>
              </a:defRPr>
            </a:pPr>
            <a:r>
              <a:rPr sz="1725" b="0" i="0">
                <a:solidFill>
                  <a:srgbClr val="063A32"/>
                </a:solidFill>
                <a:latin typeface="Heiti SC"/>
                <a:ea typeface="Heiti SC"/>
                <a:cs typeface="Heiti SC"/>
              </a:rPr>
              <a:t>• 判断结果是否成立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725" b="0" i="0">
                <a:solidFill>
                  <a:srgbClr val="063A32"/>
                </a:solidFill>
                <a:latin typeface="Heiti SC"/>
                <a:ea typeface="Heiti SC"/>
                <a:cs typeface="Heiti SC"/>
              </a:defRPr>
            </a:pPr>
            <a:r>
              <a:rPr sz="1725" b="0" i="0">
                <a:solidFill>
                  <a:srgbClr val="063A32"/>
                </a:solidFill>
                <a:latin typeface="Heiti SC"/>
                <a:ea typeface="Heiti SC"/>
                <a:cs typeface="Heiti SC"/>
              </a:rPr>
              <a:t>• 决定下一轮研究方向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C7E0962-101C-4DFF-8833-D501BA964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3267075"/>
            <a:ext cx="8763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0C86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B36217C-45A6-402D-A87F-0DEF626BC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475" y="3524250"/>
            <a:ext cx="60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 i="0">
                <a:solidFill>
                  <a:srgbClr val="008F52"/>
                </a:solidFill>
                <a:latin typeface="Heiti SC"/>
                <a:ea typeface="Heiti SC"/>
                <a:cs typeface="Heiti SC"/>
              </a:defRPr>
            </a:pPr>
            <a:r>
              <a:rPr sz="1275" b="1" i="0">
                <a:solidFill>
                  <a:srgbClr val="008F52"/>
                </a:solidFill>
                <a:latin typeface="Heiti SC"/>
                <a:ea typeface="Heiti SC"/>
                <a:cs typeface="Heiti SC"/>
              </a:rPr>
              <a:t>确认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018D363-37FC-48B1-8E46-AEFF6EAB4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7825" y="5734050"/>
            <a:ext cx="8896350" cy="466725"/>
          </a:xfrm>
          <a:prstGeom xmlns:a="http://schemas.openxmlformats.org/drawingml/2006/main" prst="roundRect">
            <a:avLst>
              <a:gd name="adj" fmla="val 24490"/>
            </a:avLst>
          </a:prstGeom>
          <a:solidFill xmlns:a="http://schemas.openxmlformats.org/drawingml/2006/main">
            <a:srgbClr val="063A32"/>
          </a:solidFill>
          <a:ln xmlns:a="http://schemas.openxmlformats.org/drawingml/2006/main" w="9525">
            <a:solidFill>
              <a:srgbClr val="063A3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2C95630-3254-456E-A884-AF3A994C3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848350"/>
            <a:ext cx="838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 i="0">
                <a:solidFill>
                  <a:srgbClr val="FFFFFF"/>
                </a:solidFill>
                <a:latin typeface="Heiti SC"/>
                <a:ea typeface="Heiti SC"/>
                <a:cs typeface="Heiti SC"/>
              </a:defRPr>
            </a:pPr>
            <a:r>
              <a:rPr sz="1350" b="1" i="0">
                <a:solidFill>
                  <a:srgbClr val="FFFFFF"/>
                </a:solidFill>
                <a:latin typeface="Heiti SC"/>
                <a:ea typeface="Heiti SC"/>
                <a:cs typeface="Heiti SC"/>
              </a:rPr>
              <a:t>Human-driven Research Loop  ·  研究者发起、授权、复核并作出最终判断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8EC469F-C174-42DA-BA60-9B218B308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CD9D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1B5D89F-9A1C-4EF6-9AC3-9D78B1A8F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91300"/>
            <a:ext cx="1714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 i="0">
                <a:solidFill>
                  <a:srgbClr val="7B8B85"/>
                </a:solidFill>
                <a:latin typeface="Avenir Next"/>
                <a:ea typeface="Avenir Next"/>
                <a:cs typeface="Avenir Next"/>
              </a:defRPr>
            </a:pPr>
            <a:r>
              <a:rPr sz="750" b="1" i="0">
                <a:solidFill>
                  <a:srgbClr val="7B8B85"/>
                </a:solidFill>
                <a:latin typeface="Avenir Next"/>
                <a:ea typeface="Avenir Next"/>
                <a:cs typeface="Avenir Next"/>
              </a:rPr>
              <a:t>SCIENCEX · 03</a:t>
            </a:r>
          </a:p>
        </p:txBody>
      </p:sp>
    </p:spTree>
    <p:extLst>
      <p:ext uri="{BB962C8B-B14F-4D97-AF65-F5344CB8AC3E}">
        <p14:creationId xmlns:p14="http://schemas.microsoft.com/office/powerpoint/2010/main" val="118972058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6C058F-C378-4280-91C4-753BF6DB0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9575"/>
            <a:ext cx="4000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3A3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9525" rIns="762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EF8A7A-DE74-4669-92A3-43BD108E5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57200"/>
            <a:ext cx="304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 i="0">
                <a:solidFill>
                  <a:srgbClr val="008F52"/>
                </a:solidFill>
                <a:latin typeface="Avenir Next"/>
                <a:ea typeface="Avenir Next"/>
                <a:cs typeface="Avenir Next"/>
              </a:defRPr>
            </a:pPr>
            <a:r>
              <a:rPr sz="900" b="1" i="0">
                <a:solidFill>
                  <a:srgbClr val="008F52"/>
                </a:solidFill>
                <a:latin typeface="Avenir Next"/>
                <a:ea typeface="Avenir Next"/>
                <a:cs typeface="Avenir Next"/>
              </a:rPr>
              <a:t>PRODUCT IN USE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45B100-FB76-4C17-AD97-034EC0128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19150"/>
            <a:ext cx="695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3000" b="1" i="0">
                <a:solidFill>
                  <a:srgbClr val="063A32"/>
                </a:solidFill>
                <a:latin typeface="Songti SC"/>
                <a:ea typeface="Songti SC"/>
                <a:cs typeface="Songti SC"/>
              </a:defRPr>
            </a:pPr>
            <a:r>
              <a:rPr sz="3000" b="1" i="0">
                <a:solidFill>
                  <a:srgbClr val="063A32"/>
                </a:solidFill>
                <a:latin typeface="Songti SC"/>
                <a:ea typeface="Songti SC"/>
                <a:cs typeface="Songti SC"/>
              </a:rPr>
              <a:t>产品已经进入研究过程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B29662-C16B-438C-BF32-CD9A0AA93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895350"/>
            <a:ext cx="3810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75" b="0" i="0">
                <a:solidFill>
                  <a:srgbClr val="64736E"/>
                </a:solidFill>
                <a:latin typeface="Heiti SC"/>
                <a:ea typeface="Heiti SC"/>
                <a:cs typeface="Heiti SC"/>
              </a:defRPr>
            </a:pPr>
            <a:r>
              <a:rPr sz="1275" b="0" i="0">
                <a:solidFill>
                  <a:srgbClr val="64736E"/>
                </a:solidFill>
                <a:latin typeface="Heiti SC"/>
                <a:ea typeface="Heiti SC"/>
                <a:cs typeface="Heiti SC"/>
              </a:rPr>
              <a:t>研究项目、研究线程、定时任务与科研 Skills，已经进入同一个桌面工作台。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DD1BB2-78D9-44E7-A740-459C10972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1910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00" b="1" i="0">
                <a:solidFill>
                  <a:srgbClr val="063A32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 i="0">
                <a:solidFill>
                  <a:srgbClr val="063A32"/>
                </a:solidFill>
                <a:latin typeface="Avenir Next"/>
                <a:ea typeface="Avenir Next"/>
                <a:cs typeface="Avenir Next"/>
              </a:rPr>
              <a:t>ScienceX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bfb087d2bb4aad"/>
          <a:srcRect xmlns:a="http://schemas.openxmlformats.org/drawingml/2006/main" l="0" t="19938" r="0" b="1993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2450" y="1524000"/>
            <a:ext cx="11087100" cy="4629150"/>
          </a:xfrm>
          <a:prstGeom xmlns:a="http://schemas.openxmlformats.org/drawingml/2006/main" prst="roundRect">
            <a:avLst>
              <a:gd name="adj" fmla="val 3704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9D7CC7-BFF6-4080-8985-F566D02D9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943600"/>
            <a:ext cx="9867900" cy="43815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FFFFFF">
              <a:alpha val="93333"/>
            </a:srgbClr>
          </a:solidFill>
          <a:ln xmlns:a="http://schemas.openxmlformats.org/drawingml/2006/main" w="9525">
            <a:solidFill>
              <a:srgbClr val="CCD9D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46788E-E8C3-4258-BF26-CEB018D71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6057900"/>
            <a:ext cx="9296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 i="0">
                <a:solidFill>
                  <a:srgbClr val="063A32"/>
                </a:solidFill>
                <a:latin typeface="Heiti SC"/>
                <a:ea typeface="Heiti SC"/>
                <a:cs typeface="Heiti SC"/>
              </a:defRPr>
            </a:pPr>
            <a:r>
              <a:rPr sz="1425" b="1" i="0">
                <a:solidFill>
                  <a:srgbClr val="063A32"/>
                </a:solidFill>
                <a:latin typeface="Heiti SC"/>
                <a:ea typeface="Heiti SC"/>
                <a:cs typeface="Heiti SC"/>
              </a:rPr>
              <a:t>研究项目   ·   研究线程   ·   定时任务   ·   科研 Skills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4F9C10-BC7B-4801-9604-9AD05B25D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CD9D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E80B10-39AE-4CFD-9C97-C4F690530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91300"/>
            <a:ext cx="1714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 i="0">
                <a:solidFill>
                  <a:srgbClr val="7B8B85"/>
                </a:solidFill>
                <a:latin typeface="Avenir Next"/>
                <a:ea typeface="Avenir Next"/>
                <a:cs typeface="Avenir Next"/>
              </a:defRPr>
            </a:pPr>
            <a:r>
              <a:rPr sz="750" b="1" i="0">
                <a:solidFill>
                  <a:srgbClr val="7B8B85"/>
                </a:solidFill>
                <a:latin typeface="Avenir Next"/>
                <a:ea typeface="Avenir Next"/>
                <a:cs typeface="Avenir Next"/>
              </a:rPr>
              <a:t>SCIENCEX · 04</a:t>
            </a:r>
          </a:p>
        </p:txBody>
      </p:sp>
    </p:spTree>
    <p:extLst>
      <p:ext uri="{BB962C8B-B14F-4D97-AF65-F5344CB8AC3E}">
        <p14:creationId xmlns:p14="http://schemas.microsoft.com/office/powerpoint/2010/main" val="18078166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028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0044EC5-E7D5-4644-9781-FD1BC4921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9575"/>
            <a:ext cx="4000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C86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9525" rIns="762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02821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002821"/>
                </a:solidFill>
                <a:latin typeface="Avenir Next"/>
                <a:ea typeface="Avenir Next"/>
                <a:cs typeface="Avenir Next"/>
              </a:rPr>
              <a:t>05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B10C60-E568-4E09-9E48-1220FFC44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57200"/>
            <a:ext cx="304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 i="0">
                <a:solidFill>
                  <a:srgbClr val="00C86F"/>
                </a:solidFill>
                <a:latin typeface="Avenir Next"/>
                <a:ea typeface="Avenir Next"/>
                <a:cs typeface="Avenir Next"/>
              </a:defRPr>
            </a:pPr>
            <a:r>
              <a:rPr sz="900" b="1" i="0">
                <a:solidFill>
                  <a:srgbClr val="00C86F"/>
                </a:solidFill>
                <a:latin typeface="Avenir Next"/>
                <a:ea typeface="Avenir Next"/>
                <a:cs typeface="Avenir Next"/>
              </a:rPr>
              <a:t>RESEARCH LOOP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B46145-E1A2-4CF7-9AC6-F3CFC535F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19150"/>
            <a:ext cx="666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3000" b="1" i="0">
                <a:solidFill>
                  <a:srgbClr val="FFFFFF"/>
                </a:solidFill>
                <a:latin typeface="Songti SC"/>
                <a:ea typeface="Songti SC"/>
                <a:cs typeface="Songti SC"/>
              </a:defRPr>
            </a:pPr>
            <a:r>
              <a:rPr sz="3000" b="1" i="0">
                <a:solidFill>
                  <a:srgbClr val="FFFFFF"/>
                </a:solidFill>
                <a:latin typeface="Songti SC"/>
                <a:ea typeface="Songti SC"/>
                <a:cs typeface="Songti SC"/>
              </a:rPr>
              <a:t>科研不是一次性 Workflow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5A3CD8-F0EB-4D48-8251-882FB78ED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895350"/>
            <a:ext cx="3810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75" b="0" i="0">
                <a:solidFill>
                  <a:srgbClr val="C5D8D1"/>
                </a:solidFill>
                <a:latin typeface="Heiti SC"/>
                <a:ea typeface="Heiti SC"/>
                <a:cs typeface="Heiti SC"/>
              </a:defRPr>
            </a:pPr>
            <a:r>
              <a:rPr sz="1275" b="0" i="0">
                <a:solidFill>
                  <a:srgbClr val="C5D8D1"/>
                </a:solidFill>
                <a:latin typeface="Heiti SC"/>
                <a:ea typeface="Heiti SC"/>
                <a:cs typeface="Heiti SC"/>
              </a:rPr>
              <a:t>结果不是终点，而是下一轮研究的输入。ScienceX 保存状态并执行任务，研究者判断证据与方向。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56A402-D298-42CA-B847-72428556C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1910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0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ScienceX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339752-2819-44E5-8130-D9B70C0DE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76450"/>
            <a:ext cx="1428750" cy="1123950"/>
          </a:xfrm>
          <a:prstGeom xmlns:a="http://schemas.openxmlformats.org/drawingml/2006/main" prst="roundRect">
            <a:avLst>
              <a:gd name="adj" fmla="val 15254"/>
            </a:avLst>
          </a:prstGeom>
          <a:solidFill xmlns:a="http://schemas.openxmlformats.org/drawingml/2006/main">
            <a:srgbClr val="0A4B40"/>
          </a:solidFill>
          <a:ln xmlns:a="http://schemas.openxmlformats.org/drawingml/2006/main" w="14288">
            <a:solidFill>
              <a:srgbClr val="1C655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F6ABC2-F9EF-4AFA-9971-2B813E26E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2885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 i="0">
                <a:solidFill>
                  <a:srgbClr val="00C86F"/>
                </a:solidFill>
                <a:latin typeface="Avenir Next"/>
                <a:ea typeface="Avenir Next"/>
                <a:cs typeface="Avenir Next"/>
              </a:defRPr>
            </a:pPr>
            <a:r>
              <a:rPr sz="900" b="1" i="0">
                <a:solidFill>
                  <a:srgbClr val="00C86F"/>
                </a:solidFill>
                <a:latin typeface="Avenir Next"/>
                <a:ea typeface="Avenir Next"/>
                <a:cs typeface="Avenir Next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84A489-AE13-417C-8D58-EC366C841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24125"/>
            <a:ext cx="1123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1" i="0">
                <a:solidFill>
                  <a:srgbClr val="FFFFFF"/>
                </a:solidFill>
                <a:latin typeface="Songti SC"/>
                <a:ea typeface="Songti SC"/>
                <a:cs typeface="Songti SC"/>
              </a:defRPr>
            </a:pPr>
            <a:r>
              <a:rPr sz="1575" b="1" i="0">
                <a:solidFill>
                  <a:srgbClr val="FFFFFF"/>
                </a:solidFill>
                <a:latin typeface="Songti SC"/>
                <a:ea typeface="Songti SC"/>
                <a:cs typeface="Songti SC"/>
              </a:rPr>
              <a:t>研究问题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882329-B879-4F33-8887-70810A1FE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76550"/>
            <a:ext cx="11239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825" b="0" i="0">
                <a:solidFill>
                  <a:srgbClr val="89BDAE"/>
                </a:solidFill>
                <a:latin typeface="Avenir Next"/>
                <a:ea typeface="Avenir Next"/>
                <a:cs typeface="Avenir Next"/>
              </a:defRPr>
            </a:pPr>
            <a:r>
              <a:rPr sz="825" b="0" i="0">
                <a:solidFill>
                  <a:srgbClr val="89BDAE"/>
                </a:solidFill>
                <a:latin typeface="Avenir Next"/>
                <a:ea typeface="Avenir Next"/>
                <a:cs typeface="Avenir Next"/>
              </a:rPr>
              <a:t>Question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3E7CF4-34A0-41B0-B8DC-DE18DE276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076450"/>
            <a:ext cx="1428750" cy="1123950"/>
          </a:xfrm>
          <a:prstGeom xmlns:a="http://schemas.openxmlformats.org/drawingml/2006/main" prst="roundRect">
            <a:avLst>
              <a:gd name="adj" fmla="val 15254"/>
            </a:avLst>
          </a:prstGeom>
          <a:solidFill xmlns:a="http://schemas.openxmlformats.org/drawingml/2006/main">
            <a:srgbClr val="0A4B40"/>
          </a:solidFill>
          <a:ln xmlns:a="http://schemas.openxmlformats.org/drawingml/2006/main" w="14288">
            <a:solidFill>
              <a:srgbClr val="1C655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1687E7-9228-42D1-AB2B-F13F5D29C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22885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 i="0">
                <a:solidFill>
                  <a:srgbClr val="00C86F"/>
                </a:solidFill>
                <a:latin typeface="Avenir Next"/>
                <a:ea typeface="Avenir Next"/>
                <a:cs typeface="Avenir Next"/>
              </a:defRPr>
            </a:pPr>
            <a:r>
              <a:rPr sz="900" b="1" i="0">
                <a:solidFill>
                  <a:srgbClr val="00C86F"/>
                </a:solidFill>
                <a:latin typeface="Avenir Next"/>
                <a:ea typeface="Avenir Next"/>
                <a:cs typeface="Avenir Next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1650F4D-0072-434C-8BDA-6BBF53736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524125"/>
            <a:ext cx="1123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1" i="0">
                <a:solidFill>
                  <a:srgbClr val="FFFFFF"/>
                </a:solidFill>
                <a:latin typeface="Songti SC"/>
                <a:ea typeface="Songti SC"/>
                <a:cs typeface="Songti SC"/>
              </a:defRPr>
            </a:pPr>
            <a:r>
              <a:rPr sz="1575" b="1" i="0">
                <a:solidFill>
                  <a:srgbClr val="FFFFFF"/>
                </a:solidFill>
                <a:latin typeface="Songti SC"/>
                <a:ea typeface="Songti SC"/>
                <a:cs typeface="Songti SC"/>
              </a:rPr>
              <a:t>候选假设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F2F7B11-D390-414E-A4FF-96EDF4970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876550"/>
            <a:ext cx="11239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825" b="0" i="0">
                <a:solidFill>
                  <a:srgbClr val="89BDAE"/>
                </a:solidFill>
                <a:latin typeface="Avenir Next"/>
                <a:ea typeface="Avenir Next"/>
                <a:cs typeface="Avenir Next"/>
              </a:defRPr>
            </a:pPr>
            <a:r>
              <a:rPr sz="825" b="0" i="0">
                <a:solidFill>
                  <a:srgbClr val="89BDAE"/>
                </a:solidFill>
                <a:latin typeface="Avenir Next"/>
                <a:ea typeface="Avenir Next"/>
                <a:cs typeface="Avenir Next"/>
              </a:rPr>
              <a:t>Hypothesis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A3A2AF2-68EB-4F85-B315-95EEBD627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076450"/>
            <a:ext cx="1428750" cy="1123950"/>
          </a:xfrm>
          <a:prstGeom xmlns:a="http://schemas.openxmlformats.org/drawingml/2006/main" prst="roundRect">
            <a:avLst>
              <a:gd name="adj" fmla="val 15254"/>
            </a:avLst>
          </a:prstGeom>
          <a:solidFill xmlns:a="http://schemas.openxmlformats.org/drawingml/2006/main">
            <a:srgbClr val="0A4B40"/>
          </a:solidFill>
          <a:ln xmlns:a="http://schemas.openxmlformats.org/drawingml/2006/main" w="14288">
            <a:solidFill>
              <a:srgbClr val="1C655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A1E6304-3ED9-4062-8D15-21BAC3D30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22885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 i="0">
                <a:solidFill>
                  <a:srgbClr val="00C86F"/>
                </a:solidFill>
                <a:latin typeface="Avenir Next"/>
                <a:ea typeface="Avenir Next"/>
                <a:cs typeface="Avenir Next"/>
              </a:defRPr>
            </a:pPr>
            <a:r>
              <a:rPr sz="900" b="1" i="0">
                <a:solidFill>
                  <a:srgbClr val="00C86F"/>
                </a:solidFill>
                <a:latin typeface="Avenir Next"/>
                <a:ea typeface="Avenir Next"/>
                <a:cs typeface="Avenir Next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CE215A9-81C7-435A-93D8-03F49E2AB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524125"/>
            <a:ext cx="1123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1" i="0">
                <a:solidFill>
                  <a:srgbClr val="FFFFFF"/>
                </a:solidFill>
                <a:latin typeface="Songti SC"/>
                <a:ea typeface="Songti SC"/>
                <a:cs typeface="Songti SC"/>
              </a:defRPr>
            </a:pPr>
            <a:r>
              <a:rPr sz="1575" b="1" i="0">
                <a:solidFill>
                  <a:srgbClr val="FFFFFF"/>
                </a:solidFill>
                <a:latin typeface="Songti SC"/>
                <a:ea typeface="Songti SC"/>
                <a:cs typeface="Songti SC"/>
              </a:rPr>
              <a:t>证据与数据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63A21AC-7EFA-4443-9182-D1D70CDC7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876550"/>
            <a:ext cx="11239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825" b="0" i="0">
                <a:solidFill>
                  <a:srgbClr val="89BDAE"/>
                </a:solidFill>
                <a:latin typeface="Avenir Next"/>
                <a:ea typeface="Avenir Next"/>
                <a:cs typeface="Avenir Next"/>
              </a:defRPr>
            </a:pPr>
            <a:r>
              <a:rPr sz="825" b="0" i="0">
                <a:solidFill>
                  <a:srgbClr val="89BDAE"/>
                </a:solidFill>
                <a:latin typeface="Avenir Next"/>
                <a:ea typeface="Avenir Next"/>
                <a:cs typeface="Avenir Next"/>
              </a:rPr>
              <a:t>Evidence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3B5ACF9-B73C-4AA0-9A30-029D342B7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076450"/>
            <a:ext cx="1428750" cy="1123950"/>
          </a:xfrm>
          <a:prstGeom xmlns:a="http://schemas.openxmlformats.org/drawingml/2006/main" prst="roundRect">
            <a:avLst>
              <a:gd name="adj" fmla="val 15254"/>
            </a:avLst>
          </a:prstGeom>
          <a:solidFill xmlns:a="http://schemas.openxmlformats.org/drawingml/2006/main">
            <a:srgbClr val="0A4B40"/>
          </a:solidFill>
          <a:ln xmlns:a="http://schemas.openxmlformats.org/drawingml/2006/main" w="14288">
            <a:solidFill>
              <a:srgbClr val="1C655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E4B8745-40DE-4C72-8CE6-8B74C61BC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22885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 i="0">
                <a:solidFill>
                  <a:srgbClr val="00C86F"/>
                </a:solidFill>
                <a:latin typeface="Avenir Next"/>
                <a:ea typeface="Avenir Next"/>
                <a:cs typeface="Avenir Next"/>
              </a:defRPr>
            </a:pPr>
            <a:r>
              <a:rPr sz="900" b="1" i="0">
                <a:solidFill>
                  <a:srgbClr val="00C86F"/>
                </a:solidFill>
                <a:latin typeface="Avenir Next"/>
                <a:ea typeface="Avenir Next"/>
                <a:cs typeface="Avenir Next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659313A-04B6-4F62-A3DF-232952472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524125"/>
            <a:ext cx="1123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1" i="0">
                <a:solidFill>
                  <a:srgbClr val="FFFFFF"/>
                </a:solidFill>
                <a:latin typeface="Songti SC"/>
                <a:ea typeface="Songti SC"/>
                <a:cs typeface="Songti SC"/>
              </a:defRPr>
            </a:pPr>
            <a:r>
              <a:rPr sz="1575" b="1" i="0">
                <a:solidFill>
                  <a:srgbClr val="FFFFFF"/>
                </a:solidFill>
                <a:latin typeface="Songti SC"/>
                <a:ea typeface="Songti SC"/>
                <a:cs typeface="Songti SC"/>
              </a:rPr>
              <a:t>实验 / 计算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97B3EE4-2AB0-439B-AD6A-F1D26466A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876550"/>
            <a:ext cx="11239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825" b="0" i="0">
                <a:solidFill>
                  <a:srgbClr val="89BDAE"/>
                </a:solidFill>
                <a:latin typeface="Avenir Next"/>
                <a:ea typeface="Avenir Next"/>
                <a:cs typeface="Avenir Next"/>
              </a:defRPr>
            </a:pPr>
            <a:r>
              <a:rPr sz="825" b="0" i="0">
                <a:solidFill>
                  <a:srgbClr val="89BDAE"/>
                </a:solidFill>
                <a:latin typeface="Avenir Next"/>
                <a:ea typeface="Avenir Next"/>
                <a:cs typeface="Avenir Next"/>
              </a:rPr>
              <a:t>Experiment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FB3AFB6-B766-403F-B3F0-D25C84B09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076450"/>
            <a:ext cx="1428750" cy="1123950"/>
          </a:xfrm>
          <a:prstGeom xmlns:a="http://schemas.openxmlformats.org/drawingml/2006/main" prst="roundRect">
            <a:avLst>
              <a:gd name="adj" fmla="val 15254"/>
            </a:avLst>
          </a:prstGeom>
          <a:solidFill xmlns:a="http://schemas.openxmlformats.org/drawingml/2006/main">
            <a:srgbClr val="0A4B40"/>
          </a:solidFill>
          <a:ln xmlns:a="http://schemas.openxmlformats.org/drawingml/2006/main" w="14288">
            <a:solidFill>
              <a:srgbClr val="1C6557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2E71AAD-7652-4592-BDC2-46F86A86D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22885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 i="0">
                <a:solidFill>
                  <a:srgbClr val="00C86F"/>
                </a:solidFill>
                <a:latin typeface="Avenir Next"/>
                <a:ea typeface="Avenir Next"/>
                <a:cs typeface="Avenir Next"/>
              </a:defRPr>
            </a:pPr>
            <a:r>
              <a:rPr sz="900" b="1" i="0">
                <a:solidFill>
                  <a:srgbClr val="00C86F"/>
                </a:solidFill>
                <a:latin typeface="Avenir Next"/>
                <a:ea typeface="Avenir Next"/>
                <a:cs typeface="Avenir Next"/>
              </a:rPr>
              <a:t>05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CC820D6-693E-4758-A8CD-108A38205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524125"/>
            <a:ext cx="1123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1" i="0">
                <a:solidFill>
                  <a:srgbClr val="FFFFFF"/>
                </a:solidFill>
                <a:latin typeface="Songti SC"/>
                <a:ea typeface="Songti SC"/>
                <a:cs typeface="Songti SC"/>
              </a:defRPr>
            </a:pPr>
            <a:r>
              <a:rPr sz="1575" b="1" i="0">
                <a:solidFill>
                  <a:srgbClr val="FFFFFF"/>
                </a:solidFill>
                <a:latin typeface="Songti SC"/>
                <a:ea typeface="Songti SC"/>
                <a:cs typeface="Songti SC"/>
              </a:rPr>
              <a:t>结果与边界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5507F1E-700B-48AA-A3F9-317DB05BC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876550"/>
            <a:ext cx="11239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825" b="0" i="0">
                <a:solidFill>
                  <a:srgbClr val="89BDAE"/>
                </a:solidFill>
                <a:latin typeface="Avenir Next"/>
                <a:ea typeface="Avenir Next"/>
                <a:cs typeface="Avenir Next"/>
              </a:defRPr>
            </a:pPr>
            <a:r>
              <a:rPr sz="825" b="0" i="0">
                <a:solidFill>
                  <a:srgbClr val="89BDAE"/>
                </a:solidFill>
                <a:latin typeface="Avenir Next"/>
                <a:ea typeface="Avenir Next"/>
                <a:cs typeface="Avenir Next"/>
              </a:rPr>
              <a:t>Result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2D62A97-C8BD-4ABB-A009-9823A5F00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2076450"/>
            <a:ext cx="1428750" cy="1123950"/>
          </a:xfrm>
          <a:prstGeom xmlns:a="http://schemas.openxmlformats.org/drawingml/2006/main" prst="roundRect">
            <a:avLst>
              <a:gd name="adj" fmla="val 15254"/>
            </a:avLst>
          </a:prstGeom>
          <a:solidFill xmlns:a="http://schemas.openxmlformats.org/drawingml/2006/main">
            <a:srgbClr val="00C86F"/>
          </a:solidFill>
          <a:ln xmlns:a="http://schemas.openxmlformats.org/drawingml/2006/main" w="14288">
            <a:solidFill>
              <a:srgbClr val="00C86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1E218E6-D600-4D26-B434-04DC1EF67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22885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 i="0">
                <a:solidFill>
                  <a:srgbClr val="002821"/>
                </a:solidFill>
                <a:latin typeface="Avenir Next"/>
                <a:ea typeface="Avenir Next"/>
                <a:cs typeface="Avenir Next"/>
              </a:defRPr>
            </a:pPr>
            <a:r>
              <a:rPr sz="900" b="1" i="0">
                <a:solidFill>
                  <a:srgbClr val="002821"/>
                </a:solidFill>
                <a:latin typeface="Avenir Next"/>
                <a:ea typeface="Avenir Next"/>
                <a:cs typeface="Avenir Next"/>
              </a:rPr>
              <a:t>06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EFDF7C0-420A-4E81-9303-F87684464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524125"/>
            <a:ext cx="1123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1" i="0">
                <a:solidFill>
                  <a:srgbClr val="002821"/>
                </a:solidFill>
                <a:latin typeface="Songti SC"/>
                <a:ea typeface="Songti SC"/>
                <a:cs typeface="Songti SC"/>
              </a:defRPr>
            </a:pPr>
            <a:r>
              <a:rPr sz="1575" b="1" i="0">
                <a:solidFill>
                  <a:srgbClr val="002821"/>
                </a:solidFill>
                <a:latin typeface="Songti SC"/>
                <a:ea typeface="Songti SC"/>
                <a:cs typeface="Songti SC"/>
              </a:rPr>
              <a:t>下一轮问题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DB5304B-5120-4954-A34F-A5AE30F7B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876550"/>
            <a:ext cx="11239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825" b="0" i="0">
                <a:solidFill>
                  <a:srgbClr val="075C43"/>
                </a:solidFill>
                <a:latin typeface="Avenir Next"/>
                <a:ea typeface="Avenir Next"/>
                <a:cs typeface="Avenir Next"/>
              </a:defRPr>
            </a:pPr>
            <a:r>
              <a:rPr sz="825" b="0" i="0">
                <a:solidFill>
                  <a:srgbClr val="075C43"/>
                </a:solidFill>
                <a:latin typeface="Avenir Next"/>
                <a:ea typeface="Avenir Next"/>
                <a:cs typeface="Avenir Next"/>
              </a:rPr>
              <a:t>Next question</a:t>
            </a:r>
          </a:p>
        </p:txBody>
      </p:sp>
      <p:cxnSp>
        <p:nvCxnSpPr>
          <p:cNvPr id="71" name=""/>
          <p:cNvCxnSpPr>
            <a:stCxn xmlns:a="http://schemas.openxmlformats.org/drawingml/2006/main" id="6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2133600" y="2638425"/>
            <a:ext cx="4381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8C99F"/>
            </a:solidFill>
            <a:prstDash val="solid"/>
            <a:headEnd type="triangle" w="sm" len="sm"/>
          </a:ln>
        </p:spPr>
      </p:cxnSp>
      <p:cxnSp>
        <p:nvCxnSpPr>
          <p:cNvPr id="72" name=""/>
          <p:cNvCxnSpPr>
            <a:stCxn xmlns:a="http://schemas.openxmlformats.org/drawingml/2006/main" id="10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4000500" y="2638425"/>
            <a:ext cx="4381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8C99F"/>
            </a:solidFill>
            <a:prstDash val="solid"/>
            <a:headEnd type="triangle" w="sm" len="sm"/>
          </a:ln>
        </p:spPr>
      </p:cxnSp>
      <p:cxnSp>
        <p:nvCxnSpPr>
          <p:cNvPr id="73" name=""/>
          <p:cNvCxnSpPr>
            <a:stCxn xmlns:a="http://schemas.openxmlformats.org/drawingml/2006/main" id="14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5867400" y="2638425"/>
            <a:ext cx="4381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8C99F"/>
            </a:solidFill>
            <a:prstDash val="solid"/>
            <a:headEnd type="triangle" w="sm" len="sm"/>
          </a:ln>
        </p:spPr>
      </p:cxnSp>
      <p:cxnSp>
        <p:nvCxnSpPr>
          <p:cNvPr id="74" name=""/>
          <p:cNvCxnSpPr>
            <a:stCxn xmlns:a="http://schemas.openxmlformats.org/drawingml/2006/main" id="18" idx="3"/>
            <a:endCxn xmlns:a="http://schemas.openxmlformats.org/drawingml/2006/main" id="22" idx="1"/>
          </p:cNvCxnSpPr>
          <p:nvPr/>
        </p:nvCxnSpPr>
        <p:spPr>
          <a:xfrm xmlns:a="http://schemas.openxmlformats.org/drawingml/2006/main">
            <a:off x="7734300" y="2638425"/>
            <a:ext cx="4381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8C99F"/>
            </a:solidFill>
            <a:prstDash val="solid"/>
            <a:headEnd type="triangle" w="sm" len="sm"/>
          </a:ln>
        </p:spPr>
      </p:cxnSp>
      <p:cxnSp>
        <p:nvCxnSpPr>
          <p:cNvPr id="75" name=""/>
          <p:cNvCxnSpPr>
            <a:stCxn xmlns:a="http://schemas.openxmlformats.org/drawingml/2006/main" id="22" idx="3"/>
            <a:endCxn xmlns:a="http://schemas.openxmlformats.org/drawingml/2006/main" id="26" idx="1"/>
          </p:cNvCxnSpPr>
          <p:nvPr/>
        </p:nvCxnSpPr>
        <p:spPr>
          <a:xfrm xmlns:a="http://schemas.openxmlformats.org/drawingml/2006/main">
            <a:off x="9601200" y="2638425"/>
            <a:ext cx="4381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8C99F"/>
            </a:solidFill>
            <a:prstDash val="solid"/>
            <a:headEnd type="triangle" w="sm" len="sm"/>
          </a:ln>
        </p:spPr>
      </p:cxnSp>
      <p:cxnSp>
        <p:nvCxnSpPr>
          <p:cNvPr id="76" name=""/>
          <p:cNvCxnSpPr>
            <a:stCxn xmlns:a="http://schemas.openxmlformats.org/drawingml/2006/main" id="26" idx="2"/>
            <a:endCxn xmlns:a="http://schemas.openxmlformats.org/drawingml/2006/main" id="6" idx="2"/>
          </p:cNvCxnSpPr>
          <p:nvPr/>
        </p:nvCxnSpPr>
        <p:spPr>
          <a:xfrm xmlns:a="http://schemas.openxmlformats.org/drawingml/2006/main" flipH="1">
            <a:off x="1419225" y="3200400"/>
            <a:ext cx="9334500" cy="228600"/>
          </a:xfrm>
          <a:prstGeom xmlns:a="http://schemas.openxmlformats.org/drawingml/2006/main" prst="bentConnector3">
            <a:avLst/>
          </a:prstGeom>
          <a:ln xmlns:a="http://schemas.openxmlformats.org/drawingml/2006/main" w="19050">
            <a:solidFill>
              <a:srgbClr val="00C86F"/>
            </a:solidFill>
            <a:prstDash val="solid"/>
            <a:headEnd type="triangle" w="sm" len="sm"/>
          </a:ln>
        </p:spPr>
      </p:cxn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84147DE-F0A8-48FD-8603-147DEA02A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171950"/>
            <a:ext cx="9982200" cy="1123950"/>
          </a:xfrm>
          <a:prstGeom xmlns:a="http://schemas.openxmlformats.org/drawingml/2006/main" prst="roundRect">
            <a:avLst>
              <a:gd name="adj" fmla="val 13559"/>
            </a:avLst>
          </a:prstGeom>
          <a:solidFill xmlns:a="http://schemas.openxmlformats.org/drawingml/2006/main">
            <a:srgbClr val="063D34"/>
          </a:solidFill>
          <a:ln xmlns:a="http://schemas.openxmlformats.org/drawingml/2006/main" w="9525">
            <a:solidFill>
              <a:srgbClr val="1B6657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D0D0734-9107-4B16-AFD0-928CAC5A7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391025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 i="0">
                <a:solidFill>
                  <a:srgbClr val="00C86F"/>
                </a:solidFill>
                <a:latin typeface="Avenir Next"/>
                <a:ea typeface="Avenir Next"/>
                <a:cs typeface="Avenir Next"/>
              </a:defRPr>
            </a:pPr>
            <a:r>
              <a:rPr sz="900" b="1" i="0">
                <a:solidFill>
                  <a:srgbClr val="00C86F"/>
                </a:solidFill>
                <a:latin typeface="Avenir Next"/>
                <a:ea typeface="Avenir Next"/>
                <a:cs typeface="Avenir Next"/>
              </a:rPr>
              <a:t>RESEARCH MEMORY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E1F3CBD-6EBD-4916-99B3-8443B27EC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714875"/>
            <a:ext cx="9258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 i="0">
                <a:solidFill>
                  <a:srgbClr val="FFFFFF"/>
                </a:solidFill>
                <a:latin typeface="Heiti SC"/>
                <a:ea typeface="Heiti SC"/>
                <a:cs typeface="Heiti SC"/>
              </a:defRPr>
            </a:pPr>
            <a:r>
              <a:rPr sz="1650" b="1" i="0">
                <a:solidFill>
                  <a:srgbClr val="FFFFFF"/>
                </a:solidFill>
                <a:latin typeface="Heiti SC"/>
                <a:ea typeface="Heiti SC"/>
                <a:cs typeface="Heiti SC"/>
              </a:rPr>
              <a:t>研究目标 · 候选假设 · 数据版本 · 证据关系 · 关键决策 · 结果 · 未解决问题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AE4EA84-60D9-4496-879D-259F67C60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5715000"/>
            <a:ext cx="8610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0" i="0">
                <a:solidFill>
                  <a:srgbClr val="BED7CF"/>
                </a:solidFill>
                <a:latin typeface="Heiti SC"/>
                <a:ea typeface="Heiti SC"/>
                <a:cs typeface="Heiti SC"/>
              </a:defRPr>
            </a:pPr>
            <a:r>
              <a:rPr sz="1350" b="0" i="0">
                <a:solidFill>
                  <a:srgbClr val="BED7CF"/>
                </a:solidFill>
                <a:latin typeface="Heiti SC"/>
                <a:ea typeface="Heiti SC"/>
                <a:cs typeface="Heiti SC"/>
              </a:rPr>
              <a:t>当前闭环由研究者驱动。ScienceX 协助执行、记录与重放，不替代最终科学判断。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B5CBED1-AFA2-4946-88E3-0EAFCDD61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1584E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BF67AF4-6D0F-4CF4-9117-FCDD1B713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91300"/>
            <a:ext cx="1714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 i="0">
                <a:solidFill>
                  <a:srgbClr val="7BB8A5"/>
                </a:solidFill>
                <a:latin typeface="Avenir Next"/>
                <a:ea typeface="Avenir Next"/>
                <a:cs typeface="Avenir Next"/>
              </a:defRPr>
            </a:pPr>
            <a:r>
              <a:rPr sz="750" b="1" i="0">
                <a:solidFill>
                  <a:srgbClr val="7BB8A5"/>
                </a:solidFill>
                <a:latin typeface="Avenir Next"/>
                <a:ea typeface="Avenir Next"/>
                <a:cs typeface="Avenir Next"/>
              </a:rPr>
              <a:t>SCIENCEX · 05</a:t>
            </a:r>
          </a:p>
        </p:txBody>
      </p:sp>
    </p:spTree>
    <p:extLst>
      <p:ext uri="{BB962C8B-B14F-4D97-AF65-F5344CB8AC3E}">
        <p14:creationId xmlns:p14="http://schemas.microsoft.com/office/powerpoint/2010/main" val="105422845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BCA9731-5A4D-4458-8588-156F29330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9575"/>
            <a:ext cx="4000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3A3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9525" rIns="762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06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25B572-2E6B-4992-AAB1-1C89B3490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57200"/>
            <a:ext cx="304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 i="0">
                <a:solidFill>
                  <a:srgbClr val="008F52"/>
                </a:solidFill>
                <a:latin typeface="Avenir Next"/>
                <a:ea typeface="Avenir Next"/>
                <a:cs typeface="Avenir Next"/>
              </a:defRPr>
            </a:pPr>
            <a:r>
              <a:rPr sz="900" b="1" i="0">
                <a:solidFill>
                  <a:srgbClr val="008F52"/>
                </a:solidFill>
                <a:latin typeface="Avenir Next"/>
                <a:ea typeface="Avenir Next"/>
                <a:cs typeface="Avenir Next"/>
              </a:rPr>
              <a:t>CAPABILITY MATURITY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F815B0-8141-4D15-A6E0-78A24B3C5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19150"/>
            <a:ext cx="695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3000" b="1" i="0">
                <a:solidFill>
                  <a:srgbClr val="063A32"/>
                </a:solidFill>
                <a:latin typeface="Songti SC"/>
                <a:ea typeface="Songti SC"/>
                <a:cs typeface="Songti SC"/>
              </a:defRPr>
            </a:pPr>
            <a:r>
              <a:rPr sz="3000" b="1" i="0">
                <a:solidFill>
                  <a:srgbClr val="063A32"/>
                </a:solidFill>
                <a:latin typeface="Songti SC"/>
                <a:ea typeface="Songti SC"/>
                <a:cs typeface="Songti SC"/>
              </a:rPr>
              <a:t>从回答问题，到持续推进研究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6DCC92-60AF-4D3C-B19A-335088929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895350"/>
            <a:ext cx="3810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75" b="0" i="0">
                <a:solidFill>
                  <a:srgbClr val="64736E"/>
                </a:solidFill>
                <a:latin typeface="Heiti SC"/>
                <a:ea typeface="Heiti SC"/>
                <a:cs typeface="Heiti SC"/>
              </a:defRPr>
            </a:pPr>
            <a:r>
              <a:rPr sz="1275" b="0" i="0">
                <a:solidFill>
                  <a:srgbClr val="64736E"/>
                </a:solidFill>
                <a:latin typeface="Heiti SC"/>
                <a:ea typeface="Heiti SC"/>
                <a:cs typeface="Heiti SC"/>
              </a:rPr>
              <a:t>产品能力与长期愿景分开表达。当前可用、下一阶段与长期愿景，不混在同一张能力清单里。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B6F575-F8F9-44B6-85F3-7D12DD4CE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1910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00" b="1" i="0">
                <a:solidFill>
                  <a:srgbClr val="063A32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 i="0">
                <a:solidFill>
                  <a:srgbClr val="063A32"/>
                </a:solidFill>
                <a:latin typeface="Avenir Next"/>
                <a:ea typeface="Avenir Next"/>
                <a:cs typeface="Avenir Next"/>
              </a:rPr>
              <a:t>ScienceX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8738C7-0835-4943-AE7E-180DAB83C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09750"/>
            <a:ext cx="3333750" cy="3733800"/>
          </a:xfrm>
          <a:prstGeom xmlns:a="http://schemas.openxmlformats.org/drawingml/2006/main" prst="roundRect">
            <a:avLst>
              <a:gd name="adj" fmla="val 5143"/>
            </a:avLst>
          </a:prstGeom>
          <a:solidFill xmlns:a="http://schemas.openxmlformats.org/drawingml/2006/main">
            <a:srgbClr val="F0FAF4"/>
          </a:solidFill>
          <a:ln xmlns:a="http://schemas.openxmlformats.org/drawingml/2006/main" w="19050">
            <a:solidFill>
              <a:srgbClr val="00C86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A927F5-9E31-493A-99F6-39087BB8D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9550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008F52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008F52"/>
                </a:solidFill>
                <a:latin typeface="Avenir Next"/>
                <a:ea typeface="Avenir Next"/>
                <a:cs typeface="Avenir Next"/>
              </a:rPr>
              <a:t>NOW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809C9A-A08F-48CC-9184-03E95406D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019300"/>
            <a:ext cx="8572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C86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9525" rIns="762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02821"/>
                </a:solidFill>
                <a:latin typeface="Heiti SC"/>
                <a:ea typeface="Heiti SC"/>
                <a:cs typeface="Heiti SC"/>
              </a:defRPr>
            </a:pPr>
            <a:r>
              <a:rPr sz="975" b="1">
                <a:solidFill>
                  <a:srgbClr val="002821"/>
                </a:solidFill>
                <a:latin typeface="Heiti SC"/>
                <a:ea typeface="Heiti SC"/>
                <a:cs typeface="Heiti SC"/>
              </a:rPr>
              <a:t>当前可用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F0BC5F-D45F-4677-957F-0567C3166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67000"/>
            <a:ext cx="276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325" b="1" i="0">
                <a:solidFill>
                  <a:srgbClr val="063A32"/>
                </a:solidFill>
                <a:latin typeface="Avenir Next"/>
                <a:ea typeface="Avenir Next"/>
                <a:cs typeface="Avenir Next"/>
              </a:defRPr>
            </a:pPr>
            <a:r>
              <a:rPr sz="2325" b="1" i="0">
                <a:solidFill>
                  <a:srgbClr val="063A32"/>
                </a:solidFill>
                <a:latin typeface="Avenir Next"/>
                <a:ea typeface="Avenir Next"/>
                <a:cs typeface="Avenir Next"/>
              </a:rPr>
              <a:t>Research Assistant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368249-8C2F-4E9F-96D2-D03AF811A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362325"/>
            <a:ext cx="27241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425" b="0" i="0">
                <a:solidFill>
                  <a:srgbClr val="063A32"/>
                </a:solidFill>
                <a:latin typeface="Heiti SC"/>
                <a:ea typeface="Heiti SC"/>
                <a:cs typeface="Heiti SC"/>
              </a:defRPr>
            </a:pPr>
            <a:r>
              <a:rPr sz="1425" b="0" i="0">
                <a:solidFill>
                  <a:srgbClr val="063A32"/>
                </a:solidFill>
                <a:latin typeface="Heiti SC"/>
                <a:ea typeface="Heiti SC"/>
                <a:cs typeface="Heiti SC"/>
              </a:rPr>
              <a:t>研究线程、本地项目、科研 Skills、数据版本、确定性分析、证据与重放。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3CE4A2E-01DF-4A78-B570-777DCCF20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762500"/>
            <a:ext cx="2800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0C86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579B666-9F8F-4890-81E6-20322A290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953000"/>
            <a:ext cx="2724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 i="0">
                <a:solidFill>
                  <a:srgbClr val="008F52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 i="0">
                <a:solidFill>
                  <a:srgbClr val="008F52"/>
                </a:solidFill>
                <a:latin typeface="Avenir Next"/>
                <a:ea typeface="Avenir Next"/>
                <a:cs typeface="Avenir Next"/>
              </a:rPr>
              <a:t>保存上下文 · 执行与记录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FA2E2F6-E5E1-4A63-BF98-B07A8FED7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809750"/>
            <a:ext cx="3333750" cy="3733800"/>
          </a:xfrm>
          <a:prstGeom xmlns:a="http://schemas.openxmlformats.org/drawingml/2006/main" prst="roundRect">
            <a:avLst>
              <a:gd name="adj" fmla="val 5143"/>
            </a:avLst>
          </a:prstGeom>
          <a:solidFill xmlns:a="http://schemas.openxmlformats.org/drawingml/2006/main">
            <a:srgbClr val="F7F9F5"/>
          </a:solidFill>
          <a:ln xmlns:a="http://schemas.openxmlformats.org/drawingml/2006/main" w="9525">
            <a:solidFill>
              <a:srgbClr val="CCD9D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18F2041-21E4-41D2-99E6-149029700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09550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64736E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64736E"/>
                </a:solidFill>
                <a:latin typeface="Avenir Next"/>
                <a:ea typeface="Avenir Next"/>
                <a:cs typeface="Avenir Next"/>
              </a:rPr>
              <a:t>NEXT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3B1C1F0-7285-4D6D-B5B3-331373DD6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019300"/>
            <a:ext cx="8572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9D2"/>
            </a:solidFill>
            <a:prstDash val="solid"/>
          </a:ln>
        </p:spPr>
        <p:txBody>
          <a:bodyPr xmlns:a="http://schemas.openxmlformats.org/drawingml/2006/main" lIns="76200" tIns="9525" rIns="762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64736E"/>
                </a:solidFill>
                <a:latin typeface="Heiti SC"/>
                <a:ea typeface="Heiti SC"/>
                <a:cs typeface="Heiti SC"/>
              </a:defRPr>
            </a:pPr>
            <a:r>
              <a:rPr sz="975" b="1">
                <a:solidFill>
                  <a:srgbClr val="64736E"/>
                </a:solidFill>
                <a:latin typeface="Heiti SC"/>
                <a:ea typeface="Heiti SC"/>
                <a:cs typeface="Heiti SC"/>
              </a:rPr>
              <a:t>下一阶段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74057D8-DB4D-407E-B118-25F922A71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667000"/>
            <a:ext cx="276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325" b="1" i="0">
                <a:solidFill>
                  <a:srgbClr val="063A32"/>
                </a:solidFill>
                <a:latin typeface="Avenir Next"/>
                <a:ea typeface="Avenir Next"/>
                <a:cs typeface="Avenir Next"/>
              </a:defRPr>
            </a:pPr>
            <a:r>
              <a:rPr sz="2325" b="1" i="0">
                <a:solidFill>
                  <a:srgbClr val="063A32"/>
                </a:solidFill>
                <a:latin typeface="Avenir Next"/>
                <a:ea typeface="Avenir Next"/>
                <a:cs typeface="Avenir Next"/>
              </a:rPr>
              <a:t>Research Agent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B80D04A-EA95-43E3-8E76-D262C43E3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362325"/>
            <a:ext cx="27241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425" b="0" i="0">
                <a:solidFill>
                  <a:srgbClr val="063A32"/>
                </a:solidFill>
                <a:latin typeface="Heiti SC"/>
                <a:ea typeface="Heiti SC"/>
                <a:cs typeface="Heiti SC"/>
              </a:defRPr>
            </a:pPr>
            <a:r>
              <a:rPr sz="1425" b="0" i="0">
                <a:solidFill>
                  <a:srgbClr val="063A32"/>
                </a:solidFill>
                <a:latin typeface="Heiti SC"/>
                <a:ea typeface="Heiti SC"/>
                <a:cs typeface="Heiti SC"/>
              </a:rPr>
              <a:t>更完整地组织计划、执行和验证，并在人工确认后更新研究状态。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BA904D6-CFF7-49CC-8861-5B3D3194C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762500"/>
            <a:ext cx="2800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CD9D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70E7E7B-D8E0-44DF-8F98-7AC7D9CD8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953000"/>
            <a:ext cx="2724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 i="0">
                <a:solidFill>
                  <a:srgbClr val="64736E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 i="0">
                <a:solidFill>
                  <a:srgbClr val="64736E"/>
                </a:solidFill>
                <a:latin typeface="Avenir Next"/>
                <a:ea typeface="Avenir Next"/>
                <a:cs typeface="Avenir Next"/>
              </a:rPr>
              <a:t>计划 · 执行 · 验证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234876C-BCB8-476B-B4F9-574E31B09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1809750"/>
            <a:ext cx="3333750" cy="3733800"/>
          </a:xfrm>
          <a:prstGeom xmlns:a="http://schemas.openxmlformats.org/drawingml/2006/main" prst="roundRect">
            <a:avLst>
              <a:gd name="adj" fmla="val 5143"/>
            </a:avLst>
          </a:prstGeom>
          <a:solidFill xmlns:a="http://schemas.openxmlformats.org/drawingml/2006/main">
            <a:srgbClr val="F7F9F5"/>
          </a:solidFill>
          <a:ln xmlns:a="http://schemas.openxmlformats.org/drawingml/2006/main" w="9525">
            <a:solidFill>
              <a:srgbClr val="CCD9D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BB1E1FE-1D55-46D9-BBF1-2E92258DD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09550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64736E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64736E"/>
                </a:solidFill>
                <a:latin typeface="Avenir Next"/>
                <a:ea typeface="Avenir Next"/>
                <a:cs typeface="Avenir Next"/>
              </a:rPr>
              <a:t>VISION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B76576B-3DEC-4918-9132-E82973669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2019300"/>
            <a:ext cx="8572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9D2"/>
            </a:solidFill>
            <a:prstDash val="solid"/>
          </a:ln>
        </p:spPr>
        <p:txBody>
          <a:bodyPr xmlns:a="http://schemas.openxmlformats.org/drawingml/2006/main" lIns="76200" tIns="9525" rIns="762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64736E"/>
                </a:solidFill>
                <a:latin typeface="Heiti SC"/>
                <a:ea typeface="Heiti SC"/>
                <a:cs typeface="Heiti SC"/>
              </a:defRPr>
            </a:pPr>
            <a:r>
              <a:rPr sz="975" b="1">
                <a:solidFill>
                  <a:srgbClr val="64736E"/>
                </a:solidFill>
                <a:latin typeface="Heiti SC"/>
                <a:ea typeface="Heiti SC"/>
                <a:cs typeface="Heiti SC"/>
              </a:rPr>
              <a:t>长期愿景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8A2A16D-5124-40C1-ACFC-25755AD81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667000"/>
            <a:ext cx="276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325" b="1" i="0">
                <a:solidFill>
                  <a:srgbClr val="063A32"/>
                </a:solidFill>
                <a:latin typeface="Avenir Next"/>
                <a:ea typeface="Avenir Next"/>
                <a:cs typeface="Avenir Next"/>
              </a:defRPr>
            </a:pPr>
            <a:r>
              <a:rPr sz="2325" b="1" i="0">
                <a:solidFill>
                  <a:srgbClr val="063A32"/>
                </a:solidFill>
                <a:latin typeface="Avenir Next"/>
                <a:ea typeface="Avenir Next"/>
                <a:cs typeface="Avenir Next"/>
              </a:rPr>
              <a:t>AI Scientist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8CE5F2E-6C50-4C44-93C7-998076975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362325"/>
            <a:ext cx="27241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425" b="0" i="0">
                <a:solidFill>
                  <a:srgbClr val="063A32"/>
                </a:solidFill>
                <a:latin typeface="Heiti SC"/>
                <a:ea typeface="Heiti SC"/>
                <a:cs typeface="Heiti SC"/>
              </a:defRPr>
            </a:pPr>
            <a:r>
              <a:rPr sz="1425" b="0" i="0">
                <a:solidFill>
                  <a:srgbClr val="063A32"/>
                </a:solidFill>
                <a:latin typeface="Heiti SC"/>
                <a:ea typeface="Heiti SC"/>
                <a:cs typeface="Heiti SC"/>
              </a:rPr>
              <a:t>让结果持续影响候选假设、实验设计和后续研究方向。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CB27FA4-B0B5-4A4E-AC02-A14C17F31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762500"/>
            <a:ext cx="2800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CD9D2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5132F58-5581-4DED-B24E-23CC5D55B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953000"/>
            <a:ext cx="2724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 i="0">
                <a:solidFill>
                  <a:srgbClr val="64736E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 i="0">
                <a:solidFill>
                  <a:srgbClr val="64736E"/>
                </a:solidFill>
                <a:latin typeface="Avenir Next"/>
                <a:ea typeface="Avenir Next"/>
                <a:cs typeface="Avenir Next"/>
              </a:rPr>
              <a:t>Hypothesis · Evidence · Next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FC7BC21-26FF-4BC4-A361-8FA85F7E7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81977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 i="0">
                <a:solidFill>
                  <a:srgbClr val="008F52"/>
                </a:solidFill>
                <a:latin typeface="Heiti SC"/>
                <a:ea typeface="Heiti SC"/>
                <a:cs typeface="Heiti SC"/>
              </a:defRPr>
            </a:pPr>
            <a:r>
              <a:rPr sz="1050" b="1" i="0">
                <a:solidFill>
                  <a:srgbClr val="008F52"/>
                </a:solidFill>
                <a:latin typeface="Heiti SC"/>
                <a:ea typeface="Heiti SC"/>
                <a:cs typeface="Heiti SC"/>
              </a:rPr>
              <a:t>当前产品定位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638116B-4372-48E1-BE2B-9C64880FB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772150"/>
            <a:ext cx="876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 i="0">
                <a:solidFill>
                  <a:srgbClr val="063A32"/>
                </a:solidFill>
                <a:latin typeface="Heiti SC"/>
                <a:ea typeface="Heiti SC"/>
                <a:cs typeface="Heiti SC"/>
              </a:defRPr>
            </a:pPr>
            <a:r>
              <a:rPr sz="1500" b="1" i="0">
                <a:solidFill>
                  <a:srgbClr val="063A32"/>
                </a:solidFill>
                <a:latin typeface="Heiti SC"/>
                <a:ea typeface="Heiti SC"/>
                <a:cs typeface="Heiti SC"/>
              </a:rPr>
              <a:t>ScienceX 当前提供 Research Assistant 能力，后续才逐步走向更完整的 Research Agent。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2A6D1B3-C0FC-4A19-8420-5DA03EB04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CD9D2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604572C-A23B-4404-9E6C-14D90FE90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91300"/>
            <a:ext cx="1714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 i="0">
                <a:solidFill>
                  <a:srgbClr val="7B8B85"/>
                </a:solidFill>
                <a:latin typeface="Avenir Next"/>
                <a:ea typeface="Avenir Next"/>
                <a:cs typeface="Avenir Next"/>
              </a:defRPr>
            </a:pPr>
            <a:r>
              <a:rPr sz="750" b="1" i="0">
                <a:solidFill>
                  <a:srgbClr val="7B8B85"/>
                </a:solidFill>
                <a:latin typeface="Avenir Next"/>
                <a:ea typeface="Avenir Next"/>
                <a:cs typeface="Avenir Next"/>
              </a:rPr>
              <a:t>SCIENCEX · 06</a:t>
            </a:r>
          </a:p>
        </p:txBody>
      </p:sp>
    </p:spTree>
    <p:extLst>
      <p:ext uri="{BB962C8B-B14F-4D97-AF65-F5344CB8AC3E}">
        <p14:creationId xmlns:p14="http://schemas.microsoft.com/office/powerpoint/2010/main" val="112049534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D90544-DE71-41B6-8B78-1B8CCC052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9575"/>
            <a:ext cx="4000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3A3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9525" rIns="762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07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0AA972-2B2C-4BE7-AE1E-D1F956A57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57200"/>
            <a:ext cx="304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 i="0">
                <a:solidFill>
                  <a:srgbClr val="008F52"/>
                </a:solidFill>
                <a:latin typeface="Avenir Next"/>
                <a:ea typeface="Avenir Next"/>
                <a:cs typeface="Avenir Next"/>
              </a:defRPr>
            </a:pPr>
            <a:r>
              <a:rPr sz="900" b="1" i="0">
                <a:solidFill>
                  <a:srgbClr val="008F52"/>
                </a:solidFill>
                <a:latin typeface="Avenir Next"/>
                <a:ea typeface="Avenir Next"/>
                <a:cs typeface="Avenir Next"/>
              </a:rPr>
              <a:t>RUNNABLE EVIDENCE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6E4547-69D9-44EE-9CE3-ECF3C81E9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19150"/>
            <a:ext cx="7048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2775" b="1" i="0">
                <a:solidFill>
                  <a:srgbClr val="063A32"/>
                </a:solidFill>
                <a:latin typeface="Songti SC"/>
                <a:ea typeface="Songti SC"/>
                <a:cs typeface="Songti SC"/>
              </a:defRPr>
            </a:pPr>
            <a:r>
              <a:rPr sz="2775" b="1" i="0">
                <a:solidFill>
                  <a:srgbClr val="063A32"/>
                </a:solidFill>
                <a:latin typeface="Songti SC"/>
                <a:ea typeface="Songti SC"/>
                <a:cs typeface="Songti SC"/>
              </a:rPr>
              <a:t>一条可以实际运行和重放的研究链路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CC6573-AAB2-4B84-8953-892525FDB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895350"/>
            <a:ext cx="3810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75" b="0" i="0">
                <a:solidFill>
                  <a:srgbClr val="64736E"/>
                </a:solidFill>
                <a:latin typeface="Heiti SC"/>
                <a:ea typeface="Heiti SC"/>
                <a:cs typeface="Heiti SC"/>
              </a:defRPr>
            </a:pPr>
            <a:r>
              <a:rPr sz="1275" b="0" i="0">
                <a:solidFill>
                  <a:srgbClr val="64736E"/>
                </a:solidFill>
                <a:latin typeface="Heiti SC"/>
                <a:ea typeface="Heiti SC"/>
                <a:cs typeface="Heiti SC"/>
              </a:rPr>
              <a:t>本地教学案例保留数据版本、运行证据、失败和不确定性，而不是只展示成功结果。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71518E-BDAD-4E43-887A-C417AA165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1910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00" b="1" i="0">
                <a:solidFill>
                  <a:srgbClr val="063A32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 i="0">
                <a:solidFill>
                  <a:srgbClr val="063A32"/>
                </a:solidFill>
                <a:latin typeface="Avenir Next"/>
                <a:ea typeface="Avenir Next"/>
                <a:cs typeface="Avenir Next"/>
              </a:rPr>
              <a:t>ScienceX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5838329464437b"/>
          <a:srcRect xmlns:a="http://schemas.openxmlformats.org/drawingml/2006/main" l="0" t="40" r="0" b="4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2450" y="1600200"/>
            <a:ext cx="11087100" cy="4000500"/>
          </a:xfrm>
          <a:prstGeom xmlns:a="http://schemas.openxmlformats.org/drawingml/2006/main" prst="roundRect">
            <a:avLst>
              <a:gd name="adj" fmla="val 4286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64FA47-BEFE-4A95-AE3A-8A9BD7FA9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810250"/>
            <a:ext cx="11087100" cy="438150"/>
          </a:xfrm>
          <a:prstGeom xmlns:a="http://schemas.openxmlformats.org/drawingml/2006/main" prst="roundRect">
            <a:avLst>
              <a:gd name="adj" fmla="val 21739"/>
            </a:avLst>
          </a:prstGeom>
          <a:solidFill xmlns:a="http://schemas.openxmlformats.org/drawingml/2006/main">
            <a:srgbClr val="FFF5D8"/>
          </a:solidFill>
          <a:ln xmlns:a="http://schemas.openxmlformats.org/drawingml/2006/main" w="9525">
            <a:solidFill>
              <a:srgbClr val="F2CE6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E40F44-6992-4E08-8CB6-6E94B0AC6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924550"/>
            <a:ext cx="10591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 i="0">
                <a:solidFill>
                  <a:srgbClr val="725515"/>
                </a:solidFill>
                <a:latin typeface="Heiti SC"/>
                <a:ea typeface="Heiti SC"/>
                <a:cs typeface="Heiti SC"/>
              </a:defRPr>
            </a:pPr>
            <a:r>
              <a:rPr sz="1275" b="1" i="0">
                <a:solidFill>
                  <a:srgbClr val="725515"/>
                </a:solidFill>
                <a:latin typeface="Heiti SC"/>
                <a:ea typeface="Heiti SC"/>
                <a:cs typeface="Heiti SC"/>
              </a:rPr>
              <a:t>模拟数据，仅用于产品教学；不代表真实药效、湿实验验证或科学结论。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45C74B-CF64-498A-9A4D-18B884CFC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CD9D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7849C1-59DA-4156-A14F-EB8465672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91300"/>
            <a:ext cx="1714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 i="0">
                <a:solidFill>
                  <a:srgbClr val="7B8B85"/>
                </a:solidFill>
                <a:latin typeface="Avenir Next"/>
                <a:ea typeface="Avenir Next"/>
                <a:cs typeface="Avenir Next"/>
              </a:defRPr>
            </a:pPr>
            <a:r>
              <a:rPr sz="750" b="1" i="0">
                <a:solidFill>
                  <a:srgbClr val="7B8B85"/>
                </a:solidFill>
                <a:latin typeface="Avenir Next"/>
                <a:ea typeface="Avenir Next"/>
                <a:cs typeface="Avenir Next"/>
              </a:rPr>
              <a:t>SCIENCEX · 07</a:t>
            </a:r>
          </a:p>
        </p:txBody>
      </p:sp>
    </p:spTree>
    <p:extLst>
      <p:ext uri="{BB962C8B-B14F-4D97-AF65-F5344CB8AC3E}">
        <p14:creationId xmlns:p14="http://schemas.microsoft.com/office/powerpoint/2010/main" val="17647383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C554277-8B00-42B3-BBF9-E8C6D89D2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9575"/>
            <a:ext cx="4000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3A3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9525" rIns="762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08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83CCE4-EE31-42F7-B5CD-33459D5CC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57200"/>
            <a:ext cx="304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 i="0">
                <a:solidFill>
                  <a:srgbClr val="008F52"/>
                </a:solidFill>
                <a:latin typeface="Avenir Next"/>
                <a:ea typeface="Avenir Next"/>
                <a:cs typeface="Avenir Next"/>
              </a:defRPr>
            </a:pPr>
            <a:r>
              <a:rPr sz="900" b="1" i="0">
                <a:solidFill>
                  <a:srgbClr val="008F52"/>
                </a:solidFill>
                <a:latin typeface="Avenir Next"/>
                <a:ea typeface="Avenir Next"/>
                <a:cs typeface="Avenir Next"/>
              </a:rPr>
              <a:t>HOW IT WORKS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522171-7DA5-4615-89CE-2DBAD2C2A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19150"/>
            <a:ext cx="695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3000" b="1" i="0">
                <a:solidFill>
                  <a:srgbClr val="063A32"/>
                </a:solidFill>
                <a:latin typeface="Songti SC"/>
                <a:ea typeface="Songti SC"/>
                <a:cs typeface="Songti SC"/>
              </a:defRPr>
            </a:pPr>
            <a:r>
              <a:rPr sz="3000" b="1" i="0">
                <a:solidFill>
                  <a:srgbClr val="063A32"/>
                </a:solidFill>
                <a:latin typeface="Songti SC"/>
                <a:ea typeface="Songti SC"/>
                <a:cs typeface="Songti SC"/>
              </a:rPr>
              <a:t>ScienceX 承载一次研究推进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B70839-5A0B-413D-912B-04D6B847C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895350"/>
            <a:ext cx="3810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585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75" b="0" i="0">
                <a:solidFill>
                  <a:srgbClr val="64736E"/>
                </a:solidFill>
                <a:latin typeface="Heiti SC"/>
                <a:ea typeface="Heiti SC"/>
                <a:cs typeface="Heiti SC"/>
              </a:defRPr>
            </a:pPr>
            <a:r>
              <a:rPr sz="1275" b="0" i="0">
                <a:solidFill>
                  <a:srgbClr val="64736E"/>
                </a:solidFill>
                <a:latin typeface="Heiti SC"/>
                <a:ea typeface="Heiti SC"/>
                <a:cs typeface="Heiti SC"/>
              </a:rPr>
              <a:t>模型负责推理。ScienceX 读取研究状态、组织执行能力、保存运行证据，并把关键判断交还给研究者。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C2CAA8-9A65-4978-BDBD-802F7CF46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1910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00" b="1" i="0">
                <a:solidFill>
                  <a:srgbClr val="063A32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 i="0">
                <a:solidFill>
                  <a:srgbClr val="063A32"/>
                </a:solidFill>
                <a:latin typeface="Avenir Next"/>
                <a:ea typeface="Avenir Next"/>
                <a:cs typeface="Avenir Next"/>
              </a:rPr>
              <a:t>ScienceX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DAF4E9-0E24-49FA-90C4-70ED01618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76450"/>
            <a:ext cx="1200150" cy="1200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FAF4"/>
          </a:solidFill>
          <a:ln xmlns:a="http://schemas.openxmlformats.org/drawingml/2006/main" w="14288">
            <a:solidFill>
              <a:srgbClr val="CCD9D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CBA2E8-C909-4FD2-98B3-01246C450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25742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 i="0">
                <a:solidFill>
                  <a:srgbClr val="008F52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008F52"/>
                </a:solidFill>
                <a:latin typeface="Avenir Next"/>
                <a:ea typeface="Avenir Next"/>
                <a:cs typeface="Avenir Next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EBBC50-FEC4-4A4D-AE1C-5E56FA7AD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90800"/>
            <a:ext cx="971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9752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 i="0">
                <a:solidFill>
                  <a:srgbClr val="063A32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 i="0">
                <a:solidFill>
                  <a:srgbClr val="063A32"/>
                </a:solidFill>
                <a:latin typeface="Avenir Next"/>
                <a:ea typeface="Avenir Next"/>
                <a:cs typeface="Avenir Next"/>
              </a:rPr>
              <a:t>Understand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D3CDF0-0CF0-4756-8136-53BD715DC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076450"/>
            <a:ext cx="1200150" cy="1200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FAF4"/>
          </a:solidFill>
          <a:ln xmlns:a="http://schemas.openxmlformats.org/drawingml/2006/main" w="14288">
            <a:solidFill>
              <a:srgbClr val="CCD9D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F6626C-E5DA-4946-8F49-029E39116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25742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 i="0">
                <a:solidFill>
                  <a:srgbClr val="008F52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008F52"/>
                </a:solidFill>
                <a:latin typeface="Avenir Next"/>
                <a:ea typeface="Avenir Next"/>
                <a:cs typeface="Avenir Next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60AE7DE-EB1D-4515-88C4-8A8E1402E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590800"/>
            <a:ext cx="971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 i="0">
                <a:solidFill>
                  <a:srgbClr val="063A32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 i="0">
                <a:solidFill>
                  <a:srgbClr val="063A32"/>
                </a:solidFill>
                <a:latin typeface="Avenir Next"/>
                <a:ea typeface="Avenir Next"/>
                <a:cs typeface="Avenir Next"/>
              </a:rPr>
              <a:t>Plan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04834AF-191B-4DEE-8846-FAB7DDFCC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076450"/>
            <a:ext cx="1200150" cy="1200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C86F"/>
          </a:solidFill>
          <a:ln xmlns:a="http://schemas.openxmlformats.org/drawingml/2006/main" w="19050">
            <a:solidFill>
              <a:srgbClr val="00C86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1A97F85-5559-408B-A279-67A835FC0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25742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 i="0">
                <a:solidFill>
                  <a:srgbClr val="002821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002821"/>
                </a:solidFill>
                <a:latin typeface="Avenir Next"/>
                <a:ea typeface="Avenir Next"/>
                <a:cs typeface="Avenir Next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8E3E375-CF90-4EF8-B061-7299CBA7F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2590800"/>
            <a:ext cx="971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 i="0">
                <a:solidFill>
                  <a:srgbClr val="063A32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 i="0">
                <a:solidFill>
                  <a:srgbClr val="063A32"/>
                </a:solidFill>
                <a:latin typeface="Avenir Next"/>
                <a:ea typeface="Avenir Next"/>
                <a:cs typeface="Avenir Next"/>
              </a:rPr>
              <a:t>Act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F6FBF34-74A9-4574-A461-287B0F8BB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076450"/>
            <a:ext cx="1200150" cy="1200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FAF4"/>
          </a:solidFill>
          <a:ln xmlns:a="http://schemas.openxmlformats.org/drawingml/2006/main" w="14288">
            <a:solidFill>
              <a:srgbClr val="CCD9D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4E668DD-46D4-4E13-B9B0-9FDF9B35F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25742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 i="0">
                <a:solidFill>
                  <a:srgbClr val="008F52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008F52"/>
                </a:solidFill>
                <a:latin typeface="Avenir Next"/>
                <a:ea typeface="Avenir Next"/>
                <a:cs typeface="Avenir Next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8DCF561-1344-477E-A8F0-B66195F61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590800"/>
            <a:ext cx="971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 i="0">
                <a:solidFill>
                  <a:srgbClr val="063A32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 i="0">
                <a:solidFill>
                  <a:srgbClr val="063A32"/>
                </a:solidFill>
                <a:latin typeface="Avenir Next"/>
                <a:ea typeface="Avenir Next"/>
                <a:cs typeface="Avenir Next"/>
              </a:rPr>
              <a:t>Verify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994A3FA-E72E-421B-892E-C223E6B89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076450"/>
            <a:ext cx="1200150" cy="1200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FAF4"/>
          </a:solidFill>
          <a:ln xmlns:a="http://schemas.openxmlformats.org/drawingml/2006/main" w="14288">
            <a:solidFill>
              <a:srgbClr val="CCD9D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C1E543C-F05D-4F6F-A72C-DD93D5AAC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25742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 i="0">
                <a:solidFill>
                  <a:srgbClr val="008F52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008F52"/>
                </a:solidFill>
                <a:latin typeface="Avenir Next"/>
                <a:ea typeface="Avenir Next"/>
                <a:cs typeface="Avenir Next"/>
              </a:rPr>
              <a:t>05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76443F7-F28E-47AD-9777-C37EF31F1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2590800"/>
            <a:ext cx="971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 i="0">
                <a:solidFill>
                  <a:srgbClr val="063A32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 i="0">
                <a:solidFill>
                  <a:srgbClr val="063A32"/>
                </a:solidFill>
                <a:latin typeface="Avenir Next"/>
                <a:ea typeface="Avenir Next"/>
                <a:cs typeface="Avenir Next"/>
              </a:rPr>
              <a:t>Learn</a:t>
            </a:r>
          </a:p>
        </p:txBody>
      </p:sp>
      <p:cxnSp>
        <p:nvCxnSpPr>
          <p:cNvPr id="56" name=""/>
          <p:cNvCxnSpPr>
            <a:stCxn xmlns:a="http://schemas.openxmlformats.org/drawingml/2006/main" id="6" idx="6"/>
            <a:endCxn xmlns:a="http://schemas.openxmlformats.org/drawingml/2006/main" id="9" idx="2"/>
          </p:cNvCxnSpPr>
          <p:nvPr/>
        </p:nvCxnSpPr>
        <p:spPr>
          <a:xfrm xmlns:a="http://schemas.openxmlformats.org/drawingml/2006/main">
            <a:off x="2038350" y="2676525"/>
            <a:ext cx="1047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8F52"/>
            </a:solidFill>
            <a:prstDash val="solid"/>
            <a:headEnd type="triangle" w="sm" len="sm"/>
          </a:ln>
        </p:spPr>
      </p:cxnSp>
      <p:cxnSp>
        <p:nvCxnSpPr>
          <p:cNvPr id="57" name=""/>
          <p:cNvCxnSpPr>
            <a:stCxn xmlns:a="http://schemas.openxmlformats.org/drawingml/2006/main" id="9" idx="6"/>
            <a:endCxn xmlns:a="http://schemas.openxmlformats.org/drawingml/2006/main" id="12" idx="2"/>
          </p:cNvCxnSpPr>
          <p:nvPr/>
        </p:nvCxnSpPr>
        <p:spPr>
          <a:xfrm xmlns:a="http://schemas.openxmlformats.org/drawingml/2006/main">
            <a:off x="4286250" y="2676525"/>
            <a:ext cx="1047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8F52"/>
            </a:solidFill>
            <a:prstDash val="solid"/>
            <a:headEnd type="triangle" w="sm" len="sm"/>
          </a:ln>
        </p:spPr>
      </p:cxnSp>
      <p:cxnSp>
        <p:nvCxnSpPr>
          <p:cNvPr id="58" name=""/>
          <p:cNvCxnSpPr>
            <a:stCxn xmlns:a="http://schemas.openxmlformats.org/drawingml/2006/main" id="12" idx="6"/>
            <a:endCxn xmlns:a="http://schemas.openxmlformats.org/drawingml/2006/main" id="15" idx="2"/>
          </p:cNvCxnSpPr>
          <p:nvPr/>
        </p:nvCxnSpPr>
        <p:spPr>
          <a:xfrm xmlns:a="http://schemas.openxmlformats.org/drawingml/2006/main">
            <a:off x="6534150" y="2676525"/>
            <a:ext cx="1047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8F52"/>
            </a:solidFill>
            <a:prstDash val="solid"/>
            <a:headEnd type="triangle" w="sm" len="sm"/>
          </a:ln>
        </p:spPr>
      </p:cxnSp>
      <p:cxnSp>
        <p:nvCxnSpPr>
          <p:cNvPr id="59" name=""/>
          <p:cNvCxnSpPr>
            <a:stCxn xmlns:a="http://schemas.openxmlformats.org/drawingml/2006/main" id="15" idx="6"/>
            <a:endCxn xmlns:a="http://schemas.openxmlformats.org/drawingml/2006/main" id="18" idx="2"/>
          </p:cNvCxnSpPr>
          <p:nvPr/>
        </p:nvCxnSpPr>
        <p:spPr>
          <a:xfrm xmlns:a="http://schemas.openxmlformats.org/drawingml/2006/main">
            <a:off x="8782050" y="2676525"/>
            <a:ext cx="1047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8F52"/>
            </a:solidFill>
            <a:prstDash val="solid"/>
            <a:headEnd type="triangle" w="sm" len="sm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E60FA18-EE03-4A81-827D-7783C1E0A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00450"/>
            <a:ext cx="1771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350" b="0" i="0">
                <a:solidFill>
                  <a:srgbClr val="063A32"/>
                </a:solidFill>
                <a:latin typeface="Heiti SC"/>
                <a:ea typeface="Heiti SC"/>
                <a:cs typeface="Heiti SC"/>
              </a:defRPr>
            </a:pPr>
            <a:r>
              <a:rPr sz="1350" b="0" i="0">
                <a:solidFill>
                  <a:srgbClr val="063A32"/>
                </a:solidFill>
                <a:latin typeface="Heiti SC"/>
                <a:ea typeface="Heiti SC"/>
                <a:cs typeface="Heiti SC"/>
              </a:rPr>
              <a:t>读取问题、线程与证据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148BCEA-241B-49BD-894A-1693B96F3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3600450"/>
            <a:ext cx="1771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350" b="0" i="0">
                <a:solidFill>
                  <a:srgbClr val="063A32"/>
                </a:solidFill>
                <a:latin typeface="Heiti SC"/>
                <a:ea typeface="Heiti SC"/>
                <a:cs typeface="Heiti SC"/>
              </a:defRPr>
            </a:pPr>
            <a:r>
              <a:rPr sz="1350" b="0" i="0">
                <a:solidFill>
                  <a:srgbClr val="063A32"/>
                </a:solidFill>
                <a:latin typeface="Heiti SC"/>
                <a:ea typeface="Heiti SC"/>
                <a:cs typeface="Heiti SC"/>
              </a:rPr>
              <a:t>拆解任务与执行路径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3D676A5-3BAA-436C-A57B-CF040AE42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600450"/>
            <a:ext cx="1771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350" b="0" i="0">
                <a:solidFill>
                  <a:srgbClr val="063A32"/>
                </a:solidFill>
                <a:latin typeface="Heiti SC"/>
                <a:ea typeface="Heiti SC"/>
                <a:cs typeface="Heiti SC"/>
              </a:defRPr>
            </a:pPr>
            <a:r>
              <a:rPr sz="1350" b="0" i="0">
                <a:solidFill>
                  <a:srgbClr val="063A32"/>
                </a:solidFill>
                <a:latin typeface="Heiti SC"/>
                <a:ea typeface="Heiti SC"/>
                <a:cs typeface="Heiti SC"/>
              </a:rPr>
              <a:t>调用已授权能力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BBB77B3-A01C-424D-9E9F-ABE89B1D0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600450"/>
            <a:ext cx="1771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350" b="0" i="0">
                <a:solidFill>
                  <a:srgbClr val="063A32"/>
                </a:solidFill>
                <a:latin typeface="Heiti SC"/>
                <a:ea typeface="Heiti SC"/>
                <a:cs typeface="Heiti SC"/>
              </a:defRPr>
            </a:pPr>
            <a:r>
              <a:rPr sz="1350" b="0" i="0">
                <a:solidFill>
                  <a:srgbClr val="063A32"/>
                </a:solidFill>
                <a:latin typeface="Heiti SC"/>
                <a:ea typeface="Heiti SC"/>
                <a:cs typeface="Heiti SC"/>
              </a:rPr>
              <a:t>检查输入、结果与产物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9284749-83A9-4F8F-940E-7E46B5D5F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3600450"/>
            <a:ext cx="1771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350" b="0" i="0">
                <a:solidFill>
                  <a:srgbClr val="063A32"/>
                </a:solidFill>
                <a:latin typeface="Heiti SC"/>
                <a:ea typeface="Heiti SC"/>
                <a:cs typeface="Heiti SC"/>
              </a:defRPr>
            </a:pPr>
            <a:r>
              <a:rPr sz="1350" b="0" i="0">
                <a:solidFill>
                  <a:srgbClr val="063A32"/>
                </a:solidFill>
                <a:latin typeface="Heiti SC"/>
                <a:ea typeface="Heiti SC"/>
                <a:cs typeface="Heiti SC"/>
              </a:rPr>
              <a:t>确认后保存关键状态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C8C7C5B-355A-4896-A4E1-9A4C93B21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52950"/>
            <a:ext cx="11087100" cy="1047750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003A32"/>
          </a:solidFill>
          <a:ln xmlns:a="http://schemas.openxmlformats.org/drawingml/2006/main" w="9525">
            <a:solidFill>
              <a:srgbClr val="003A32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642AE38-2F95-4740-AA4E-370D4D138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762500"/>
            <a:ext cx="295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 i="0">
                <a:solidFill>
                  <a:srgbClr val="00C86F"/>
                </a:solidFill>
                <a:latin typeface="Avenir Next"/>
                <a:ea typeface="Avenir Next"/>
                <a:cs typeface="Avenir Next"/>
              </a:defRPr>
            </a:pPr>
            <a:r>
              <a:rPr sz="900" b="1" i="0">
                <a:solidFill>
                  <a:srgbClr val="00C86F"/>
                </a:solidFill>
                <a:latin typeface="Avenir Next"/>
                <a:ea typeface="Avenir Next"/>
                <a:cs typeface="Avenir Next"/>
              </a:rPr>
              <a:t>RESEARCH MEMORY · STATE LAYER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99FCD04-234B-4FA2-9E43-EAA238327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124450"/>
            <a:ext cx="809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 i="0">
                <a:solidFill>
                  <a:srgbClr val="FFFFFF"/>
                </a:solidFill>
                <a:latin typeface="Heiti SC"/>
                <a:ea typeface="Heiti SC"/>
                <a:cs typeface="Heiti SC"/>
              </a:defRPr>
            </a:pPr>
            <a:r>
              <a:rPr sz="1650" b="1" i="0">
                <a:solidFill>
                  <a:srgbClr val="FFFFFF"/>
                </a:solidFill>
                <a:latin typeface="Heiti SC"/>
                <a:ea typeface="Heiti SC"/>
                <a:cs typeface="Heiti SC"/>
              </a:rPr>
              <a:t>目标 · 假设 · 数据版本 · 证据 · 关键决策 · 未解决问题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6B55871-4A16-4EF4-91F0-1802646F5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876800"/>
            <a:ext cx="2419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 i="0">
                <a:solidFill>
                  <a:srgbClr val="D5E6E0"/>
                </a:solidFill>
                <a:latin typeface="Heiti SC"/>
                <a:ea typeface="Heiti SC"/>
                <a:cs typeface="Heiti SC"/>
              </a:defRPr>
            </a:pPr>
            <a:r>
              <a:rPr sz="1350" b="1" i="0">
                <a:solidFill>
                  <a:srgbClr val="D5E6E0"/>
                </a:solidFill>
                <a:latin typeface="Heiti SC"/>
                <a:ea typeface="Heiti SC"/>
                <a:cs typeface="Heiti SC"/>
              </a:rPr>
              <a:t>自动化执行不等于科学结论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9FA5813-61C6-42FF-85B3-A2091B9BB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CD9D2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1DA9676-FABE-4189-9610-62BB3F5D5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91300"/>
            <a:ext cx="1714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 i="0">
                <a:solidFill>
                  <a:srgbClr val="7B8B85"/>
                </a:solidFill>
                <a:latin typeface="Avenir Next"/>
                <a:ea typeface="Avenir Next"/>
                <a:cs typeface="Avenir Next"/>
              </a:defRPr>
            </a:pPr>
            <a:r>
              <a:rPr sz="750" b="1" i="0">
                <a:solidFill>
                  <a:srgbClr val="7B8B85"/>
                </a:solidFill>
                <a:latin typeface="Avenir Next"/>
                <a:ea typeface="Avenir Next"/>
                <a:cs typeface="Avenir Next"/>
              </a:rPr>
              <a:t>SCIENCEX · 08</a:t>
            </a:r>
          </a:p>
        </p:txBody>
      </p:sp>
    </p:spTree>
    <p:extLst>
      <p:ext uri="{BB962C8B-B14F-4D97-AF65-F5344CB8AC3E}">
        <p14:creationId xmlns:p14="http://schemas.microsoft.com/office/powerpoint/2010/main" val="166714299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0FA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DE115E5-F4FF-4AAA-8298-C1EAA96D7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9575"/>
            <a:ext cx="4000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3A3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9525" rIns="762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09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5A7C47-AC93-4E58-A73A-B55378463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57200"/>
            <a:ext cx="304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 i="0">
                <a:solidFill>
                  <a:srgbClr val="008F52"/>
                </a:solidFill>
                <a:latin typeface="Avenir Next"/>
                <a:ea typeface="Avenir Next"/>
                <a:cs typeface="Avenir Next"/>
              </a:defRPr>
            </a:pPr>
            <a:r>
              <a:rPr sz="900" b="1" i="0">
                <a:solidFill>
                  <a:srgbClr val="008F52"/>
                </a:solidFill>
                <a:latin typeface="Avenir Next"/>
                <a:ea typeface="Avenir Next"/>
                <a:cs typeface="Avenir Next"/>
              </a:rPr>
              <a:t>RESEARCH SKILLS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5AD5BF-A0C6-4111-A7BC-7249BE3A0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19150"/>
            <a:ext cx="685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3000" b="1" i="0">
                <a:solidFill>
                  <a:srgbClr val="063A32"/>
                </a:solidFill>
                <a:latin typeface="Songti SC"/>
                <a:ea typeface="Songti SC"/>
                <a:cs typeface="Songti SC"/>
              </a:defRPr>
            </a:pPr>
            <a:r>
              <a:rPr sz="3000" b="1" i="0">
                <a:solidFill>
                  <a:srgbClr val="063A32"/>
                </a:solidFill>
                <a:latin typeface="Songti SC"/>
                <a:ea typeface="Songti SC"/>
                <a:cs typeface="Songti SC"/>
              </a:rPr>
              <a:t>20 个科研 Skills，把方法带进任务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680140-BFA1-4FC9-A779-4E69E5728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895350"/>
            <a:ext cx="3810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585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75" b="0" i="0">
                <a:solidFill>
                  <a:srgbClr val="64736E"/>
                </a:solidFill>
                <a:latin typeface="Heiti SC"/>
                <a:ea typeface="Heiti SC"/>
                <a:cs typeface="Heiti SC"/>
              </a:defRPr>
            </a:pPr>
            <a:r>
              <a:rPr sz="1275" b="0" i="0">
                <a:solidFill>
                  <a:srgbClr val="64736E"/>
                </a:solidFill>
                <a:latin typeface="Heiti SC"/>
                <a:ea typeface="Heiti SC"/>
                <a:cs typeface="Heiti SC"/>
              </a:rPr>
              <a:t>Skills 是可以查看、检查和组合的任务方法，不是藏在聊天框里的提示词。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BB9E89-7F07-4B27-AAD5-B28306C42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1910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00" b="1" i="0">
                <a:solidFill>
                  <a:srgbClr val="063A32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 i="0">
                <a:solidFill>
                  <a:srgbClr val="063A32"/>
                </a:solidFill>
                <a:latin typeface="Avenir Next"/>
                <a:ea typeface="Avenir Next"/>
                <a:cs typeface="Avenir Next"/>
              </a:rPr>
              <a:t>ScienceX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37794A-38E1-4C19-8559-740049FAC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66900"/>
            <a:ext cx="2333625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80000"/>
              </a:lnSpc>
              <a:buNone/>
              <a:defRPr sz="9450" b="1" i="0">
                <a:solidFill>
                  <a:srgbClr val="00C86F"/>
                </a:solidFill>
                <a:latin typeface="Avenir Next"/>
                <a:ea typeface="Avenir Next"/>
                <a:cs typeface="Avenir Next"/>
              </a:defRPr>
            </a:pPr>
            <a:r>
              <a:rPr sz="9450" b="1" i="0">
                <a:solidFill>
                  <a:srgbClr val="00C86F"/>
                </a:solidFill>
                <a:latin typeface="Avenir Next"/>
                <a:ea typeface="Avenir Next"/>
                <a:cs typeface="Avenir Next"/>
              </a:rPr>
              <a:t>20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1F1396-0DD0-4A6E-80A8-F62B2E950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486150"/>
            <a:ext cx="2476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800" b="1" i="0">
                <a:solidFill>
                  <a:srgbClr val="063A32"/>
                </a:solidFill>
                <a:latin typeface="Songti SC"/>
                <a:ea typeface="Songti SC"/>
                <a:cs typeface="Songti SC"/>
              </a:defRPr>
            </a:pPr>
            <a:r>
              <a:rPr sz="1800" b="1" i="0">
                <a:solidFill>
                  <a:srgbClr val="063A32"/>
                </a:solidFill>
                <a:latin typeface="Songti SC"/>
                <a:ea typeface="Songti SC"/>
                <a:cs typeface="Songti SC"/>
              </a:rPr>
              <a:t>个科研 Skills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800" b="1" i="0">
                <a:solidFill>
                  <a:srgbClr val="063A32"/>
                </a:solidFill>
                <a:latin typeface="Songti SC"/>
                <a:ea typeface="Songti SC"/>
                <a:cs typeface="Songti SC"/>
              </a:defRPr>
            </a:pPr>
            <a:r>
              <a:rPr sz="1800" b="1" i="0">
                <a:solidFill>
                  <a:srgbClr val="063A32"/>
                </a:solidFill>
                <a:latin typeface="Songti SC"/>
                <a:ea typeface="Songti SC"/>
                <a:cs typeface="Songti SC"/>
              </a:rPr>
              <a:t>已集成到 ScienceX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52FE7A-AFDA-4621-B1C0-EAF5C55B5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33900"/>
            <a:ext cx="266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350" b="0" i="0">
                <a:solidFill>
                  <a:srgbClr val="64736E"/>
                </a:solidFill>
                <a:latin typeface="Heiti SC"/>
                <a:ea typeface="Heiti SC"/>
                <a:cs typeface="Heiti SC"/>
              </a:defRPr>
            </a:pPr>
            <a:r>
              <a:rPr sz="1350" b="0" i="0">
                <a:solidFill>
                  <a:srgbClr val="64736E"/>
                </a:solidFill>
                <a:latin typeface="Heiti SC"/>
                <a:ea typeface="Heiti SC"/>
                <a:cs typeface="Heiti SC"/>
              </a:rPr>
              <a:t>发现、推理、实验、表达、审查与评测，共同覆盖从问题到产物的研究过程。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A6F48A-0A7C-4498-A377-EC63DC3C8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952625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008F52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008F52"/>
                </a:solidFill>
                <a:latin typeface="Avenir Next"/>
                <a:ea typeface="Avenir Next"/>
                <a:cs typeface="Avenir Next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491BAB-2F0A-4ECF-BF41-018A0B5BE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266950"/>
            <a:ext cx="228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75" b="1" i="0">
                <a:solidFill>
                  <a:srgbClr val="063A32"/>
                </a:solidFill>
                <a:latin typeface="Songti SC"/>
                <a:ea typeface="Songti SC"/>
                <a:cs typeface="Songti SC"/>
              </a:defRPr>
            </a:pPr>
            <a:r>
              <a:rPr sz="2175" b="1" i="0">
                <a:solidFill>
                  <a:srgbClr val="063A32"/>
                </a:solidFill>
                <a:latin typeface="Songti SC"/>
                <a:ea typeface="Songti SC"/>
                <a:cs typeface="Songti SC"/>
              </a:rPr>
              <a:t>发现与检索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5F200B-DF71-4A1C-B16E-A9475CD6A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790825"/>
            <a:ext cx="228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0" i="0">
                <a:solidFill>
                  <a:srgbClr val="64736E"/>
                </a:solidFill>
                <a:latin typeface="Heiti SC"/>
                <a:ea typeface="Heiti SC"/>
                <a:cs typeface="Heiti SC"/>
              </a:defRPr>
            </a:pPr>
            <a:r>
              <a:rPr sz="1200" b="0" i="0">
                <a:solidFill>
                  <a:srgbClr val="64736E"/>
                </a:solidFill>
                <a:latin typeface="Heiti SC"/>
                <a:ea typeface="Heiti SC"/>
                <a:cs typeface="Heiti SC"/>
              </a:rPr>
              <a:t>找到方法、论文与可核对来源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E5CB95-A4C4-4C28-95B0-4158663A8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381375"/>
            <a:ext cx="2247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C86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D6111D7-F2CD-44FC-B834-2C1433447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657600"/>
            <a:ext cx="2362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 i="0">
                <a:solidFill>
                  <a:srgbClr val="063A32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 i="0">
                <a:solidFill>
                  <a:srgbClr val="063A32"/>
                </a:solidFill>
                <a:latin typeface="Avenir Next"/>
                <a:ea typeface="Avenir Next"/>
                <a:cs typeface="Avenir Next"/>
              </a:rPr>
              <a:t>find-science-skills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1871136-5315-4E6E-B562-058D68F74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171950"/>
            <a:ext cx="2362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 i="0">
                <a:solidFill>
                  <a:srgbClr val="063A32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 i="0">
                <a:solidFill>
                  <a:srgbClr val="063A32"/>
                </a:solidFill>
                <a:latin typeface="Avenir Next"/>
                <a:ea typeface="Avenir Next"/>
                <a:cs typeface="Avenir Next"/>
              </a:rPr>
              <a:t>giiisp-paper-search-apis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626A086-F475-4233-9E9C-58F1012F5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686300"/>
            <a:ext cx="2362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 i="0">
                <a:solidFill>
                  <a:srgbClr val="063A32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 i="0">
                <a:solidFill>
                  <a:srgbClr val="063A32"/>
                </a:solidFill>
                <a:latin typeface="Avenir Next"/>
                <a:ea typeface="Avenir Next"/>
                <a:cs typeface="Avenir Next"/>
              </a:rPr>
              <a:t>scansci-pdf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24D7689-934B-4887-ACA4-951525F05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952625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008F52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008F52"/>
                </a:solidFill>
                <a:latin typeface="Avenir Next"/>
                <a:ea typeface="Avenir Next"/>
                <a:cs typeface="Avenir Next"/>
              </a:rPr>
              <a:t>02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E52BDF0-EB5F-4EB3-895F-B254F3570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266950"/>
            <a:ext cx="228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75" b="1" i="0">
                <a:solidFill>
                  <a:srgbClr val="063A32"/>
                </a:solidFill>
                <a:latin typeface="Songti SC"/>
                <a:ea typeface="Songti SC"/>
                <a:cs typeface="Songti SC"/>
              </a:defRPr>
            </a:pPr>
            <a:r>
              <a:rPr sz="2175" b="1" i="0">
                <a:solidFill>
                  <a:srgbClr val="063A32"/>
                </a:solidFill>
                <a:latin typeface="Songti SC"/>
                <a:ea typeface="Songti SC"/>
                <a:cs typeface="Songti SC"/>
              </a:rPr>
              <a:t>调研与推理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17FE936-91E4-4BC9-8BDE-2A3E01057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790825"/>
            <a:ext cx="228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0" i="0">
                <a:solidFill>
                  <a:srgbClr val="64736E"/>
                </a:solidFill>
                <a:latin typeface="Heiti SC"/>
                <a:ea typeface="Heiti SC"/>
                <a:cs typeface="Heiti SC"/>
              </a:defRPr>
            </a:pPr>
            <a:r>
              <a:rPr sz="1200" b="0" i="0">
                <a:solidFill>
                  <a:srgbClr val="64736E"/>
                </a:solidFill>
                <a:latin typeface="Heiti SC"/>
                <a:ea typeface="Heiti SC"/>
                <a:cs typeface="Heiti SC"/>
              </a:rPr>
              <a:t>形成候选方向并暴露论证缺口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903C17C-4A4F-4629-9094-A6333BBF2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381375"/>
            <a:ext cx="2247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C86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EC0ADFE-C2FF-4919-889A-FAC5536B2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657600"/>
            <a:ext cx="2362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 i="0">
                <a:solidFill>
                  <a:srgbClr val="063A32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 i="0">
                <a:solidFill>
                  <a:srgbClr val="063A32"/>
                </a:solidFill>
                <a:latin typeface="Avenir Next"/>
                <a:ea typeface="Avenir Next"/>
                <a:cs typeface="Avenir Next"/>
              </a:rPr>
              <a:t>sci-employee-deep-research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E613014-F7D5-40E1-B9D3-D88919117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171950"/>
            <a:ext cx="2362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 i="0">
                <a:solidFill>
                  <a:srgbClr val="063A32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 i="0">
                <a:solidFill>
                  <a:srgbClr val="063A32"/>
                </a:solidFill>
                <a:latin typeface="Avenir Next"/>
                <a:ea typeface="Avenir Next"/>
                <a:cs typeface="Avenir Next"/>
              </a:rPr>
              <a:t>scispark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9188DA3-3200-4922-83EA-EA6DCEE35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686300"/>
            <a:ext cx="2362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 i="0">
                <a:solidFill>
                  <a:srgbClr val="063A32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 i="0">
                <a:solidFill>
                  <a:srgbClr val="063A32"/>
                </a:solidFill>
                <a:latin typeface="Avenir Next"/>
                <a:ea typeface="Avenir Next"/>
                <a:cs typeface="Avenir Next"/>
              </a:rPr>
              <a:t>good-question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9DE7C12-376A-4181-9DBC-F3A298722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1952625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008F52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008F52"/>
                </a:solidFill>
                <a:latin typeface="Avenir Next"/>
                <a:ea typeface="Avenir Next"/>
                <a:cs typeface="Avenir Next"/>
              </a:rPr>
              <a:t>03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6EABA29-7A38-4B58-8B85-55421D741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266950"/>
            <a:ext cx="228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75" b="1" i="0">
                <a:solidFill>
                  <a:srgbClr val="063A32"/>
                </a:solidFill>
                <a:latin typeface="Songti SC"/>
                <a:ea typeface="Songti SC"/>
                <a:cs typeface="Songti SC"/>
              </a:defRPr>
            </a:pPr>
            <a:r>
              <a:rPr sz="2175" b="1" i="0">
                <a:solidFill>
                  <a:srgbClr val="063A32"/>
                </a:solidFill>
                <a:latin typeface="Songti SC"/>
                <a:ea typeface="Songti SC"/>
                <a:cs typeface="Songti SC"/>
              </a:rPr>
              <a:t>研究与实验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90138B7-77CD-4BEE-8B26-31A2C9007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790825"/>
            <a:ext cx="228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0" i="0">
                <a:solidFill>
                  <a:srgbClr val="64736E"/>
                </a:solidFill>
                <a:latin typeface="Heiti SC"/>
                <a:ea typeface="Heiti SC"/>
                <a:cs typeface="Heiti SC"/>
              </a:defRPr>
            </a:pPr>
            <a:r>
              <a:rPr sz="1200" b="0" i="0">
                <a:solidFill>
                  <a:srgbClr val="64736E"/>
                </a:solidFill>
                <a:latin typeface="Heiti SC"/>
                <a:ea typeface="Heiti SC"/>
                <a:cs typeface="Heiti SC"/>
              </a:rPr>
              <a:t>转成设计、数据基线与验证步骤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E472069-78DA-4558-A166-44110130B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381375"/>
            <a:ext cx="2247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C86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859F567-7274-492B-BC7F-7A5C7FB0C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657600"/>
            <a:ext cx="2362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 i="0">
                <a:solidFill>
                  <a:srgbClr val="063A32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 i="0">
                <a:solidFill>
                  <a:srgbClr val="063A32"/>
                </a:solidFill>
                <a:latin typeface="Avenir Next"/>
                <a:ea typeface="Avenir Next"/>
                <a:cs typeface="Avenir Next"/>
              </a:rPr>
              <a:t>experiment-design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E9335D3-BCAD-41A9-A4E6-3FDCA7EFF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171950"/>
            <a:ext cx="2362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 i="0">
                <a:solidFill>
                  <a:srgbClr val="063A32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 i="0">
                <a:solidFill>
                  <a:srgbClr val="063A32"/>
                </a:solidFill>
                <a:latin typeface="Avenir Next"/>
                <a:ea typeface="Avenir Next"/>
                <a:cs typeface="Avenir Next"/>
              </a:rPr>
              <a:t>research-baseline-builder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101F0BB-0516-435C-AE45-CC2BBAA60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CD9D2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D63FC5D-CC43-4077-9E71-CB9EA85D6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91300"/>
            <a:ext cx="1714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 i="0">
                <a:solidFill>
                  <a:srgbClr val="7B8B85"/>
                </a:solidFill>
                <a:latin typeface="Avenir Next"/>
                <a:ea typeface="Avenir Next"/>
                <a:cs typeface="Avenir Next"/>
              </a:defRPr>
            </a:pPr>
            <a:r>
              <a:rPr sz="750" b="1" i="0">
                <a:solidFill>
                  <a:srgbClr val="7B8B85"/>
                </a:solidFill>
                <a:latin typeface="Avenir Next"/>
                <a:ea typeface="Avenir Next"/>
                <a:cs typeface="Avenir Next"/>
              </a:rPr>
              <a:t>SCIENCEX · 09</a:t>
            </a:r>
          </a:p>
        </p:txBody>
      </p:sp>
    </p:spTree>
    <p:extLst>
      <p:ext uri="{BB962C8B-B14F-4D97-AF65-F5344CB8AC3E}">
        <p14:creationId xmlns:p14="http://schemas.microsoft.com/office/powerpoint/2010/main" val="2028923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62CB714-6EC6-4E7E-8F8F-0358D028C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9575"/>
            <a:ext cx="4000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3A3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9525" rIns="762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10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AD9E79-D9EF-4B35-8C9A-A57CDDC61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57200"/>
            <a:ext cx="304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 i="0">
                <a:solidFill>
                  <a:srgbClr val="008F52"/>
                </a:solidFill>
                <a:latin typeface="Avenir Next"/>
                <a:ea typeface="Avenir Next"/>
                <a:cs typeface="Avenir Next"/>
              </a:defRPr>
            </a:pPr>
            <a:r>
              <a:rPr sz="900" b="1" i="0">
                <a:solidFill>
                  <a:srgbClr val="008F52"/>
                </a:solidFill>
                <a:latin typeface="Avenir Next"/>
                <a:ea typeface="Avenir Next"/>
                <a:cs typeface="Avenir Next"/>
              </a:rPr>
              <a:t>RESEARCH SKILLS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3B8000-DFD9-4E04-BB1C-61B1A9F10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19150"/>
            <a:ext cx="695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2775" b="1" i="0">
                <a:solidFill>
                  <a:srgbClr val="063A32"/>
                </a:solidFill>
                <a:latin typeface="Songti SC"/>
                <a:ea typeface="Songti SC"/>
                <a:cs typeface="Songti SC"/>
              </a:defRPr>
            </a:pPr>
            <a:r>
              <a:rPr sz="2775" b="1" i="0">
                <a:solidFill>
                  <a:srgbClr val="063A32"/>
                </a:solidFill>
                <a:latin typeface="Songti SC"/>
                <a:ea typeface="Songti SC"/>
                <a:cs typeface="Songti SC"/>
              </a:rPr>
              <a:t>从研究产出到审查，能力边界都可见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715C9E-98AD-471E-A839-07E95D9E4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895350"/>
            <a:ext cx="3810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75" b="0" i="0">
                <a:solidFill>
                  <a:srgbClr val="64736E"/>
                </a:solidFill>
                <a:latin typeface="Heiti SC"/>
                <a:ea typeface="Heiti SC"/>
                <a:cs typeface="Heiti SC"/>
              </a:defRPr>
            </a:pPr>
            <a:r>
              <a:rPr sz="1275" b="0" i="0">
                <a:solidFill>
                  <a:srgbClr val="64736E"/>
                </a:solidFill>
                <a:latin typeface="Heiti SC"/>
                <a:ea typeface="Heiti SC"/>
                <a:cs typeface="Heiti SC"/>
              </a:rPr>
              <a:t>方法进入任务后，仍需要质量审查、引用核对、长期记忆和新工具采用前的评测。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DAE3AA-C4E6-4ED1-B3B6-FAAAB0B20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1910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00" b="1" i="0">
                <a:solidFill>
                  <a:srgbClr val="063A32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 i="0">
                <a:solidFill>
                  <a:srgbClr val="063A32"/>
                </a:solidFill>
                <a:latin typeface="Avenir Next"/>
                <a:ea typeface="Avenir Next"/>
                <a:cs typeface="Avenir Next"/>
              </a:rPr>
              <a:t>ScienceX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B1F3A0-1504-429C-AC77-81A9685FE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097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008F52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008F52"/>
                </a:solidFill>
                <a:latin typeface="Avenir Next"/>
                <a:ea typeface="Avenir Next"/>
                <a:cs typeface="Avenir Next"/>
              </a:rPr>
              <a:t>04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5579AF-6D24-425A-A0FF-A639EF20A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75" b="1" i="0">
                <a:solidFill>
                  <a:srgbClr val="063A32"/>
                </a:solidFill>
                <a:latin typeface="Songti SC"/>
                <a:ea typeface="Songti SC"/>
                <a:cs typeface="Songti SC"/>
              </a:defRPr>
            </a:pPr>
            <a:r>
              <a:rPr sz="2175" b="1" i="0">
                <a:solidFill>
                  <a:srgbClr val="063A32"/>
                </a:solidFill>
                <a:latin typeface="Songti SC"/>
                <a:ea typeface="Songti SC"/>
                <a:cs typeface="Songti SC"/>
              </a:rPr>
              <a:t>写作与呈现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81C002-213D-46D3-B18D-DF9502716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47950"/>
            <a:ext cx="4476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0" i="0">
                <a:solidFill>
                  <a:srgbClr val="64736E"/>
                </a:solidFill>
                <a:latin typeface="Heiti SC"/>
                <a:ea typeface="Heiti SC"/>
                <a:cs typeface="Heiti SC"/>
              </a:defRPr>
            </a:pPr>
            <a:r>
              <a:rPr sz="1200" b="0" i="0">
                <a:solidFill>
                  <a:srgbClr val="64736E"/>
                </a:solidFill>
                <a:latin typeface="Heiti SC"/>
                <a:ea typeface="Heiti SC"/>
                <a:cs typeface="Heiti SC"/>
              </a:rPr>
              <a:t>组织论文、图像、幻灯片、视频与课程产物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E78E26-3F11-4529-BD15-8F7B021CB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14700"/>
            <a:ext cx="4476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C86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B1615C-4E9B-448D-BD94-140FC5408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62350"/>
            <a:ext cx="447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 i="0">
                <a:solidFill>
                  <a:srgbClr val="063A32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 i="0">
                <a:solidFill>
                  <a:srgbClr val="063A32"/>
                </a:solidFill>
                <a:latin typeface="Avenir Next"/>
                <a:ea typeface="Avenir Next"/>
                <a:cs typeface="Avenir Next"/>
              </a:rPr>
              <a:t>01  academic-writing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02F0D4-D6DC-4300-B90D-2E06480C3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933825"/>
            <a:ext cx="4476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CD9D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718431B-A352-4CB5-A515-B6EC201B9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0"/>
            <a:ext cx="447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 i="0">
                <a:solidFill>
                  <a:srgbClr val="063A32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 i="0">
                <a:solidFill>
                  <a:srgbClr val="063A32"/>
                </a:solidFill>
                <a:latin typeface="Avenir Next"/>
                <a:ea typeface="Avenir Next"/>
                <a:cs typeface="Avenir Next"/>
              </a:rPr>
              <a:t>02  scientific-humanization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12AADE8-1955-47A7-9C80-861F069CA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371975"/>
            <a:ext cx="4476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CD9D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344EEF9-22CA-488A-8ADC-9E31BA93B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38650"/>
            <a:ext cx="447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063A32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 i="0">
                <a:solidFill>
                  <a:srgbClr val="063A32"/>
                </a:solidFill>
                <a:latin typeface="Avenir Next"/>
                <a:ea typeface="Avenir Next"/>
                <a:cs typeface="Avenir Next"/>
              </a:rPr>
              <a:t>03  giiisp-scientific-image-generation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F048A84-29A3-418A-A556-8416A1CCC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10125"/>
            <a:ext cx="4476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CD9D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3125BC3-4799-4D2B-AB5E-5AD99BB86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76800"/>
            <a:ext cx="447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 i="0">
                <a:solidFill>
                  <a:srgbClr val="063A32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 i="0">
                <a:solidFill>
                  <a:srgbClr val="063A32"/>
                </a:solidFill>
                <a:latin typeface="Avenir Next"/>
                <a:ea typeface="Avenir Next"/>
                <a:cs typeface="Avenir Next"/>
              </a:rPr>
              <a:t>04  visual-deck-builder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8CE3B7B-A133-4D1F-A04D-A521E813B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248275"/>
            <a:ext cx="4476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CD9D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4287E39-90AE-4453-B13A-8247EA16C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314950"/>
            <a:ext cx="447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 i="0">
                <a:solidFill>
                  <a:srgbClr val="063A32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 i="0">
                <a:solidFill>
                  <a:srgbClr val="063A32"/>
                </a:solidFill>
                <a:latin typeface="Avenir Next"/>
                <a:ea typeface="Avenir Next"/>
                <a:cs typeface="Avenir Next"/>
              </a:rPr>
              <a:t>05  manim-agent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8D3D9E0-E749-4EEC-9100-61C8012ED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686425"/>
            <a:ext cx="4476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CD9D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A6DCA4C-9797-4D09-8F36-C6CDE9B15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753100"/>
            <a:ext cx="447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 i="0">
                <a:solidFill>
                  <a:srgbClr val="063A32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 i="0">
                <a:solidFill>
                  <a:srgbClr val="063A32"/>
                </a:solidFill>
                <a:latin typeface="Avenir Next"/>
                <a:ea typeface="Avenir Next"/>
                <a:cs typeface="Avenir Next"/>
              </a:rPr>
              <a:t>06  practical-course-producer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6DA7002-4710-4ABD-B4B4-061754EC3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18097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008F52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008F52"/>
                </a:solidFill>
                <a:latin typeface="Avenir Next"/>
                <a:ea typeface="Avenir Next"/>
                <a:cs typeface="Avenir Next"/>
              </a:rPr>
              <a:t>05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E8C8595-D6E8-4E46-B874-414583C3F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133600"/>
            <a:ext cx="323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75" b="1" i="0">
                <a:solidFill>
                  <a:srgbClr val="063A32"/>
                </a:solidFill>
                <a:latin typeface="Songti SC"/>
                <a:ea typeface="Songti SC"/>
                <a:cs typeface="Songti SC"/>
              </a:defRPr>
            </a:pPr>
            <a:r>
              <a:rPr sz="2175" b="1" i="0">
                <a:solidFill>
                  <a:srgbClr val="063A32"/>
                </a:solidFill>
                <a:latin typeface="Songti SC"/>
                <a:ea typeface="Songti SC"/>
                <a:cs typeface="Songti SC"/>
              </a:rPr>
              <a:t>审查与记忆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6140912-13BC-4296-AAEE-0B75B5CEF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647950"/>
            <a:ext cx="323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0" i="0">
                <a:solidFill>
                  <a:srgbClr val="64736E"/>
                </a:solidFill>
                <a:latin typeface="Heiti SC"/>
                <a:ea typeface="Heiti SC"/>
                <a:cs typeface="Heiti SC"/>
              </a:defRPr>
            </a:pPr>
            <a:r>
              <a:rPr sz="1200" b="0" i="0">
                <a:solidFill>
                  <a:srgbClr val="64736E"/>
                </a:solidFill>
                <a:latin typeface="Heiti SC"/>
                <a:ea typeface="Heiti SC"/>
                <a:cs typeface="Heiti SC"/>
              </a:rPr>
              <a:t>检查论文与引用，并保存长期研究上下文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8C26DE1-00BC-464E-8B28-C5E156758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3314700"/>
            <a:ext cx="323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C86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31D0ADE-776C-48BC-999A-2B0DAE052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3562350"/>
            <a:ext cx="323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 i="0">
                <a:solidFill>
                  <a:srgbClr val="063A32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 i="0">
                <a:solidFill>
                  <a:srgbClr val="063A32"/>
                </a:solidFill>
                <a:latin typeface="Avenir Next"/>
                <a:ea typeface="Avenir Next"/>
                <a:cs typeface="Avenir Next"/>
              </a:rPr>
              <a:t>01  thesis-audit-reviewer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0BDFCC7-189F-4587-82B9-6C973096D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3933825"/>
            <a:ext cx="323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CD9D2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533B267-4FA7-4C16-ADB3-11AAAB1E0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4000500"/>
            <a:ext cx="323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 i="0">
                <a:solidFill>
                  <a:srgbClr val="063A32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 i="0">
                <a:solidFill>
                  <a:srgbClr val="063A32"/>
                </a:solidFill>
                <a:latin typeface="Avenir Next"/>
                <a:ea typeface="Avenir Next"/>
                <a:cs typeface="Avenir Next"/>
              </a:rPr>
              <a:t>02  papercheck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F75F0C6-FD43-4BAC-8206-8B07D2472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4371975"/>
            <a:ext cx="323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CD9D2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9177933-A5AE-462A-A609-763D3D4D7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4438650"/>
            <a:ext cx="323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 i="0">
                <a:solidFill>
                  <a:srgbClr val="063A32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 i="0">
                <a:solidFill>
                  <a:srgbClr val="063A32"/>
                </a:solidFill>
                <a:latin typeface="Avenir Next"/>
                <a:ea typeface="Avenir Next"/>
                <a:cs typeface="Avenir Next"/>
              </a:rPr>
              <a:t>03  cognitive-profile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54E3F22-2A8E-4B80-9A74-072004D33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4810125"/>
            <a:ext cx="323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CD9D2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2C90939-D93B-4B97-AF25-D1CA7DC5D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4876800"/>
            <a:ext cx="323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 i="0">
                <a:solidFill>
                  <a:srgbClr val="063A32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 i="0">
                <a:solidFill>
                  <a:srgbClr val="063A32"/>
                </a:solidFill>
                <a:latin typeface="Avenir Next"/>
                <a:ea typeface="Avenir Next"/>
                <a:cs typeface="Avenir Next"/>
              </a:rPr>
              <a:t>04  world-threads-entry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4C9967C-DD2F-4251-B2CD-0D3E47DD9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8097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008F52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008F52"/>
                </a:solidFill>
                <a:latin typeface="Avenir Next"/>
                <a:ea typeface="Avenir Next"/>
                <a:cs typeface="Avenir Next"/>
              </a:rPr>
              <a:t>06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705871D-D87A-4A71-9D6E-B1907739D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133600"/>
            <a:ext cx="2495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75" b="1" i="0">
                <a:solidFill>
                  <a:srgbClr val="063A32"/>
                </a:solidFill>
                <a:latin typeface="Songti SC"/>
                <a:ea typeface="Songti SC"/>
                <a:cs typeface="Songti SC"/>
              </a:defRPr>
            </a:pPr>
            <a:r>
              <a:rPr sz="2175" b="1" i="0">
                <a:solidFill>
                  <a:srgbClr val="063A32"/>
                </a:solidFill>
                <a:latin typeface="Songti SC"/>
                <a:ea typeface="Songti SC"/>
                <a:cs typeface="Songti SC"/>
              </a:rPr>
              <a:t>能力评测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DE9088A-1D45-4080-9088-B5B36391D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647950"/>
            <a:ext cx="2495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0" i="0">
                <a:solidFill>
                  <a:srgbClr val="64736E"/>
                </a:solidFill>
                <a:latin typeface="Heiti SC"/>
                <a:ea typeface="Heiti SC"/>
                <a:cs typeface="Heiti SC"/>
              </a:defRPr>
            </a:pPr>
            <a:r>
              <a:rPr sz="1200" b="0" i="0">
                <a:solidFill>
                  <a:srgbClr val="64736E"/>
                </a:solidFill>
                <a:latin typeface="Heiti SC"/>
                <a:ea typeface="Heiti SC"/>
                <a:cs typeface="Heiti SC"/>
              </a:rPr>
              <a:t>采用新工具前检查 MCP 与 Skill 的质量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1BE3A94-7CD0-47BD-973E-E4EA438CD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314700"/>
            <a:ext cx="2495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C86F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AFDF12B-F570-47E6-93C5-1E6B78FC3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562350"/>
            <a:ext cx="2495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 i="0">
                <a:solidFill>
                  <a:srgbClr val="063A32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 i="0">
                <a:solidFill>
                  <a:srgbClr val="063A32"/>
                </a:solidFill>
                <a:latin typeface="Avenir Next"/>
                <a:ea typeface="Avenir Next"/>
                <a:cs typeface="Avenir Next"/>
              </a:rPr>
              <a:t>01  mcp-criticagent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B93CAA9-3627-4922-A6F9-87556FEDF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933825"/>
            <a:ext cx="2495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CD9D2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F84971B-C292-4694-A305-8465CA6CD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000500"/>
            <a:ext cx="2495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 i="0">
                <a:solidFill>
                  <a:srgbClr val="063A32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 i="0">
                <a:solidFill>
                  <a:srgbClr val="063A32"/>
                </a:solidFill>
                <a:latin typeface="Avenir Next"/>
                <a:ea typeface="Avenir Next"/>
                <a:cs typeface="Avenir Next"/>
              </a:rPr>
              <a:t>02  skill-criticagent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FA2125C-5717-4145-9B6B-2241C4AC3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00750"/>
            <a:ext cx="11087100" cy="361950"/>
          </a:xfrm>
          <a:prstGeom xmlns:a="http://schemas.openxmlformats.org/drawingml/2006/main" prst="roundRect">
            <a:avLst>
              <a:gd name="adj" fmla="val 23684"/>
            </a:avLst>
          </a:prstGeom>
          <a:solidFill xmlns:a="http://schemas.openxmlformats.org/drawingml/2006/main">
            <a:srgbClr val="E5F7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673F7AE-390B-4A38-8B0E-FE3FF72A2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076950"/>
            <a:ext cx="10591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 i="0">
                <a:solidFill>
                  <a:srgbClr val="008F52"/>
                </a:solidFill>
                <a:latin typeface="Heiti SC"/>
                <a:ea typeface="Heiti SC"/>
                <a:cs typeface="Heiti SC"/>
              </a:defRPr>
            </a:pPr>
            <a:r>
              <a:rPr sz="1200" b="1" i="0">
                <a:solidFill>
                  <a:srgbClr val="008F52"/>
                </a:solidFill>
                <a:latin typeface="Heiti SC"/>
                <a:ea typeface="Heiti SC"/>
                <a:cs typeface="Heiti SC"/>
              </a:rPr>
              <a:t>已集成不等于无条件可运行。依赖、外部服务、连接状态与用户授权仍然决定实际可用范围。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2E6B51A-F7E0-48B5-BFF6-B060FACE8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CD9D2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B3DD2C4-07EA-4FF4-9229-56EAB930A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91300"/>
            <a:ext cx="1714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 i="0">
                <a:solidFill>
                  <a:srgbClr val="7B8B85"/>
                </a:solidFill>
                <a:latin typeface="Avenir Next"/>
                <a:ea typeface="Avenir Next"/>
                <a:cs typeface="Avenir Next"/>
              </a:defRPr>
            </a:pPr>
            <a:r>
              <a:rPr sz="750" b="1" i="0">
                <a:solidFill>
                  <a:srgbClr val="7B8B85"/>
                </a:solidFill>
                <a:latin typeface="Avenir Next"/>
                <a:ea typeface="Avenir Next"/>
                <a:cs typeface="Avenir Next"/>
              </a:rPr>
              <a:t>SCIENCEX · 10</a:t>
            </a:r>
          </a:p>
        </p:txBody>
      </p:sp>
    </p:spTree>
    <p:extLst>
      <p:ext uri="{BB962C8B-B14F-4D97-AF65-F5344CB8AC3E}">
        <p14:creationId xmlns:p14="http://schemas.microsoft.com/office/powerpoint/2010/main" val="169726260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1A69C63-5578-4D69-BEE3-9DDF12EE1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9575"/>
            <a:ext cx="4000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3A3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9525" rIns="762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11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DAA6AA-FF5C-4B5B-86BA-4F79A0B8F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57200"/>
            <a:ext cx="304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 i="0">
                <a:solidFill>
                  <a:srgbClr val="008F52"/>
                </a:solidFill>
                <a:latin typeface="Avenir Next"/>
                <a:ea typeface="Avenir Next"/>
                <a:cs typeface="Avenir Next"/>
              </a:defRPr>
            </a:pPr>
            <a:r>
              <a:rPr sz="900" b="1" i="0">
                <a:solidFill>
                  <a:srgbClr val="008F52"/>
                </a:solidFill>
                <a:latin typeface="Avenir Next"/>
                <a:ea typeface="Avenir Next"/>
                <a:cs typeface="Avenir Next"/>
              </a:rPr>
              <a:t>BOUNDARIES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EBB08A-ED94-403A-8325-2134C316E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19150"/>
            <a:ext cx="685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3000" b="1" i="0">
                <a:solidFill>
                  <a:srgbClr val="063A32"/>
                </a:solidFill>
                <a:latin typeface="Songti SC"/>
                <a:ea typeface="Songti SC"/>
                <a:cs typeface="Songti SC"/>
              </a:defRPr>
            </a:pPr>
            <a:r>
              <a:rPr sz="3000" b="1" i="0">
                <a:solidFill>
                  <a:srgbClr val="063A32"/>
                </a:solidFill>
                <a:latin typeface="Songti SC"/>
                <a:ea typeface="Songti SC"/>
                <a:cs typeface="Songti SC"/>
              </a:rPr>
              <a:t>连接真实环境，也明确使用边界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0988AA-C53E-46F6-918E-A2D77A740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895350"/>
            <a:ext cx="3810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585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75" b="0" i="0">
                <a:solidFill>
                  <a:srgbClr val="64736E"/>
                </a:solidFill>
                <a:latin typeface="Heiti SC"/>
                <a:ea typeface="Heiti SC"/>
                <a:cs typeface="Heiti SC"/>
              </a:defRPr>
            </a:pPr>
            <a:r>
              <a:rPr sz="1275" b="0" i="0">
                <a:solidFill>
                  <a:srgbClr val="64736E"/>
                </a:solidFill>
                <a:latin typeface="Heiti SC"/>
                <a:ea typeface="Heiti SC"/>
                <a:cs typeface="Heiti SC"/>
              </a:rPr>
              <a:t>ScienceX 只调用本机已安装、已配置并获得授权的能力。连接执行环境，不等于扩大访问权限。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967FD6-2C88-4198-A096-E2424F51C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1910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00" b="1" i="0">
                <a:solidFill>
                  <a:srgbClr val="063A32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 i="0">
                <a:solidFill>
                  <a:srgbClr val="063A32"/>
                </a:solidFill>
                <a:latin typeface="Avenir Next"/>
                <a:ea typeface="Avenir Next"/>
                <a:cs typeface="Avenir Next"/>
              </a:rPr>
              <a:t>ScienceX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BDC2D3-2F3A-4421-9253-4FCFEE12D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2800350"/>
            <a:ext cx="1619250" cy="1619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3A32"/>
          </a:solidFill>
          <a:ln xmlns:a="http://schemas.openxmlformats.org/drawingml/2006/main" w="9525">
            <a:solidFill>
              <a:srgbClr val="003A3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D88508-5A34-4FCC-9BEA-E68E51135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276600"/>
            <a:ext cx="1104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9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9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ScienceX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82A3D4-9D10-40C4-9388-AE1FF1D5E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3743325"/>
            <a:ext cx="1047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825" b="1" i="0">
                <a:solidFill>
                  <a:srgbClr val="00C86F"/>
                </a:solidFill>
                <a:latin typeface="Avenir Next"/>
                <a:ea typeface="Avenir Next"/>
                <a:cs typeface="Avenir Next"/>
              </a:defRPr>
            </a:pPr>
            <a:r>
              <a:rPr sz="825" b="1" i="0">
                <a:solidFill>
                  <a:srgbClr val="00C86F"/>
                </a:solidFill>
                <a:latin typeface="Avenir Next"/>
                <a:ea typeface="Avenir Next"/>
                <a:cs typeface="Avenir Next"/>
              </a:rPr>
              <a:t>AUTHORIZED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58CC4F-7F8F-447A-9DBA-7F161D773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52625"/>
            <a:ext cx="1952625" cy="781050"/>
          </a:xfrm>
          <a:prstGeom xmlns:a="http://schemas.openxmlformats.org/drawingml/2006/main" prst="roundRect">
            <a:avLst>
              <a:gd name="adj" fmla="val 170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9D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369C23-B427-4E15-BE20-465F6328C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85975"/>
            <a:ext cx="16097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 i="0">
                <a:solidFill>
                  <a:srgbClr val="063A32"/>
                </a:solidFill>
                <a:latin typeface="Heiti SC"/>
                <a:ea typeface="Heiti SC"/>
                <a:cs typeface="Heiti SC"/>
              </a:defRPr>
            </a:pPr>
            <a:r>
              <a:rPr sz="1500" b="1" i="0">
                <a:solidFill>
                  <a:srgbClr val="063A32"/>
                </a:solidFill>
                <a:latin typeface="Heiti SC"/>
                <a:ea typeface="Heiti SC"/>
                <a:cs typeface="Heiti SC"/>
              </a:rPr>
              <a:t>本地文件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5584CA-0CB7-40C8-BF87-D6FEEB5BF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09825"/>
            <a:ext cx="17240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0" i="0">
                <a:solidFill>
                  <a:srgbClr val="64736E"/>
                </a:solidFill>
                <a:latin typeface="Heiti SC"/>
                <a:ea typeface="Heiti SC"/>
                <a:cs typeface="Heiti SC"/>
              </a:defRPr>
            </a:pPr>
            <a:r>
              <a:rPr sz="975" b="0" i="0">
                <a:solidFill>
                  <a:srgbClr val="64736E"/>
                </a:solidFill>
                <a:latin typeface="Heiti SC"/>
                <a:ea typeface="Heiti SC"/>
                <a:cs typeface="Heiti SC"/>
              </a:rPr>
              <a:t>PDF / CSV / 项目目录</a:t>
            </a:r>
          </a:p>
        </p:txBody>
      </p:sp>
      <p:cxnSp>
        <p:nvCxnSpPr>
          <p:cNvPr id="60" name=""/>
          <p:cNvCxnSpPr>
            <a:stCxn xmlns:a="http://schemas.openxmlformats.org/drawingml/2006/main" id="9" idx="3"/>
            <a:endCxn xmlns:a="http://schemas.openxmlformats.org/drawingml/2006/main" id="6" idx="2"/>
          </p:cNvCxnSpPr>
          <p:nvPr/>
        </p:nvCxnSpPr>
        <p:spPr>
          <a:xfrm xmlns:a="http://schemas.openxmlformats.org/drawingml/2006/main">
            <a:off x="2543175" y="2343150"/>
            <a:ext cx="266700" cy="1266825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80B5A6"/>
            </a:solidFill>
            <a:prstDash val="solid"/>
            <a:headEnd type="triangle" w="sm" len="sm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72FA63-776C-4A05-8C77-90F1ECE35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552950"/>
            <a:ext cx="1952625" cy="781050"/>
          </a:xfrm>
          <a:prstGeom xmlns:a="http://schemas.openxmlformats.org/drawingml/2006/main" prst="roundRect">
            <a:avLst>
              <a:gd name="adj" fmla="val 170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9D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B772425-3BA5-4CCF-A745-5C0A1CFA3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86300"/>
            <a:ext cx="16097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 i="0">
                <a:solidFill>
                  <a:srgbClr val="063A32"/>
                </a:solidFill>
                <a:latin typeface="Heiti SC"/>
                <a:ea typeface="Heiti SC"/>
                <a:cs typeface="Heiti SC"/>
              </a:defRPr>
            </a:pPr>
            <a:r>
              <a:rPr sz="1500" b="1" i="0">
                <a:solidFill>
                  <a:srgbClr val="063A32"/>
                </a:solidFill>
                <a:latin typeface="Heiti SC"/>
                <a:ea typeface="Heiti SC"/>
                <a:cs typeface="Heiti SC"/>
              </a:rPr>
              <a:t>代码与终端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6949017-2E19-4B07-9EC6-5E0180A0B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010150"/>
            <a:ext cx="17240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0" i="0">
                <a:solidFill>
                  <a:srgbClr val="64736E"/>
                </a:solidFill>
                <a:latin typeface="Heiti SC"/>
                <a:ea typeface="Heiti SC"/>
                <a:cs typeface="Heiti SC"/>
              </a:defRPr>
            </a:pPr>
            <a:r>
              <a:rPr sz="975" b="0" i="0">
                <a:solidFill>
                  <a:srgbClr val="64736E"/>
                </a:solidFill>
                <a:latin typeface="Heiti SC"/>
                <a:ea typeface="Heiti SC"/>
                <a:cs typeface="Heiti SC"/>
              </a:rPr>
              <a:t>仓库 / 命令 / 脚本</a:t>
            </a:r>
          </a:p>
        </p:txBody>
      </p:sp>
      <p:cxnSp>
        <p:nvCxnSpPr>
          <p:cNvPr id="64" name=""/>
          <p:cNvCxnSpPr>
            <a:stCxn xmlns:a="http://schemas.openxmlformats.org/drawingml/2006/main" id="13" idx="3"/>
            <a:endCxn xmlns:a="http://schemas.openxmlformats.org/drawingml/2006/main" id="6" idx="2"/>
          </p:cNvCxnSpPr>
          <p:nvPr/>
        </p:nvCxnSpPr>
        <p:spPr>
          <a:xfrm xmlns:a="http://schemas.openxmlformats.org/drawingml/2006/main" flipV="1">
            <a:off x="2543175" y="3609975"/>
            <a:ext cx="266700" cy="133350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80B5A6"/>
            </a:solidFill>
            <a:prstDash val="solid"/>
            <a:headEnd type="triangle" w="sm" len="sm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4A8AC1F-7C8C-427B-A857-73D5AD1B8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952625"/>
            <a:ext cx="1952625" cy="781050"/>
          </a:xfrm>
          <a:prstGeom xmlns:a="http://schemas.openxmlformats.org/drawingml/2006/main" prst="roundRect">
            <a:avLst>
              <a:gd name="adj" fmla="val 170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9D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B0D3A73-C79D-46BD-8834-6E7E975E9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085975"/>
            <a:ext cx="16097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 i="0">
                <a:solidFill>
                  <a:srgbClr val="063A32"/>
                </a:solidFill>
                <a:latin typeface="Heiti SC"/>
                <a:ea typeface="Heiti SC"/>
                <a:cs typeface="Heiti SC"/>
              </a:defRPr>
            </a:pPr>
            <a:r>
              <a:rPr sz="1500" b="1" i="0">
                <a:solidFill>
                  <a:srgbClr val="063A32"/>
                </a:solidFill>
                <a:latin typeface="Heiti SC"/>
                <a:ea typeface="Heiti SC"/>
                <a:cs typeface="Heiti SC"/>
              </a:rPr>
              <a:t>模型提供商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CD08002-82AD-40E0-B75C-0BF73EB67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409825"/>
            <a:ext cx="17240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0" i="0">
                <a:solidFill>
                  <a:srgbClr val="64736E"/>
                </a:solidFill>
                <a:latin typeface="Heiti SC"/>
                <a:ea typeface="Heiti SC"/>
                <a:cs typeface="Heiti SC"/>
              </a:defRPr>
            </a:pPr>
            <a:r>
              <a:rPr sz="975" b="0" i="0">
                <a:solidFill>
                  <a:srgbClr val="64736E"/>
                </a:solidFill>
                <a:latin typeface="Heiti SC"/>
                <a:ea typeface="Heiti SC"/>
                <a:cs typeface="Heiti SC"/>
              </a:rPr>
              <a:t>已配置的推理模型</a:t>
            </a:r>
          </a:p>
        </p:txBody>
      </p:sp>
      <p:cxnSp>
        <p:nvCxnSpPr>
          <p:cNvPr id="68" name=""/>
          <p:cNvCxnSpPr>
            <a:stCxn xmlns:a="http://schemas.openxmlformats.org/drawingml/2006/main" id="17" idx="3"/>
            <a:endCxn xmlns:a="http://schemas.openxmlformats.org/drawingml/2006/main" id="6" idx="2"/>
          </p:cNvCxnSpPr>
          <p:nvPr/>
        </p:nvCxnSpPr>
        <p:spPr>
          <a:xfrm xmlns:a="http://schemas.openxmlformats.org/drawingml/2006/main" flipH="1">
            <a:off x="2809875" y="2343150"/>
            <a:ext cx="3810000" cy="1266825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80B5A6"/>
            </a:solidFill>
            <a:prstDash val="solid"/>
            <a:headEnd type="triangle" w="sm" len="sm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4AF2247-4E33-4238-8533-E240D58CD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552950"/>
            <a:ext cx="1952625" cy="781050"/>
          </a:xfrm>
          <a:prstGeom xmlns:a="http://schemas.openxmlformats.org/drawingml/2006/main" prst="roundRect">
            <a:avLst>
              <a:gd name="adj" fmla="val 170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9D2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337CE71-017E-43AF-9DF1-76B007634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686300"/>
            <a:ext cx="16097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 i="0">
                <a:solidFill>
                  <a:srgbClr val="063A32"/>
                </a:solidFill>
                <a:latin typeface="Heiti SC"/>
                <a:ea typeface="Heiti SC"/>
                <a:cs typeface="Heiti SC"/>
              </a:defRPr>
            </a:pPr>
            <a:r>
              <a:rPr sz="1500" b="1" i="0">
                <a:solidFill>
                  <a:srgbClr val="063A32"/>
                </a:solidFill>
                <a:latin typeface="Heiti SC"/>
                <a:ea typeface="Heiti SC"/>
                <a:cs typeface="Heiti SC"/>
              </a:rPr>
              <a:t>MCP 服务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C77AE75-71AA-475A-9D13-B0456F073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5010150"/>
            <a:ext cx="17240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0" i="0">
                <a:solidFill>
                  <a:srgbClr val="64736E"/>
                </a:solidFill>
                <a:latin typeface="Heiti SC"/>
                <a:ea typeface="Heiti SC"/>
                <a:cs typeface="Heiti SC"/>
              </a:defRPr>
            </a:pPr>
            <a:r>
              <a:rPr sz="975" b="0" i="0">
                <a:solidFill>
                  <a:srgbClr val="64736E"/>
                </a:solidFill>
                <a:latin typeface="Heiti SC"/>
                <a:ea typeface="Heiti SC"/>
                <a:cs typeface="Heiti SC"/>
              </a:rPr>
              <a:t>已启用的扩展工具</a:t>
            </a:r>
          </a:p>
        </p:txBody>
      </p:sp>
      <p:cxnSp>
        <p:nvCxnSpPr>
          <p:cNvPr id="72" name=""/>
          <p:cNvCxnSpPr>
            <a:stCxn xmlns:a="http://schemas.openxmlformats.org/drawingml/2006/main" id="21" idx="3"/>
            <a:endCxn xmlns:a="http://schemas.openxmlformats.org/drawingml/2006/main" id="6" idx="2"/>
          </p:cNvCxnSpPr>
          <p:nvPr/>
        </p:nvCxnSpPr>
        <p:spPr>
          <a:xfrm xmlns:a="http://schemas.openxmlformats.org/drawingml/2006/main" flipH="1" flipV="1">
            <a:off x="2809875" y="3609975"/>
            <a:ext cx="3810000" cy="133350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80B5A6"/>
            </a:solidFill>
            <a:prstDash val="solid"/>
            <a:headEnd type="triangle" w="sm" len="sm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A05B08D-21E3-400A-AC7D-BD13ED072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429250"/>
            <a:ext cx="1952625" cy="781050"/>
          </a:xfrm>
          <a:prstGeom xmlns:a="http://schemas.openxmlformats.org/drawingml/2006/main" prst="roundRect">
            <a:avLst>
              <a:gd name="adj" fmla="val 170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9D2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D7FD82C-E417-452B-99E9-9EA1063B3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5562600"/>
            <a:ext cx="16097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 i="0">
                <a:solidFill>
                  <a:srgbClr val="063A32"/>
                </a:solidFill>
                <a:latin typeface="Heiti SC"/>
                <a:ea typeface="Heiti SC"/>
                <a:cs typeface="Heiti SC"/>
              </a:defRPr>
            </a:pPr>
            <a:r>
              <a:rPr sz="1500" b="1" i="0">
                <a:solidFill>
                  <a:srgbClr val="063A32"/>
                </a:solidFill>
                <a:latin typeface="Heiti SC"/>
                <a:ea typeface="Heiti SC"/>
                <a:cs typeface="Heiti SC"/>
              </a:rPr>
              <a:t>数据源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1D5B6E2-C2CF-4F01-BAD5-02742CD4C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886450"/>
            <a:ext cx="17240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0" i="0">
                <a:solidFill>
                  <a:srgbClr val="64736E"/>
                </a:solidFill>
                <a:latin typeface="Heiti SC"/>
                <a:ea typeface="Heiti SC"/>
                <a:cs typeface="Heiti SC"/>
              </a:defRPr>
            </a:pPr>
            <a:r>
              <a:rPr sz="975" b="0" i="0">
                <a:solidFill>
                  <a:srgbClr val="64736E"/>
                </a:solidFill>
                <a:latin typeface="Heiti SC"/>
                <a:ea typeface="Heiti SC"/>
                <a:cs typeface="Heiti SC"/>
              </a:rPr>
              <a:t>授权的数据库与服务</a:t>
            </a:r>
          </a:p>
        </p:txBody>
      </p:sp>
      <p:cxnSp>
        <p:nvCxnSpPr>
          <p:cNvPr id="76" name=""/>
          <p:cNvCxnSpPr>
            <a:stCxn xmlns:a="http://schemas.openxmlformats.org/drawingml/2006/main" id="25" idx="3"/>
            <a:endCxn xmlns:a="http://schemas.openxmlformats.org/drawingml/2006/main" id="6" idx="2"/>
          </p:cNvCxnSpPr>
          <p:nvPr/>
        </p:nvCxnSpPr>
        <p:spPr>
          <a:xfrm xmlns:a="http://schemas.openxmlformats.org/drawingml/2006/main" flipH="1" flipV="1">
            <a:off x="2809875" y="3609975"/>
            <a:ext cx="666750" cy="220980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80B5A6"/>
            </a:solidFill>
            <a:prstDash val="solid"/>
            <a:headEnd type="triangle" w="sm" len="sm"/>
          </a:ln>
        </p:spPr>
      </p:cxn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A4C2394-8A1D-4CBF-A306-2D079A94A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5429250"/>
            <a:ext cx="1952625" cy="781050"/>
          </a:xfrm>
          <a:prstGeom xmlns:a="http://schemas.openxmlformats.org/drawingml/2006/main" prst="roundRect">
            <a:avLst>
              <a:gd name="adj" fmla="val 170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9D2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D1F23F5-F7CA-4ACD-A43B-BE4A17EBB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5562600"/>
            <a:ext cx="16097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 i="0">
                <a:solidFill>
                  <a:srgbClr val="063A32"/>
                </a:solidFill>
                <a:latin typeface="Heiti SC"/>
                <a:ea typeface="Heiti SC"/>
                <a:cs typeface="Heiti SC"/>
              </a:defRPr>
            </a:pPr>
            <a:r>
              <a:rPr sz="1500" b="1" i="0">
                <a:solidFill>
                  <a:srgbClr val="063A32"/>
                </a:solidFill>
                <a:latin typeface="Heiti SC"/>
                <a:ea typeface="Heiti SC"/>
                <a:cs typeface="Heiti SC"/>
              </a:rPr>
              <a:t>计算环境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9C3947A-DA3E-4336-9344-CECB9F369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5886450"/>
            <a:ext cx="17240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0" i="0">
                <a:solidFill>
                  <a:srgbClr val="64736E"/>
                </a:solidFill>
                <a:latin typeface="Heiti SC"/>
                <a:ea typeface="Heiti SC"/>
                <a:cs typeface="Heiti SC"/>
              </a:defRPr>
            </a:pPr>
            <a:r>
              <a:rPr sz="975" b="0" i="0">
                <a:solidFill>
                  <a:srgbClr val="64736E"/>
                </a:solidFill>
                <a:latin typeface="Heiti SC"/>
                <a:ea typeface="Heiti SC"/>
                <a:cs typeface="Heiti SC"/>
              </a:rPr>
              <a:t>本机已有计算能力</a:t>
            </a:r>
          </a:p>
        </p:txBody>
      </p:sp>
      <p:cxnSp>
        <p:nvCxnSpPr>
          <p:cNvPr id="80" name=""/>
          <p:cNvCxnSpPr>
            <a:stCxn xmlns:a="http://schemas.openxmlformats.org/drawingml/2006/main" id="29" idx="3"/>
            <a:endCxn xmlns:a="http://schemas.openxmlformats.org/drawingml/2006/main" id="6" idx="2"/>
          </p:cNvCxnSpPr>
          <p:nvPr/>
        </p:nvCxnSpPr>
        <p:spPr>
          <a:xfrm xmlns:a="http://schemas.openxmlformats.org/drawingml/2006/main" flipH="1" flipV="1">
            <a:off x="2809875" y="3609975"/>
            <a:ext cx="2876550" cy="220980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80B5A6"/>
            </a:solidFill>
            <a:prstDash val="solid"/>
            <a:headEnd type="triangle" w="sm" len="sm"/>
          </a:ln>
        </p:spPr>
      </p:cxn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A114BFC-066B-46E7-8FDC-BCB811704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1743075"/>
            <a:ext cx="4638675" cy="4152900"/>
          </a:xfrm>
          <a:prstGeom xmlns:a="http://schemas.openxmlformats.org/drawingml/2006/main" prst="roundRect">
            <a:avLst>
              <a:gd name="adj" fmla="val 4587"/>
            </a:avLst>
          </a:prstGeom>
          <a:solidFill xmlns:a="http://schemas.openxmlformats.org/drawingml/2006/main">
            <a:srgbClr val="003A32"/>
          </a:solidFill>
          <a:ln xmlns:a="http://schemas.openxmlformats.org/drawingml/2006/main" w="9525">
            <a:solidFill>
              <a:srgbClr val="003A32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65A6D35-A233-4267-8E8C-7907A63C2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13360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00C86F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 i="0">
                <a:solidFill>
                  <a:srgbClr val="00C86F"/>
                </a:solidFill>
                <a:latin typeface="Avenir Next"/>
                <a:ea typeface="Avenir Next"/>
                <a:cs typeface="Avenir Next"/>
              </a:rPr>
              <a:t>SCIENCEX 使用边界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196FD89-A6B3-45C8-83F3-D7A984310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676525"/>
            <a:ext cx="4000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00C86F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00C86F"/>
                </a:solidFill>
                <a:latin typeface="Avenir Next"/>
                <a:ea typeface="Avenir Next"/>
                <a:cs typeface="Avenir Next"/>
              </a:rPr>
              <a:t>01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50E74A1-98DB-4793-8AE9-5C2B1525B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6479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 i="0">
                <a:solidFill>
                  <a:srgbClr val="FFFFFF"/>
                </a:solidFill>
                <a:latin typeface="Songti SC"/>
                <a:ea typeface="Songti SC"/>
                <a:cs typeface="Songti SC"/>
              </a:defRPr>
            </a:pPr>
            <a:r>
              <a:rPr sz="1725" b="1" i="0">
                <a:solidFill>
                  <a:srgbClr val="FFFFFF"/>
                </a:solidFill>
                <a:latin typeface="Songti SC"/>
                <a:ea typeface="Songti SC"/>
                <a:cs typeface="Songti SC"/>
              </a:rPr>
              <a:t>AI 纠错，不替你写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7FE3540-85B5-445F-A2CD-F41F29121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114675"/>
            <a:ext cx="371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675B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CF03BF1-00A3-45C7-810A-A5F128623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362325"/>
            <a:ext cx="4000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00C86F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00C86F"/>
                </a:solidFill>
                <a:latin typeface="Avenir Next"/>
                <a:ea typeface="Avenir Next"/>
                <a:cs typeface="Avenir Next"/>
              </a:rPr>
              <a:t>02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4C333F0-7647-47F3-AD1F-A06FF08CB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3337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 i="0">
                <a:solidFill>
                  <a:srgbClr val="FFFFFF"/>
                </a:solidFill>
                <a:latin typeface="Songti SC"/>
                <a:ea typeface="Songti SC"/>
                <a:cs typeface="Songti SC"/>
              </a:defRPr>
            </a:pPr>
            <a:r>
              <a:rPr sz="1725" b="1" i="0">
                <a:solidFill>
                  <a:srgbClr val="FFFFFF"/>
                </a:solidFill>
                <a:latin typeface="Songti SC"/>
                <a:ea typeface="Songti SC"/>
                <a:cs typeface="Songti SC"/>
              </a:rPr>
              <a:t>AI 初筛，不替你读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6D6F390-A3D8-47DA-9D95-D92B27F84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800475"/>
            <a:ext cx="371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675B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82C04DF-EB7E-4AC2-AAB3-BAB2A413C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4048125"/>
            <a:ext cx="4000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00C86F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00C86F"/>
                </a:solidFill>
                <a:latin typeface="Avenir Next"/>
                <a:ea typeface="Avenir Next"/>
                <a:cs typeface="Avenir Next"/>
              </a:rPr>
              <a:t>03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93082E8-160A-4710-8E68-27252A8FD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0195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 i="0">
                <a:solidFill>
                  <a:srgbClr val="FFFFFF"/>
                </a:solidFill>
                <a:latin typeface="Songti SC"/>
                <a:ea typeface="Songti SC"/>
                <a:cs typeface="Songti SC"/>
              </a:defRPr>
            </a:pPr>
            <a:r>
              <a:rPr sz="1725" b="1" i="0">
                <a:solidFill>
                  <a:srgbClr val="FFFFFF"/>
                </a:solidFill>
                <a:latin typeface="Songti SC"/>
                <a:ea typeface="Songti SC"/>
                <a:cs typeface="Songti SC"/>
              </a:rPr>
              <a:t>数据有边界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F7C7BA4-443A-44DC-9023-D4AA08A91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4486275"/>
            <a:ext cx="371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675B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8E88585-5BA2-4084-A98B-AD83F60AE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4733925"/>
            <a:ext cx="4000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00C86F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00C86F"/>
                </a:solidFill>
                <a:latin typeface="Avenir Next"/>
                <a:ea typeface="Avenir Next"/>
                <a:cs typeface="Avenir Next"/>
              </a:rPr>
              <a:t>04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809E448-F3C5-49CE-AFF8-91E59E856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7053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 i="0">
                <a:solidFill>
                  <a:srgbClr val="FFFFFF"/>
                </a:solidFill>
                <a:latin typeface="Songti SC"/>
                <a:ea typeface="Songti SC"/>
                <a:cs typeface="Songti SC"/>
              </a:defRPr>
            </a:pPr>
            <a:r>
              <a:rPr sz="1725" b="1" i="0">
                <a:solidFill>
                  <a:srgbClr val="FFFFFF"/>
                </a:solidFill>
                <a:latin typeface="Songti SC"/>
                <a:ea typeface="Songti SC"/>
                <a:cs typeface="Songti SC"/>
              </a:rPr>
              <a:t>不夸大结果与结论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342B0AD-6A96-4294-A10B-A64A76408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5457825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 i="0">
                <a:solidFill>
                  <a:srgbClr val="CFE2DB"/>
                </a:solidFill>
                <a:latin typeface="Heiti SC"/>
                <a:ea typeface="Heiti SC"/>
                <a:cs typeface="Heiti SC"/>
              </a:defRPr>
            </a:pPr>
            <a:r>
              <a:rPr sz="1200" b="1" i="0">
                <a:solidFill>
                  <a:srgbClr val="CFE2DB"/>
                </a:solidFill>
                <a:latin typeface="Heiti SC"/>
                <a:ea typeface="Heiti SC"/>
                <a:cs typeface="Heiti SC"/>
              </a:rPr>
              <a:t>关键证据仍需人工复核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C133AB2-AFD3-46D2-AF74-8C44B0D88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CD9D2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386AEA6-7A65-4FB7-9E70-E3C2F486D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91300"/>
            <a:ext cx="1714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 i="0">
                <a:solidFill>
                  <a:srgbClr val="7B8B85"/>
                </a:solidFill>
                <a:latin typeface="Avenir Next"/>
                <a:ea typeface="Avenir Next"/>
                <a:cs typeface="Avenir Next"/>
              </a:defRPr>
            </a:pPr>
            <a:r>
              <a:rPr sz="750" b="1" i="0">
                <a:solidFill>
                  <a:srgbClr val="7B8B85"/>
                </a:solidFill>
                <a:latin typeface="Avenir Next"/>
                <a:ea typeface="Avenir Next"/>
                <a:cs typeface="Avenir Next"/>
              </a:rPr>
              <a:t>SCIENCEX · 11</a:t>
            </a:r>
          </a:p>
        </p:txBody>
      </p:sp>
    </p:spTree>
    <p:extLst>
      <p:ext uri="{BB962C8B-B14F-4D97-AF65-F5344CB8AC3E}">
        <p14:creationId xmlns:p14="http://schemas.microsoft.com/office/powerpoint/2010/main" val="180739689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028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029A841-35E8-4E94-AEB7-27EA3D661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C8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EE1442-AF43-49B7-88A7-135A9A897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24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00C86F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00C86F"/>
                </a:solidFill>
                <a:latin typeface="Avenir Next"/>
                <a:ea typeface="Avenir Next"/>
                <a:cs typeface="Avenir Next"/>
              </a:rPr>
              <a:t>09 · START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9969B3-52D9-47CB-90AF-8AB602F62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04900"/>
            <a:ext cx="533400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4125" b="1" i="0">
                <a:solidFill>
                  <a:srgbClr val="FFFFFF"/>
                </a:solidFill>
                <a:latin typeface="Songti SC"/>
                <a:ea typeface="Songti SC"/>
                <a:cs typeface="Songti SC"/>
              </a:defRPr>
            </a:pPr>
            <a:r>
              <a:rPr sz="4125" b="1" i="0">
                <a:solidFill>
                  <a:srgbClr val="FFFFFF"/>
                </a:solidFill>
                <a:latin typeface="Songti SC"/>
                <a:ea typeface="Songti SC"/>
                <a:cs typeface="Songti SC"/>
              </a:rPr>
              <a:t>第一条链路，</a:t>
            </a:r>
          </a:p>
          <a:p xmlns:a="http://schemas.openxmlformats.org/drawingml/2006/main">
            <a:pPr algn="l">
              <a:lnSpc>
                <a:spcPct val="96000"/>
              </a:lnSpc>
              <a:buNone/>
              <a:defRPr sz="4125" b="1" i="0">
                <a:solidFill>
                  <a:srgbClr val="FFFFFF"/>
                </a:solidFill>
                <a:latin typeface="Songti SC"/>
                <a:ea typeface="Songti SC"/>
                <a:cs typeface="Songti SC"/>
              </a:defRPr>
            </a:pPr>
            <a:r>
              <a:rPr sz="4125" b="1" i="0">
                <a:solidFill>
                  <a:srgbClr val="FFFFFF"/>
                </a:solidFill>
                <a:latin typeface="Songti SC"/>
                <a:ea typeface="Songti SC"/>
                <a:cs typeface="Songti SC"/>
              </a:rPr>
              <a:t>从一个真实问题开始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C8AC72-EAAC-4EF9-81E6-01E4C95F7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718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00C86F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00C86F"/>
                </a:solidFill>
                <a:latin typeface="Avenir Next"/>
                <a:ea typeface="Avenir Next"/>
                <a:cs typeface="Avenir Next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A43DAF-3B16-4FF6-9B41-AE60C4EA3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86125"/>
            <a:ext cx="3143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 i="0">
                <a:solidFill>
                  <a:srgbClr val="FFFFFF"/>
                </a:solidFill>
                <a:latin typeface="Songti SC"/>
                <a:ea typeface="Songti SC"/>
                <a:cs typeface="Songti SC"/>
              </a:defRPr>
            </a:pPr>
            <a:r>
              <a:rPr sz="1725" b="1" i="0">
                <a:solidFill>
                  <a:srgbClr val="FFFFFF"/>
                </a:solidFill>
                <a:latin typeface="Songti SC"/>
                <a:ea typeface="Songti SC"/>
                <a:cs typeface="Songti SC"/>
              </a:rPr>
              <a:t>打开本地研究项目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5E904A-7D9D-4932-9E2C-0C0CEE552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114675"/>
            <a:ext cx="285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6806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C36171-7DF5-4CC1-8A11-5251E125C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9718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00C86F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00C86F"/>
                </a:solidFill>
                <a:latin typeface="Avenir Next"/>
                <a:ea typeface="Avenir Next"/>
                <a:cs typeface="Avenir Next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38A9A6-28BE-4EA9-A606-E5BF3570C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3286125"/>
            <a:ext cx="3143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 i="0">
                <a:solidFill>
                  <a:srgbClr val="FFFFFF"/>
                </a:solidFill>
                <a:latin typeface="Songti SC"/>
                <a:ea typeface="Songti SC"/>
                <a:cs typeface="Songti SC"/>
              </a:defRPr>
            </a:pPr>
            <a:r>
              <a:rPr sz="1725" b="1" i="0">
                <a:solidFill>
                  <a:srgbClr val="FFFFFF"/>
                </a:solidFill>
                <a:latin typeface="Songti SC"/>
                <a:ea typeface="Songti SC"/>
                <a:cs typeface="Songti SC"/>
              </a:rPr>
              <a:t>说清范围、格式和验收条件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6FE700-30D4-4CE5-B64C-DDFE5C971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3114675"/>
            <a:ext cx="285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6806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EB02A2-51EA-4BF2-99CF-14B400AE6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9718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00C86F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00C86F"/>
                </a:solidFill>
                <a:latin typeface="Avenir Next"/>
                <a:ea typeface="Avenir Next"/>
                <a:cs typeface="Avenir Next"/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4593FA-02F7-476C-A1FC-63101BA31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286125"/>
            <a:ext cx="3143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 i="0">
                <a:solidFill>
                  <a:srgbClr val="FFFFFF"/>
                </a:solidFill>
                <a:latin typeface="Songti SC"/>
                <a:ea typeface="Songti SC"/>
                <a:cs typeface="Songti SC"/>
              </a:defRPr>
            </a:pPr>
            <a:r>
              <a:rPr sz="1725" b="1" i="0">
                <a:solidFill>
                  <a:srgbClr val="FFFFFF"/>
                </a:solidFill>
                <a:latin typeface="Songti SC"/>
                <a:ea typeface="Songti SC"/>
                <a:cs typeface="Songti SC"/>
              </a:rPr>
              <a:t>检查来源、产物与下一步建议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039D938-2ED4-4C2D-B53D-0657E8056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57675"/>
            <a:ext cx="10934700" cy="1285875"/>
          </a:xfrm>
          <a:prstGeom xmlns:a="http://schemas.openxmlformats.org/drawingml/2006/main" prst="roundRect">
            <a:avLst>
              <a:gd name="adj" fmla="val 11852"/>
            </a:avLst>
          </a:prstGeom>
          <a:solidFill xmlns:a="http://schemas.openxmlformats.org/drawingml/2006/main">
            <a:srgbClr val="0A4A3F"/>
          </a:solidFill>
          <a:ln xmlns:a="http://schemas.openxmlformats.org/drawingml/2006/main" w="9525">
            <a:solidFill>
              <a:srgbClr val="28716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C37E86-C70D-4F92-911E-3535B1C13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45770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 i="0">
                <a:solidFill>
                  <a:srgbClr val="00C86F"/>
                </a:solidFill>
                <a:latin typeface="Heiti SC"/>
                <a:ea typeface="Heiti SC"/>
                <a:cs typeface="Heiti SC"/>
              </a:defRPr>
            </a:pPr>
            <a:r>
              <a:rPr sz="900" b="1" i="0">
                <a:solidFill>
                  <a:srgbClr val="00C86F"/>
                </a:solidFill>
                <a:latin typeface="Heiti SC"/>
                <a:ea typeface="Heiti SC"/>
                <a:cs typeface="Heiti SC"/>
              </a:rPr>
              <a:t>可以直接开始的示例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524749F-5CAF-4BB6-8A25-3AB25121A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800600"/>
            <a:ext cx="10401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3000"/>
              </a:lnSpc>
              <a:buNone/>
              <a:defRPr sz="1500" b="1" i="0">
                <a:solidFill>
                  <a:srgbClr val="FFFFFF"/>
                </a:solidFill>
                <a:latin typeface="Heiti SC"/>
                <a:ea typeface="Heiti SC"/>
                <a:cs typeface="Heiti SC"/>
              </a:defRPr>
            </a:pPr>
            <a:r>
              <a:rPr sz="1500" b="1" i="0">
                <a:solidFill>
                  <a:srgbClr val="FFFFFF"/>
                </a:solidFill>
                <a:latin typeface="Heiti SC"/>
                <a:ea typeface="Heiti SC"/>
                <a:cs typeface="Heiti SC"/>
              </a:rPr>
              <a:t>“检索近三年关于 X 的代表论文，按方法、数据、结论和局限整理成表，每条附出处；先给 10 篇，找不到就明确说明，不要编造。”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FBFFD6E-49C7-403C-8F59-F010C1025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00075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 i="0">
                <a:solidFill>
                  <a:srgbClr val="00C86F"/>
                </a:solidFill>
                <a:latin typeface="Avenir Next"/>
                <a:ea typeface="Avenir Next"/>
                <a:cs typeface="Avenir Next"/>
              </a:defRPr>
            </a:pPr>
            <a:r>
              <a:rPr sz="1875" b="1" i="0">
                <a:solidFill>
                  <a:srgbClr val="00C86F"/>
                </a:solidFill>
                <a:latin typeface="Avenir Next"/>
                <a:ea typeface="Avenir Next"/>
                <a:cs typeface="Avenir Next"/>
              </a:rPr>
              <a:t>ScienceX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893F8C6-E078-40DA-A8F2-1FD4FFD80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60198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 i="0">
                <a:solidFill>
                  <a:srgbClr val="FFFFFF"/>
                </a:solidFill>
                <a:latin typeface="Songti SC"/>
                <a:ea typeface="Songti SC"/>
                <a:cs typeface="Songti SC"/>
              </a:defRPr>
            </a:pPr>
            <a:r>
              <a:rPr sz="1575" b="1" i="0">
                <a:solidFill>
                  <a:srgbClr val="FFFFFF"/>
                </a:solidFill>
                <a:latin typeface="Songti SC"/>
                <a:ea typeface="Songti SC"/>
                <a:cs typeface="Songti SC"/>
              </a:rPr>
              <a:t>科研工作台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0772854-C816-483A-A912-CD24CABBE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057900"/>
            <a:ext cx="3467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125" b="0" i="0">
                <a:solidFill>
                  <a:srgbClr val="A5C9BC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 i="0">
                <a:solidFill>
                  <a:srgbClr val="A5C9BC"/>
                </a:solidFill>
                <a:latin typeface="Avenir Next"/>
                <a:ea typeface="Avenir Next"/>
                <a:cs typeface="Avenir Next"/>
              </a:rPr>
              <a:t>github.com/insight68/ScienceX</a:t>
            </a:r>
          </a:p>
        </p:txBody>
      </p:sp>
    </p:spTree>
    <p:extLst>
      <p:ext uri="{BB962C8B-B14F-4D97-AF65-F5344CB8AC3E}">
        <p14:creationId xmlns:p14="http://schemas.microsoft.com/office/powerpoint/2010/main" val="199039281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2026-09-04T13:05:00.7450000Z</dcterms:created>
  <dcterms:modified xsi:type="dcterms:W3CDTF">2026-09-04T13:05:00.7450000Z</dcterms:modified>
</coreProperties>
</file>