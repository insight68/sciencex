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2e12cf21dc4ea0" /><Relationship Type="http://schemas.openxmlformats.org/officeDocument/2006/relationships/extended-properties" Target="/docProps/app.xml" Id="Rcbbc3e8fbf0343f7" /><Relationship Type="http://schemas.openxmlformats.org/officeDocument/2006/relationships/officeDocument" Target="/ppt/presentation.xml" Id="R8f22ffed8261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9a6c5e3b4427f"/>
  </p:sldMasterIdLst>
  <p:notesMasterIdLst>
    <p:notesMasterId xmlns:r="http://schemas.openxmlformats.org/officeDocument/2006/relationships" r:id="R0b5b86f024bb48a6"/>
  </p:notesMasterIdLst>
  <p:sldIdLst>
    <p:sldId xmlns:r="http://schemas.openxmlformats.org/officeDocument/2006/relationships" id="256" r:id="R927d869b0c2148b2"/>
    <p:sldId xmlns:r="http://schemas.openxmlformats.org/officeDocument/2006/relationships" id="257" r:id="Re44c7d61818b4775"/>
    <p:sldId xmlns:r="http://schemas.openxmlformats.org/officeDocument/2006/relationships" id="258" r:id="R414a797520b346cf"/>
    <p:sldId xmlns:r="http://schemas.openxmlformats.org/officeDocument/2006/relationships" id="259" r:id="R8ef67fdf21244f7c"/>
    <p:sldId xmlns:r="http://schemas.openxmlformats.org/officeDocument/2006/relationships" id="260" r:id="Reeecce28d47048b4"/>
    <p:sldId xmlns:r="http://schemas.openxmlformats.org/officeDocument/2006/relationships" id="261" r:id="R89c1d4dba9664507"/>
    <p:sldId xmlns:r="http://schemas.openxmlformats.org/officeDocument/2006/relationships" id="262" r:id="Re66978c3fbbb4c4b"/>
    <p:sldId xmlns:r="http://schemas.openxmlformats.org/officeDocument/2006/relationships" id="263" r:id="Rff9e1c8b61b44c30"/>
    <p:sldId xmlns:r="http://schemas.openxmlformats.org/officeDocument/2006/relationships" id="264" r:id="R7c804063f47544ae"/>
    <p:sldId xmlns:r="http://schemas.openxmlformats.org/officeDocument/2006/relationships" id="265" r:id="R5cffbc05ee9d4f3a"/>
    <p:sldId xmlns:r="http://schemas.openxmlformats.org/officeDocument/2006/relationships" id="266" r:id="R9eecc04aeabd4cbe"/>
    <p:sldId xmlns:r="http://schemas.openxmlformats.org/officeDocument/2006/relationships" id="267" r:id="R548aea53357540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941b07f644330" /><Relationship Type="http://schemas.openxmlformats.org/officeDocument/2006/relationships/slideMaster" Target="/ppt/slideMasters/slideMaster1.xml" Id="R2279a6c5e3b4427f" /><Relationship Type="http://schemas.openxmlformats.org/officeDocument/2006/relationships/notesMaster" Target="/ppt/notesMasters/notesMaster1.xml" Id="R0b5b86f024bb48a6" /><Relationship Type="http://schemas.openxmlformats.org/officeDocument/2006/relationships/presProps" Target="/ppt/presProps.xml" Id="Ra54b438d8f774f55" /><Relationship Type="http://schemas.openxmlformats.org/officeDocument/2006/relationships/tableStyles" Target="/ppt/tableStyles.xml" Id="Rdbbb83658d234ea4" /><Relationship Type="http://schemas.openxmlformats.org/officeDocument/2006/relationships/slide" Target="/ppt/slides/slide1.xml" Id="R927d869b0c2148b2" /><Relationship Type="http://schemas.openxmlformats.org/officeDocument/2006/relationships/slide" Target="/ppt/slides/slide2.xml" Id="Re44c7d61818b4775" /><Relationship Type="http://schemas.openxmlformats.org/officeDocument/2006/relationships/slide" Target="/ppt/slides/slide3.xml" Id="R414a797520b346cf" /><Relationship Type="http://schemas.openxmlformats.org/officeDocument/2006/relationships/slide" Target="/ppt/slides/slide4.xml" Id="R8ef67fdf21244f7c" /><Relationship Type="http://schemas.openxmlformats.org/officeDocument/2006/relationships/slide" Target="/ppt/slides/slide5.xml" Id="Reeecce28d47048b4" /><Relationship Type="http://schemas.openxmlformats.org/officeDocument/2006/relationships/slide" Target="/ppt/slides/slide6.xml" Id="R89c1d4dba9664507" /><Relationship Type="http://schemas.openxmlformats.org/officeDocument/2006/relationships/slide" Target="/ppt/slides/slide7.xml" Id="Re66978c3fbbb4c4b" /><Relationship Type="http://schemas.openxmlformats.org/officeDocument/2006/relationships/slide" Target="/ppt/slides/slide8.xml" Id="Rff9e1c8b61b44c30" /><Relationship Type="http://schemas.openxmlformats.org/officeDocument/2006/relationships/slide" Target="/ppt/slides/slide9.xml" Id="R7c804063f47544ae" /><Relationship Type="http://schemas.openxmlformats.org/officeDocument/2006/relationships/slide" Target="/ppt/slides/slide10.xml" Id="R5cffbc05ee9d4f3a" /><Relationship Type="http://schemas.openxmlformats.org/officeDocument/2006/relationships/slide" Target="/ppt/slides/slide11.xml" Id="R9eecc04aeabd4cbe" /><Relationship Type="http://schemas.openxmlformats.org/officeDocument/2006/relationships/slide" Target="/ppt/slides/slide12.xml" Id="R548aea53357540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e862bcf4e645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4e52010274f14" /><Relationship Type="http://schemas.openxmlformats.org/officeDocument/2006/relationships/notesMaster" Target="/ppt/notesMasters/notesMaster1.xml" Id="R770f096580074e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4475b62ee34374" /><Relationship Type="http://schemas.openxmlformats.org/officeDocument/2006/relationships/notesMaster" Target="/ppt/notesMasters/notesMaster1.xml" Id="Rff3cee1d2806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32e6d7a3e41f0" /><Relationship Type="http://schemas.openxmlformats.org/officeDocument/2006/relationships/notesMaster" Target="/ppt/notesMasters/notesMaster1.xml" Id="R7986de28551a4e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b3487aa74f4248" /><Relationship Type="http://schemas.openxmlformats.org/officeDocument/2006/relationships/notesMaster" Target="/ppt/notesMasters/notesMaster1.xml" Id="Rf97d260fca0f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188c147c644d4" /><Relationship Type="http://schemas.openxmlformats.org/officeDocument/2006/relationships/notesMaster" Target="/ppt/notesMasters/notesMaster1.xml" Id="R58db2ce4c31d4e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e542e0b5b44519" /><Relationship Type="http://schemas.openxmlformats.org/officeDocument/2006/relationships/notesMaster" Target="/ppt/notesMasters/notesMaster1.xml" Id="Rd6aab13761fd4e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6c246b2784082" /><Relationship Type="http://schemas.openxmlformats.org/officeDocument/2006/relationships/notesMaster" Target="/ppt/notesMasters/notesMaster1.xml" Id="R39d433a3938f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e01973166540c9" /><Relationship Type="http://schemas.openxmlformats.org/officeDocument/2006/relationships/notesMaster" Target="/ppt/notesMasters/notesMaster1.xml" Id="R181cc64277ea4b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b40ac92d7f4286" /><Relationship Type="http://schemas.openxmlformats.org/officeDocument/2006/relationships/notesMaster" Target="/ppt/notesMasters/notesMaster1.xml" Id="R27c5010c404747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1f44daadd44d8b" /><Relationship Type="http://schemas.openxmlformats.org/officeDocument/2006/relationships/notesMaster" Target="/ppt/notesMasters/notesMaster1.xml" Id="Refdaeb63a6124b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f6b2531a0d4109" /><Relationship Type="http://schemas.openxmlformats.org/officeDocument/2006/relationships/notesMaster" Target="/ppt/notesMasters/notesMaster1.xml" Id="Ra82f0f69c58242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d4549e7190409c" /><Relationship Type="http://schemas.openxmlformats.org/officeDocument/2006/relationships/notesMaster" Target="/ppt/notesMasters/notesMaster1.xml" Id="R7c2ecc26ac51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开场先给出一句话定位：ScienceX 是开源、本地优先、可追溯的 AI 科研工作台。</a:t>
            </a:r>
          </a:p>
          <a:p xmlns:a="http://schemas.openxmlformats.org/drawingml/2006/main">
            <a:r>
              <a:t>强调“工作台”三个字。它不是只回答问题的聊天框，而是承载研究项目、研究线程、工具调用、数据版本和研究产物的桌面环境。</a:t>
            </a:r>
          </a:p>
          <a:p xmlns:a="http://schemas.openxmlformats.org/drawingml/2006/main">
            <a:r>
              <a:t>这一页只建立共同语言：我们要解决的不是让 AI 说得更多，而是让研究过程更连续、更可核对。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科研时间经常被四类工作切碎：找资料、跟进度、追逻辑和改表达。它们重要，但重复、规模大，也容易丢上下文。</a:t>
            </a:r>
          </a:p>
          <a:p xmlns:a="http://schemas.openxmlformats.org/drawingml/2006/main">
            <a:r>
              <a:t>ScienceX 对每一类工作都要求留下可检查的产物。例如检索不是给几个链接，而是形成带出处的文献表；进度不是聊天记录，而是阶段总结和下一步清单。</a:t>
            </a:r>
          </a:p>
          <a:p xmlns:a="http://schemas.openxmlformats.org/drawingml/2006/main">
            <a:r>
              <a:t>右侧是不能外包的部分。研究者仍然决定读什么、信什么、优先做什么，以及结论是否成立。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ScienceX 的责任边界。左边是系统擅长的执行、整理、计算和记录，右边是研究者必须承担的判断。</a:t>
            </a:r>
          </a:p>
          <a:p xmlns:a="http://schemas.openxmlformats.org/drawingml/2006/main">
            <a:r>
              <a:t>中间的“确认”很关键。自动化结果只有在研究者检查来源、方法、告警和产物之后，才可以进入下一轮研究状态。</a:t>
            </a:r>
          </a:p>
          <a:p xmlns:a="http://schemas.openxmlformats.org/drawingml/2006/main">
            <a:r>
              <a:t>因此我们把当前运行模式明确写成 Human-driven Research Loop。ScienceX 能加速研究，但不替代研究者签署最终结论。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这里展示的是当前品牌首页中的真实产品界面，已经裁切并脱敏。</a:t>
            </a:r>
          </a:p>
          <a:p xmlns:a="http://schemas.openxmlformats.org/drawingml/2006/main">
            <a:r>
              <a:t>左侧研究线程承载研究问题、过程说明、文件和后续行动；右上是定时任务入口；右下是产品里可查看的科研 Skills。</a:t>
            </a:r>
          </a:p>
          <a:p xmlns:a="http://schemas.openxmlformats.org/drawingml/2006/main">
            <a:r>
              <a:t>这说明 ScienceX 的价值不在于功能数量，而在于这些能力是否在同一个研究上下文中持续工作。</a:t>
            </a:r>
          </a:p>
          <a:p xmlns:a="http://schemas.openxmlformats.org/drawingml/2006/main">
            <a:r>
              <a:t>定时任务也有明确边界：本地任务只在应用运行、设备保持唤醒时执行。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的核心不是线性工作流，而是 Research Loop。研究问题产生候选假设，假设需要证据与数据，再进入实验或计算。</a:t>
            </a:r>
          </a:p>
          <a:p xmlns:a="http://schemas.openxmlformats.org/drawingml/2006/main">
            <a:r>
              <a:t>结果必须连同边界一起被保存，然后转化成下一轮问题。闭环的价值，是每一轮都能知道我们改了什么、为什么改、结果如何变化。</a:t>
            </a:r>
          </a:p>
          <a:p xmlns:a="http://schemas.openxmlformats.org/drawingml/2006/main">
            <a:r>
              <a:t>底部的 Research Memory 是状态层。它保存目标、假设、数据版本、证据关系、关键决策、结果和未解决问题。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这一页刻意把现在、下一阶段和长期愿景分开，避免把未来能力当成现状。</a:t>
            </a:r>
          </a:p>
          <a:p xmlns:a="http://schemas.openxmlformats.org/drawingml/2006/main">
            <a:r>
              <a:t>当前可用的是 Research Assistant：研究线程、本地项目、科研 Skills、数据版本、确定性分析、证据和重放。</a:t>
            </a:r>
          </a:p>
          <a:p xmlns:a="http://schemas.openxmlformats.org/drawingml/2006/main">
            <a:r>
              <a:t>下一阶段才是更完整的 Research Agent，它需要在人工确认后组织计划、执行和验证。AI Scientist 是长期愿景，强调结果持续改变候选假设和研究方向。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这条案例用模拟细胞活力数据演示完整研究链路，三分钟内完成版本化实验设计、确定性 4PL 分析、技术证据评估和结果重放。</a:t>
            </a:r>
          </a:p>
          <a:p xmlns:a="http://schemas.openxmlformats.org/drawingml/2006/main">
            <a:r>
              <a:t>四个事实可以核对：24 个孔位、SHA-256 输入与产物哈希、固定原始版本重放，以及三类研究产物。</a:t>
            </a:r>
          </a:p>
          <a:p xmlns:a="http://schemas.openxmlformats.org/drawingml/2006/main">
            <a:r>
              <a:t>更重要的是，它保留失败和不确定性。缺孔输入会明确失败，弱响应会标记“技术证据尚无定论”，系统不会静默补值或把运行完成写成科学结论。</a:t>
            </a:r>
          </a:p>
          <a:p xmlns:a="http://schemas.openxmlformats.org/drawingml/2006/main">
            <a:r>
              <a:t>需要明确：这是产品教学中的模拟数据，不代表真实药效或湿实验验证。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一次研究推进分成五个动作。先理解当前问题和证据，再形成计划，之后调用已授权能力执行。</a:t>
            </a:r>
          </a:p>
          <a:p xmlns:a="http://schemas.openxmlformats.org/drawingml/2006/main">
            <a:r>
              <a:t>执行后必须验证输入、结果、告警和产物，最后由研究者确认哪些状态值得保留。</a:t>
            </a:r>
          </a:p>
          <a:p xmlns:a="http://schemas.openxmlformats.org/drawingml/2006/main">
            <a:r>
              <a:t>底部的状态层把每次运行连接起来。这样下一次不是从空白聊天开始，而是从已有目标、假设、数据版本和未解决问题继续。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当前首页列出 20 个科研 Skills。它们按研究任务组织，而不是按技术栈堆叠。</a:t>
            </a:r>
          </a:p>
          <a:p xmlns:a="http://schemas.openxmlformats.org/drawingml/2006/main">
            <a:r>
              <a:t>这一页先看研究前半程：发现与检索、调研与推理、研究与实验。研究者能看到 Skill 的名称、用途和适用边界。</a:t>
            </a:r>
          </a:p>
          <a:p xmlns:a="http://schemas.openxmlformats.org/drawingml/2006/main">
            <a:r>
              <a:t>例如 scansci-pdf 负责论文获取流程，good-question 用评审式追问暴露论证缺口，experiment-design 把研究问题转成实验设计。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这一页是研究后半程。写作与呈现能力负责把研究过程组织成论文、图像、幻灯片、视频和课程产物。</a:t>
            </a:r>
          </a:p>
          <a:p xmlns:a="http://schemas.openxmlformats.org/drawingml/2006/main">
            <a:r>
              <a:t>审查与记忆能力负责论文审查、引用核对和长期上下文；能力评测则在采用新的 MCP 或 Skill 之前检查质量。</a:t>
            </a:r>
          </a:p>
          <a:p xmlns:a="http://schemas.openxmlformats.org/drawingml/2006/main">
            <a:r>
              <a:t>需要再次强调，已集成不等于无条件可运行。某些 Skills 需要本机依赖、外部服务或用户授权，ScienceX 不会默认获得论文库、数据库或其他系统的访问权。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可以连接本地文件、代码与终端、模型提供商、MCP、数据源和计算环境，但每一项都以本机配置和用户授权为前提。</a:t>
            </a:r>
          </a:p>
          <a:p xmlns:a="http://schemas.openxmlformats.org/drawingml/2006/main">
            <a:r>
              <a:t>连接环境不等于自动拥有访问权。ScienceX 不会默认获得数据库、论文库或第三方系统权限。</a:t>
            </a:r>
          </a:p>
          <a:p xmlns:a="http://schemas.openxmlformats.org/drawingml/2006/main">
            <a:r>
              <a:t>右侧四条边界是面向科研使用的底线：AI 可以纠错但不替代论证，可以初筛但不替代精读；敏感和未公开数据要先确认边界；运行结果不能被夸大成科学结论。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收束到一个可执行的开始方式。打开本地研究项目，说清范围、输出格式和验收条件，然后检查来源、产物与下一步建议。</a:t>
            </a:r>
          </a:p>
          <a:p xmlns:a="http://schemas.openxmlformats.org/drawingml/2006/main">
            <a:r>
              <a:t>示例指令故意包含四个约束：时间范围、整理维度、每条出处，以及找不到就明确说明。这些约束让任务可检查，也把“不要编造”写成验收标准。</a:t>
            </a:r>
          </a:p>
          <a:p xmlns:a="http://schemas.openxmlformats.org/drawingml/2006/main">
            <a:r>
              <a:t>最后回到产品定位：ScienceX 是科研工作台。它让研究问题、证据、运行和下一步进入同一条可追溯链路。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7177c2d5e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e931320cb4f3d" /><Relationship Type="http://schemas.openxmlformats.org/officeDocument/2006/relationships/slideLayout" Target="/ppt/slideLayouts/slideLayout1.xml" Id="Rac5999e9eebe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999e9eebe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a9a6959f24cf9" /><Relationship Type="http://schemas.openxmlformats.org/officeDocument/2006/relationships/notesSlide" Target="/ppt/notesSlides/notesSlide1.xml" Id="R7b48fe64530f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f0b241dec45c6" /><Relationship Type="http://schemas.openxmlformats.org/officeDocument/2006/relationships/notesSlide" Target="/ppt/notesSlides/notesSlide2.xml" Id="Rd56b36f76a70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f02a04b584298" /><Relationship Type="http://schemas.openxmlformats.org/officeDocument/2006/relationships/notesSlide" Target="/ppt/notesSlides/notesSlide3.xml" Id="R97048ea2d9314b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cbb68d4944b37" /><Relationship Type="http://schemas.openxmlformats.org/officeDocument/2006/relationships/image" Target="/ppt/media/image.png" Id="R96f4746e42554bac" /><Relationship Type="http://schemas.openxmlformats.org/officeDocument/2006/relationships/notesSlide" Target="/ppt/notesSlides/notesSlide4.xml" Id="R1044ce74c4b845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aab30c6374cb7" /><Relationship Type="http://schemas.openxmlformats.org/officeDocument/2006/relationships/notesSlide" Target="/ppt/notesSlides/notesSlide5.xml" Id="Re3a0a2400ffc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b5839264b42f8" /><Relationship Type="http://schemas.openxmlformats.org/officeDocument/2006/relationships/notesSlide" Target="/ppt/notesSlides/notesSlide6.xml" Id="R09b1d7f3265d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792e1f37400e" /><Relationship Type="http://schemas.openxmlformats.org/officeDocument/2006/relationships/image" Target="/ppt/media/image2.png" Id="R47a8b5c158374110" /><Relationship Type="http://schemas.openxmlformats.org/officeDocument/2006/relationships/notesSlide" Target="/ppt/notesSlides/notesSlide7.xml" Id="R23a999143bac42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e04863b3b4888" /><Relationship Type="http://schemas.openxmlformats.org/officeDocument/2006/relationships/notesSlide" Target="/ppt/notesSlides/notesSlide8.xml" Id="Rce71c7c4201d43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e2cba6c2f49b0" /><Relationship Type="http://schemas.openxmlformats.org/officeDocument/2006/relationships/notesSlide" Target="/ppt/notesSlides/notesSlide9.xml" Id="Red7043d1334c42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89786a787461f" /><Relationship Type="http://schemas.openxmlformats.org/officeDocument/2006/relationships/notesSlide" Target="/ppt/notesSlides/notesSlide10.xml" Id="R671c84f075004d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61ba1e7bf497b" /><Relationship Type="http://schemas.openxmlformats.org/officeDocument/2006/relationships/notesSlide" Target="/ppt/notesSlides/notesSlide11.xml" Id="R82679f880fd04f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c3faab6164f2e" /><Relationship Type="http://schemas.openxmlformats.org/officeDocument/2006/relationships/notesSlide" Target="/ppt/notesSlides/notesSlide12.xml" Id="Rb5cf5313512740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0AA1A-858D-409E-AA94-F3869390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8055D-36C4-4BBE-95A5-232F18B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OPEN SOURCE · LOCAL FIRST ·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A4CE8-4BC7-4261-8112-CDD90751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0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A2102-0C25-430D-B508-B085B900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7F95-E50B-4031-8B72-D7E646B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让研究问题、证据与下一步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进入同一条可追溯链路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16704-695B-4844-8B61-5A007FC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04900"/>
            <a:ext cx="295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EE340-3625-473D-BD53-8389C4A5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810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319B6-303A-4036-AA13-51A0C35F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476375" cy="1476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3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A18A4-906D-47B0-9A75-CB09277E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本地数据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636B1-2DE0-4844-9AFC-61D74E7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开放源码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D0AFB-C637-4A5C-B0AD-D5BB940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381125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跨平台桌面端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DD014-E089-408C-B70A-4908C38D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SCIENCEX · BRAND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581F7-3AAF-46E1-88C5-3E8A0E8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706131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BBD9F3-B792-4FEE-A6CA-F2E81115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59D7-298E-4018-8342-9A2FE076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DAILY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0D863-D9A4-44D7-A767-E9825E5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四件重复工作交给 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4ED9C-C015-433E-B321-2B61493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科研最稀缺的不是信息，而是研究者的注意力。可重复、可检查的工作交给系统，关键判断留给研究者。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5C964-8D08-4F8C-89AB-1EC0AAC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2D1C4-DDAC-499A-958E-6909D594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重复工作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3FFB-C5FC-459A-A8CC-6BFF8AA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形成产物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A3101-7B83-4C9E-A589-4618FD83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研究者保留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A1E23-F7D2-49E2-AF6F-F2ABAFB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47A8C-BAAA-48C8-B363-9A59400B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A6142-C167-43EC-BA1F-ED229A7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搜索资料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6CE99-FCB8-40CD-A06E-EAC6072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带出处的文献表与证据摘要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923A5-ECA9-4982-A618-31DCD49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决定精读什么、相信什么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B765E-59D8-4B67-855A-943E75F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6AD2D-2A01-40B5-83B4-6DFE57E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41D07-498E-4CDE-807A-15C76363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进度跟踪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EBF25-7FCE-41BC-9C8A-3D8E6B7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进度板、阶段总结与下一步清单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98824-FEF7-4C77-A8F9-5FF1054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决定优先级和研究方向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D979D-979B-4CDB-B58B-FA880A7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2A759-5155-438D-86F5-F48703B4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37FC0-A32D-4F7B-AF57-9ED3411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理清逻辑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894BB-0B37-40CF-9CB9-919D9136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论证缺口与待验证问题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48288-19A9-4853-9B9E-A4A75F4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回答关键问题、修正论证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17F95-4468-4E6E-9F0B-AF6CAFA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96F67-2BEE-4AE6-95CC-A455257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3ECAC-6B15-465D-AA85-7043FFE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修改表达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AB812-28CB-4C25-B5C8-924D846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修改建议、差异记录与风格档案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6593A-D9BB-4AE4-8A8E-D5CB591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保留观点、结论和个人风格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11C4D-3FEC-4EEE-8AA5-4244D3B4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82CF5-F5A8-46C5-9782-DE4CC35D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9230D-499E-4DC7-9833-9F13F58B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提速的关键不是让 AI 代替思考，而是让它接手重复工作，并把证据和下一步留在研究过程里。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4FCFA-06ED-4380-B797-B1AB1DC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B09CCC-FAD0-4549-9820-B2DA3EA5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02</a:t>
            </a:r>
          </a:p>
        </p:txBody>
      </p:sp>
    </p:spTree>
    <p:extLst>
      <p:ext uri="{BB962C8B-B14F-4D97-AF65-F5344CB8AC3E}">
        <p14:creationId xmlns:p14="http://schemas.microsoft.com/office/powerpoint/2010/main" val="236606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20D58-7743-4B81-975C-F7FB5F9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BE13-8F3F-4E81-93A6-CC84A7E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7B992-676E-4B3C-B325-9777E6F5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系统执行，研究者判断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14257-6CF4-4D8D-8357-0F38CE7D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高风险操作需要授权，关键证据需要人工复核。ScienceX 承担执行和记录，研究者承担科学判断。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1BB82-8996-44AC-8649-427F82D8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020EB-6911-47EE-B9D6-C5A4530E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5219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6E296-5531-4C13-945D-05535AE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5600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9308A-25EB-4E4D-A024-0FE94690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1E4B-5F19-4703-A5DC-DB416D24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执行与记录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27292-4B41-440C-A889-30285D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检索、阅读与整理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编码、计算与比较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执行获得授权的工具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保存过程和候选假设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1B3B3-A528-4D6C-9B83-25A089F4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F39FE-959B-49AC-9BFF-811D9038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科学判断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6BEBF-7848-48A7-9233-0776600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提出重要研究问题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审核方案与关键证据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判断结果是否成立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决定下一轮研究方向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0DFA1-3478-4B1E-90E7-9499FBA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45480-90DA-4C25-B794-4D86D01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242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E88A6-7635-45C2-84BC-0DE2032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34050"/>
            <a:ext cx="889635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63A32"/>
          </a:solidFill>
          <a:ln xmlns:a="http://schemas.openxmlformats.org/drawingml/2006/main" w="9525">
            <a:solidFill>
              <a:srgbClr val="06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0DC22-F434-4DE3-A7A0-91FF340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Human-driven Research Loop  ·  研究者发起、授权、复核并作出最终判断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B775F-E6D2-46C5-939D-8EDEC27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1514D-A663-44F7-8216-AFFCE77E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03</a:t>
            </a:r>
          </a:p>
        </p:txBody>
      </p:sp>
    </p:spTree>
    <p:extLst>
      <p:ext uri="{BB962C8B-B14F-4D97-AF65-F5344CB8AC3E}">
        <p14:creationId xmlns:p14="http://schemas.microsoft.com/office/powerpoint/2010/main" val="1252650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D8D32-4548-4592-9987-0B8088E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13C0-FF17-4011-9150-35F99BF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PRODUCT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6F36-FB21-4B56-9B48-2A203C6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产品已经进入研究过程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41D38-6A27-43DE-9961-C87A67D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研究项目、研究线程、定时任务与科研 Skills，已经进入同一个桌面工作台。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BC325-ED32-465B-B1E7-2971CC47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4746e42554bac"/>
          <a:srcRect xmlns:a="http://schemas.openxmlformats.org/drawingml/2006/main" l="0" t="5685" r="0" b="5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19250"/>
            <a:ext cx="11087100" cy="4572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5E114-225C-43DB-A1D9-D8ED27C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832D1-5EBC-4A2C-9F5C-D383E034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04</a:t>
            </a:r>
          </a:p>
        </p:txBody>
      </p:sp>
    </p:spTree>
    <p:extLst>
      <p:ext uri="{BB962C8B-B14F-4D97-AF65-F5344CB8AC3E}">
        <p14:creationId xmlns:p14="http://schemas.microsoft.com/office/powerpoint/2010/main" val="1721636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CB6D4B-0505-4034-A71B-F316E562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D45AD-C2F6-457F-9020-837BD87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EF7AE-1A82-4525-A89D-EBC0134B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科研不是一次性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63C01-25A1-46B9-B969-1343A2DC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rPr>
              <a:t>结果不是终点，而是下一轮研究的输入。ScienceX 保存状态并执行任务，研究者判断证据与方向。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E69FF-36E7-4075-B39E-052E9BE3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F5667-84DA-46DC-BDDF-2AB77E3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4BF18-3203-4081-B872-69B4B70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9C70F-86E0-46BA-9987-11EC0A6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E5F71-9E24-44B3-A6C2-F2F9225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EBB27-6F26-406D-92DC-D24B3F9D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AA646-651D-4958-BF56-C5D42B8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56F83-B4F4-4798-91BD-E484402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候选假设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ED7D1-75F9-40C3-9CB1-C01CE90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319C7-F39E-40D5-B171-E50D7DE5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184F4-1121-4141-B506-9D8763A5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84DF6-5719-42CA-AADC-D3A0FA1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0EC3C-5EE3-437A-A1D1-28E7892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60B44-0ABD-4C61-9F86-298BF3F6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C4893-10D8-49DF-BE8D-07A6F18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3B536-F42F-4F50-960F-377AAE0F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实验 / 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0029A-22E3-42DD-9919-184A3F3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3BFD2-84C9-49A2-A254-E8CB880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0E74E-C095-4B8C-9D72-1904886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AE449-844A-494B-AEAE-2E4455E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1B683-F686-4F0B-92EC-B1459A6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BFAF1-069B-41BD-A62B-37AD1A8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14288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179C1-464E-4150-B57B-FBEBF46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750C9-88DD-47F8-88FD-558158AB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rPr>
              <a:t>下一轮问题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34830-3E96-4483-A165-F9FFADB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rPr>
              <a:t>Next question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336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05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343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012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19225" y="3200400"/>
            <a:ext cx="93345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00C86F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34D5E-7103-4FCE-A85C-8BDF866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8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63D34"/>
          </a:solidFill>
          <a:ln xmlns:a="http://schemas.openxmlformats.org/drawingml/2006/main" w="9525">
            <a:solidFill>
              <a:srgbClr val="1B66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FBC0E-288B-4DAB-95DC-BF69B11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26E01C-DEDE-47E6-9758-B22150B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925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研究目标 · 候选假设 · 数据版本 · 证据关系 · 关键决策 · 结果 · 未解决问题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5C49F3-86E1-4008-BF97-B672F77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rPr>
              <a:t>当前闭环由研究者驱动。ScienceX 协助执行、记录与重放，不替代最终科学判断。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394519-4EF1-4612-873D-FE876CA3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58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775756-6A84-478E-B09C-AFD679C4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rPr>
              <a:t>SCIENCEX · 05</a:t>
            </a:r>
          </a:p>
        </p:txBody>
      </p:sp>
    </p:spTree>
    <p:extLst>
      <p:ext uri="{BB962C8B-B14F-4D97-AF65-F5344CB8AC3E}">
        <p14:creationId xmlns:p14="http://schemas.microsoft.com/office/powerpoint/2010/main" val="732633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3D5D2-5E53-4053-BFCF-C84E967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084F-9C67-4B52-995F-CBFE4EB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CAPABILITY 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16EED-39D3-46AB-92F7-7435677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从回答问题，到持续推进研究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272AF-A01E-489E-9BA0-4D587A1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产品能力与长期愿景分开表达。当前可用、下一阶段与长期愿景，不混在同一张能力清单里。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D49D7-3618-4A4A-AA09-2996E1DB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D70E5-26F8-4CAC-812A-AF6F9BC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F500E-A131-418C-BE20-5C3462A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19813-039B-4E9C-87AE-2A73B43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2821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002821"/>
                </a:solidFill>
                <a:latin typeface="Heiti SC"/>
                <a:ea typeface="Heiti SC"/>
                <a:cs typeface="Heiti SC"/>
              </a:rPr>
              <a:t>当前可用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72712-06F8-40B0-9FB7-DCEBBA71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B44C2-15F3-469A-B9DD-BF01A08F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研究线程、本地项目、科研 Skills、数据版本、确定性分析、证据与重放。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F80F1-15AB-458D-83F0-3B7A933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C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B066A-B552-407B-8BD9-DF6747C3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保存上下文 · 执行与记录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34122-49BD-4FCE-A2BE-7C22129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A8315-DA66-4848-B243-1C957820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9DAA3-4BD9-4ECF-8A3E-F766D7B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D4FD5-6F0B-46FD-B953-4AB9923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6A549-A28D-4C79-B5C7-350D2570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更完整地组织计划、执行和验证，并在人工确认后更新研究状态。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B67E5-97AE-440D-9EF5-3AB84EA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43CAE-0E4E-4534-B713-E6985EBE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计划 · 执行 · 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3EF15-7F2C-4A88-A2B6-BA2339B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EF2A6-FCC7-4497-AF60-AB978CF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DEB4F-3047-4CF4-A73F-CF7E043F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长期愿景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A5D57-32C2-4935-A8FB-E0E55A5D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AI Scientist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66486-2179-4058-8E12-747DACA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让结果持续影响候选假设、实验设计和后续研究方向。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9FB83-B196-4633-B897-03F76C65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0EA15-DA81-4D64-8C0D-C8B038F2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Hypothesis · Evidence ·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4E577-3D70-4AC2-90D6-F8CB62F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当前产品定位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6BD40-A7A8-4DE5-8759-6A0C4847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ScienceX 当前提供 Research Assistant 能力，后续才逐步走向更完整的 Research Agent。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03FC6-A8DB-4C8D-8BFA-4FCE1894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426C1-E1B8-4E48-97C3-2E44A44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06</a:t>
            </a:r>
          </a:p>
        </p:txBody>
      </p:sp>
    </p:spTree>
    <p:extLst>
      <p:ext uri="{BB962C8B-B14F-4D97-AF65-F5344CB8AC3E}">
        <p14:creationId xmlns:p14="http://schemas.microsoft.com/office/powerpoint/2010/main" val="1019586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F5EB1-3920-441F-B251-4E74FD1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4BFFD-BFFB-4806-934E-500C9ADC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RUNNABLE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52A7-5BEF-42CF-B5C5-1C8DF84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一条可以实际运行和重放的研究链路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E9F4B-48A6-4F83-A0EA-9D497B52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本地教学案例保留数据版本、运行证据、失败和不确定性，而不是只展示成功结果。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990DA-C1E7-418F-9498-0A3903BD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8b5c158374110"/>
          <a:stretch xmlns:a="http://schemas.openxmlformats.org/drawingml/2006/main"/>
        </p:blipFill>
        <p:spPr>
          <a:xfrm xmlns:a="http://schemas.openxmlformats.org/drawingml/2006/main">
            <a:off x="552450" y="1831181"/>
            <a:ext cx="11087100" cy="3233738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16AD1-C24F-4CD3-8FB2-7819F66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822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rPr>
              <a:t>03 MIN   ·   24 WELLS   ·   SHA-256   ·  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65B42-A462-434D-913B-E771E86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2CE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54D78-CA95-4FBA-9B86-912C9CA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rPr>
              <a:t>模拟数据，仅用于产品教学；不代表真实药效、湿实验验证或科学结论。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1F0C5-C62F-447E-892C-C438F6E2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F75B5-E53C-4B78-9282-61570B1F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07</a:t>
            </a:r>
          </a:p>
        </p:txBody>
      </p:sp>
    </p:spTree>
    <p:extLst>
      <p:ext uri="{BB962C8B-B14F-4D97-AF65-F5344CB8AC3E}">
        <p14:creationId xmlns:p14="http://schemas.microsoft.com/office/powerpoint/2010/main" val="588107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4B5DD-A71F-44A9-BED9-448CF3D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63E08-58A4-4D3F-A182-68B8330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2EA34-5D59-4801-B3B6-5B04846E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ScienceX 承载一次研究推进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E7730-F240-4DEA-945C-3E3FE773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模型负责推理。ScienceX 读取研究状态、组织执行能力、保存运行证据，并把关键判断交还给研究者。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F8DB5-BE32-43AB-B5AD-F37DD44B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1E706-4A66-45C1-B463-7232912E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922F9-E4E6-453D-A3A2-D1400F9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CAA85-59E2-48C0-98D3-4207FF2C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9AC39-E4B0-44E7-AEC8-2AE9E3E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EE81A-EC97-4063-869C-62A0563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CA3E8-B171-44D7-A10B-871C191B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F2CB2-9737-411B-BD99-1AC4257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27352-0F02-450D-99AA-69504F6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7F00D-7F5E-4CFB-A80A-AB67681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E6FFF-318B-44D2-A129-5B55FEC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8B895-8990-454D-9101-66703E92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69F72-A77B-4E5C-84DF-8145B65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D8660-9F35-4620-9590-C5DFB838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2B0D2-6B0C-4068-88E5-59846800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AF9C3-4AFC-4571-B2A2-34205A0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0383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862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5341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820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2E769-B464-4F75-8D7E-523FEE4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读取问题、线程与证据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7879E-7FA5-48AB-9F89-B792D26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拆解任务与执行路径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AACC5-2030-4785-8E00-EC24B66E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调用已授权能力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F2313-E641-4D0D-AF1D-30DF722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检查输入、结果与产物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B2545-025F-472B-8612-C8463125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确认后保存关键状态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0B065E-3B83-45DC-8BAC-806D26C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86662D-91B3-4246-9906-C834AD2C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 · STATE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7422C2-3C0E-4F31-95C5-7F43D84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目标 · 假设 · 数据版本 · 证据 · 关键决策 · 未解决问题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E1B78-D1F4-4DBD-9CFA-294EAE46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rPr>
              <a:t>自动化执行不等于科学结论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3608DA-420F-48E6-9DCD-E7DB41A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F693DA-ADED-4B27-8532-2F993251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08</a:t>
            </a:r>
          </a:p>
        </p:txBody>
      </p:sp>
    </p:spTree>
    <p:extLst>
      <p:ext uri="{BB962C8B-B14F-4D97-AF65-F5344CB8AC3E}">
        <p14:creationId xmlns:p14="http://schemas.microsoft.com/office/powerpoint/2010/main" val="842960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40E5D-9202-4E9E-8570-27665AA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74AB9-8D42-4497-B9CD-EE63BDF5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5AE7-CC9D-4E7C-A17A-FF0986E3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20 个科研 Skills，把方法带进任务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DF9B3-59E2-4FA7-8CD7-BE882589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Skills 是可以查看、检查和组合的任务方法，不是藏在聊天框里的提示词。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F0A4-EB89-422A-94D5-9073889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0583D-8B81-4E6D-B328-9D936EE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3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EB02-E266-4EE1-913C-5AAA909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个科研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已集成到 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B1014-9FAB-4746-9CE8-384A7FB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发现、推理、实验、表达、审查与评测，共同覆盖从问题到产物的研究过程。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7A3D1-DFCF-4E66-802F-98F2960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2681-CAEB-445D-8A85-17A923A5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发现与检索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4C220-81AA-44D3-A2F6-F7B2043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找到方法、论文与可核对来源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AA2F1-A584-4A4A-96AB-2CA9CE8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41C72-776E-4318-9B03-2F9E5BE6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find-science-skills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99709-F2E8-4011-A035-509CA8FC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giiisp-paper-search-apis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76B8D-CECC-4430-AC18-1428183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scansci-pdf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00B4D-913B-4F18-B00E-5E0FECE9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E75DF-0F66-4686-9963-0FAB7ED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调研与推理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8BB0B-47B7-4851-B498-69DDBD8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形成候选方向并暴露论证缺口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815C8-2F2F-428D-B509-ED4F7F8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A06D0-28A3-41C2-8569-DBF67519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sci-employee-deep-research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88FB3-1AF3-484E-8E13-FD9262D2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7D957-2838-4752-970D-148A0C60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good-question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A14CF-470D-47CA-A6BD-AA591C03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831C9-99E7-4DA3-A46F-6BC6265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研究与实验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DD8E4-DB8E-4BEA-8B50-83D27A47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转成设计、数据基线与验证步骤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5B3E4-5A76-4750-BCDA-47CD3661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E7A1B-FF41-41AB-BF81-784AE7C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experiment-design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C26BC-A58F-43B7-BDA4-8B882A90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research-baseline-builder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9A990-0265-4D42-9A27-53A4F74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A4DA7-B245-4C11-A6B7-F6309C40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09</a:t>
            </a:r>
          </a:p>
        </p:txBody>
      </p:sp>
    </p:spTree>
    <p:extLst>
      <p:ext uri="{BB962C8B-B14F-4D97-AF65-F5344CB8AC3E}">
        <p14:creationId xmlns:p14="http://schemas.microsoft.com/office/powerpoint/2010/main" val="105906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1E5C68-3EE5-4677-AC7D-9367F84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BD335-025C-44DC-90BF-701ED1B0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BD9B4-8A49-47FD-96CC-58C6CDF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从研究产出到审查，能力边界都可见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3924E-A05F-4468-A025-36AD609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方法进入任务后，仍需要质量审查、引用核对、长期记忆和新工具采用前的评测。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25BD-25EB-4068-BC32-0BF29537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2AB67-3986-4F0E-945D-A67DD21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1CEEB-4FB4-4FED-8E4D-44054868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写作与呈现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90EC8-9259-4125-A621-FA04B7D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组织论文、图像、幻灯片、视频与课程产物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AFA83-581B-4525-8945-099A8B5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0E0A8-75A8-496B-B557-F2BC83A7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academic-writing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15865-8B05-442B-942B-CAD5030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7A3E9-3284-4F68-B42D-4E66FB28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scientific-humanization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42526-A661-4A0D-8656-601C1640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5F786-2737-42F2-8541-D58679B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giiisp-scientific-image-generation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B16A3-2788-4F77-BC03-C6F4926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B9F8-1923-447F-9B22-371938C5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visual-deck-builder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E59F7-4A31-433B-9306-6A52E9BF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A2988-53DD-4E65-8E7B-A6C0045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05  manim-agent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97F2F-6DC8-4BC4-BC58-74B382C4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E5506-74C2-4713-A391-DA95255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06  practical-course-producer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4D0B9-7694-4219-843C-3867A16A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B3C3A-D3B7-4FA3-A561-965039D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审查与记忆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FF2DF-2B05-49EF-9E48-1C2F2F4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检查论文与引用，并保存长期研究上下文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5489E-C511-4D20-9ADB-B0D0617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36393-C729-4E61-8098-55C7EAA0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thesis-audit-reviewer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8D545-4AB8-40CB-B7F6-18F6E9AA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338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EB136-6D5B-449C-8396-209FC1C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papercheck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9CA3A-2E85-4041-8233-8DFA9FC6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719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4D17E7-E8C0-42F5-B676-8470E9E5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cognitive-profile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C680F-3342-4DAF-914C-2CFA65E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E3E5C-6E53-400E-B548-F66B7CC7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world-threads-entry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26E057-B8D5-4053-B33C-DDBAEB3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16DB3-F2AA-4666-A68E-DFD3B288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能力评测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A15FB-7148-4AD3-8351-681B21BE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采用新工具前检查 MCP 与 Skill 的质量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F48C0-A2D7-4C5E-8485-54D1BE9B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A3975D-D7C4-47B4-AB66-AFF7BD52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mcp-criticagent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4B4EF-A65C-4AE9-9199-45C3E883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4F837-0D71-46B1-9F8D-C2B92F25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skill-criticagent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1DED2-E57A-435D-B83F-5BD86FD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69D0C3-6214-4496-8E4E-5B73BC0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已集成不等于无条件可运行。依赖、外部服务、连接状态与用户授权仍然决定实际可用范围。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7F080-E52E-469A-AF51-15F3377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BC028A-474F-491B-8040-08AAB62A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10</a:t>
            </a:r>
          </a:p>
        </p:txBody>
      </p:sp>
    </p:spTree>
    <p:extLst>
      <p:ext uri="{BB962C8B-B14F-4D97-AF65-F5344CB8AC3E}">
        <p14:creationId xmlns:p14="http://schemas.microsoft.com/office/powerpoint/2010/main" val="843733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7B2AA7-5837-434F-A882-C925B4DE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14A9D-1E29-47F9-88E3-141EFAD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34D90-7BD7-4975-ACD0-7A377F15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连接真实环境，也明确使用边界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12EE5-8FD5-43AF-B41B-43BF86B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ScienceX 只调用本机已安装、已配置并获得授权的能力。连接执行环境，不等于扩大访问权限。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36AD-B671-45FF-BE4F-53480ED5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85C3D-69D7-40FF-B5D3-39B03FD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DFB4E-F614-42C6-B3F1-582AD22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1D4E4-EDF9-4086-A8D2-5FBA4EF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43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A17D5-5237-45ED-9C18-1A634D19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97086-2438-4598-8E73-FF402A3F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7BAF4-665B-4552-9CFE-3FE405E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PDF / CSV / 项目目录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543175" y="2343150"/>
            <a:ext cx="266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8311C-F62C-43E5-9E61-8B8E3A2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A851C-595C-481F-90F0-E04FE38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代码与终端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4A75C-894C-4A16-A55C-27FE962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仓库 / 命令 / 脚本</a:t>
            </a:r>
          </a:p>
        </p:txBody>
      </p: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543175" y="3609975"/>
            <a:ext cx="2667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5C653-39DA-44B9-A75C-1C874EE5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E08F6-416E-4251-AE87-A830EBE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模型提供商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E865E-E13B-443C-AB37-6F221146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已配置的推理模型</a:t>
            </a:r>
          </a:p>
        </p:txBody>
      </p: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2809875" y="2343150"/>
            <a:ext cx="38100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FD146-AD05-4395-97C7-476F6CD9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6C7D4-120F-4925-925C-ACA8F5E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MCP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69B0A-E85D-4A89-AF85-97BF341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已启用的扩展工具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3810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8BFBE-D6B7-4824-A9A4-4031A20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69E23-8D02-4191-8988-3C3B990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CF97-8C70-47B4-B674-0F28756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授权的数据库与服务</a:t>
            </a:r>
          </a:p>
        </p:txBody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6667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F55FD-D40B-4746-8E7C-3D604421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CEA33E-7056-4F97-B4F8-153B90DB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计算环境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9D708-236F-4A63-AD19-F0200F7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本机已有计算能力</a:t>
            </a:r>
          </a:p>
        </p:txBody>
      </p:sp>
      <p:cxnSp>
        <p:nvCxnSpPr>
          <p:cNvPr id="80" name=""/>
          <p:cNvCxnSpPr>
            <a:stCxn xmlns:a="http://schemas.openxmlformats.org/drawingml/2006/main" id="2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28765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63AEED-4352-4CC3-A22B-3F1D283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4638675" cy="415290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C2A83-4E5E-4ACA-9845-A297F6CF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 使用边界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87298-5984-46F1-B494-B06B52B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765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01CA75-032E-410B-86FD-3A90E78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纠错，不替你写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6D283-12C8-44B5-819A-BF79E464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FE334F-A990-4DFC-ACBC-18BC2FF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CBD37B-A6C5-468D-B67C-061055A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初筛，不替你读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7675A0-AA83-4113-9DDF-106D4CC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1A67B3-5A82-46B5-A176-57AD51EC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34DEB-15CD-415D-B416-29CC3E0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数据有边界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6C6A6D-3E18-4700-9231-F3D048CB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655E04-0893-4068-BB62-8ADC234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339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9CA9B2-DBCA-4240-A7DC-E26E11C6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不夸大结果与结论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9D4C96-AAC4-4FE3-81FC-1D8A405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5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rPr>
              <a:t>关键证据仍需人工复核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D852C9-98B7-4EB7-8F31-27C0133A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84AC5B-BB59-443F-8BD9-336BFCDB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11</a:t>
            </a:r>
          </a:p>
        </p:txBody>
      </p:sp>
    </p:spTree>
    <p:extLst>
      <p:ext uri="{BB962C8B-B14F-4D97-AF65-F5344CB8AC3E}">
        <p14:creationId xmlns:p14="http://schemas.microsoft.com/office/powerpoint/2010/main" val="560727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86495-14DA-4ED2-807D-1FFD2A20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9F795-3528-4398-8AF4-C53B3B92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09 ·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F3A84-5093-4145-8ABE-30535153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第一条链路，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从一个真实问题开始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3EA38-6834-424A-9D68-EBE065A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D30DF-6DF7-4CF0-A3FB-E3EB254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打开本地研究项目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FF790-46A6-448F-8584-504126E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89943-B021-4CC8-BA95-3FC5F579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C7909-09E8-45F9-B33A-D6F93DD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说清范围、格式和验收条件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B99CF-386B-44ED-8BC8-CB404226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16251-9F0F-4182-8417-66D14D78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0218E-6DEA-422A-A96F-5ADCD87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检查来源、产物与下一步建议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A5E8E-636D-4636-A163-3F33D73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0934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A4A3F"/>
          </a:solidFill>
          <a:ln xmlns:a="http://schemas.openxmlformats.org/drawingml/2006/main" w="9525">
            <a:solidFill>
              <a:srgbClr val="2871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8F7BA-6881-434C-90C0-A946249F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defRPr>
            </a:pPr>
            <a:r>
              <a: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rPr>
              <a:t>可以直接开始的示例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65517-FB9A-41F1-9169-3DF9AB8E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“检索近三年关于 X 的代表论文，按方法、数据、结论和局限整理成表，每条附出处；先给 10 篇，找不到就明确说明，不要编造。”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AD336-E912-4C24-8CBB-7EF6574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A65E4-72A7-437C-BB52-8DE4E53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E598-B408-4F27-96E1-60505C2D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rPr>
              <a:t>github.com/insight68/ScienceX</a:t>
            </a:r>
          </a:p>
        </p:txBody>
      </p:sp>
    </p:spTree>
    <p:extLst>
      <p:ext uri="{BB962C8B-B14F-4D97-AF65-F5344CB8AC3E}">
        <p14:creationId xmlns:p14="http://schemas.microsoft.com/office/powerpoint/2010/main" val="115207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2026-09-04T13:15:39.5360000Z</dcterms:created>
  <dcterms:modified xsi:type="dcterms:W3CDTF">2026-09-04T13:15:39.5360000Z</dcterms:modified>
</coreProperties>
</file>