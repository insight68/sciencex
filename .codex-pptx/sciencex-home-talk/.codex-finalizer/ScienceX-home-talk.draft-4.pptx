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60288d9a024a03" /><Relationship Type="http://schemas.openxmlformats.org/officeDocument/2006/relationships/extended-properties" Target="/docProps/app.xml" Id="R65e1d54bdc5044e1" /><Relationship Type="http://schemas.openxmlformats.org/officeDocument/2006/relationships/officeDocument" Target="/ppt/presentation.xml" Id="Rb700a07159ef4f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bb88684e634113"/>
  </p:sldMasterIdLst>
  <p:notesMasterIdLst>
    <p:notesMasterId xmlns:r="http://schemas.openxmlformats.org/officeDocument/2006/relationships" r:id="R95aba084a1ea45d7"/>
  </p:notesMasterIdLst>
  <p:sldIdLst>
    <p:sldId xmlns:r="http://schemas.openxmlformats.org/officeDocument/2006/relationships" id="256" r:id="R5b00721f98c34905"/>
    <p:sldId xmlns:r="http://schemas.openxmlformats.org/officeDocument/2006/relationships" id="257" r:id="Rbec1bd83e0474f12"/>
    <p:sldId xmlns:r="http://schemas.openxmlformats.org/officeDocument/2006/relationships" id="258" r:id="R54201c798acb4495"/>
    <p:sldId xmlns:r="http://schemas.openxmlformats.org/officeDocument/2006/relationships" id="259" r:id="R3ece74feb5f44534"/>
    <p:sldId xmlns:r="http://schemas.openxmlformats.org/officeDocument/2006/relationships" id="260" r:id="Rbb16024979094ad0"/>
    <p:sldId xmlns:r="http://schemas.openxmlformats.org/officeDocument/2006/relationships" id="261" r:id="R0a5a01d547df49b4"/>
    <p:sldId xmlns:r="http://schemas.openxmlformats.org/officeDocument/2006/relationships" id="262" r:id="R5bd9f6915f7c4490"/>
    <p:sldId xmlns:r="http://schemas.openxmlformats.org/officeDocument/2006/relationships" id="263" r:id="Rf1a1fd16029e4773"/>
    <p:sldId xmlns:r="http://schemas.openxmlformats.org/officeDocument/2006/relationships" id="264" r:id="R0f1f81f209944622"/>
    <p:sldId xmlns:r="http://schemas.openxmlformats.org/officeDocument/2006/relationships" id="265" r:id="R067a17ebc9bd4132"/>
    <p:sldId xmlns:r="http://schemas.openxmlformats.org/officeDocument/2006/relationships" id="266" r:id="R760d87bc13124808"/>
    <p:sldId xmlns:r="http://schemas.openxmlformats.org/officeDocument/2006/relationships" id="267" r:id="Rcce5cc9f5ab04a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10004de1424116" /><Relationship Type="http://schemas.openxmlformats.org/officeDocument/2006/relationships/slideMaster" Target="/ppt/slideMasters/slideMaster1.xml" Id="R81bb88684e634113" /><Relationship Type="http://schemas.openxmlformats.org/officeDocument/2006/relationships/notesMaster" Target="/ppt/notesMasters/notesMaster1.xml" Id="R95aba084a1ea45d7" /><Relationship Type="http://schemas.openxmlformats.org/officeDocument/2006/relationships/presProps" Target="/ppt/presProps.xml" Id="Re96f0f0adb33485c" /><Relationship Type="http://schemas.openxmlformats.org/officeDocument/2006/relationships/tableStyles" Target="/ppt/tableStyles.xml" Id="Rd30a7cb02fe94cf7" /><Relationship Type="http://schemas.openxmlformats.org/officeDocument/2006/relationships/slide" Target="/ppt/slides/slide1.xml" Id="R5b00721f98c34905" /><Relationship Type="http://schemas.openxmlformats.org/officeDocument/2006/relationships/slide" Target="/ppt/slides/slide2.xml" Id="Rbec1bd83e0474f12" /><Relationship Type="http://schemas.openxmlformats.org/officeDocument/2006/relationships/slide" Target="/ppt/slides/slide3.xml" Id="R54201c798acb4495" /><Relationship Type="http://schemas.openxmlformats.org/officeDocument/2006/relationships/slide" Target="/ppt/slides/slide4.xml" Id="R3ece74feb5f44534" /><Relationship Type="http://schemas.openxmlformats.org/officeDocument/2006/relationships/slide" Target="/ppt/slides/slide5.xml" Id="Rbb16024979094ad0" /><Relationship Type="http://schemas.openxmlformats.org/officeDocument/2006/relationships/slide" Target="/ppt/slides/slide6.xml" Id="R0a5a01d547df49b4" /><Relationship Type="http://schemas.openxmlformats.org/officeDocument/2006/relationships/slide" Target="/ppt/slides/slide7.xml" Id="R5bd9f6915f7c4490" /><Relationship Type="http://schemas.openxmlformats.org/officeDocument/2006/relationships/slide" Target="/ppt/slides/slide8.xml" Id="Rf1a1fd16029e4773" /><Relationship Type="http://schemas.openxmlformats.org/officeDocument/2006/relationships/slide" Target="/ppt/slides/slide9.xml" Id="R0f1f81f209944622" /><Relationship Type="http://schemas.openxmlformats.org/officeDocument/2006/relationships/slide" Target="/ppt/slides/slide10.xml" Id="R067a17ebc9bd4132" /><Relationship Type="http://schemas.openxmlformats.org/officeDocument/2006/relationships/slide" Target="/ppt/slides/slide11.xml" Id="R760d87bc13124808" /><Relationship Type="http://schemas.openxmlformats.org/officeDocument/2006/relationships/slide" Target="/ppt/slides/slide12.xml" Id="Rcce5cc9f5ab04a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e06392acf247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9ccf7596c9428a" /><Relationship Type="http://schemas.openxmlformats.org/officeDocument/2006/relationships/notesMaster" Target="/ppt/notesMasters/notesMaster1.xml" Id="Rafa4d6eafe4641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c89925ead241e5" /><Relationship Type="http://schemas.openxmlformats.org/officeDocument/2006/relationships/notesMaster" Target="/ppt/notesMasters/notesMaster1.xml" Id="R58f10fbefecc4d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b93e754bb54887" /><Relationship Type="http://schemas.openxmlformats.org/officeDocument/2006/relationships/notesMaster" Target="/ppt/notesMasters/notesMaster1.xml" Id="R35c26c2722f044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e0ac2372d54a97" /><Relationship Type="http://schemas.openxmlformats.org/officeDocument/2006/relationships/notesMaster" Target="/ppt/notesMasters/notesMaster1.xml" Id="R17475709e1864b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b73d90d791421e" /><Relationship Type="http://schemas.openxmlformats.org/officeDocument/2006/relationships/notesMaster" Target="/ppt/notesMasters/notesMaster1.xml" Id="Rf3e5697cc46445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78624fe39c4250" /><Relationship Type="http://schemas.openxmlformats.org/officeDocument/2006/relationships/notesMaster" Target="/ppt/notesMasters/notesMaster1.xml" Id="R6e82788e08314f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815c004f45401b" /><Relationship Type="http://schemas.openxmlformats.org/officeDocument/2006/relationships/notesMaster" Target="/ppt/notesMasters/notesMaster1.xml" Id="R147506c70cbf43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21094b9c0d488c" /><Relationship Type="http://schemas.openxmlformats.org/officeDocument/2006/relationships/notesMaster" Target="/ppt/notesMasters/notesMaster1.xml" Id="R4ab195ba9fb240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97d9289da44621" /><Relationship Type="http://schemas.openxmlformats.org/officeDocument/2006/relationships/notesMaster" Target="/ppt/notesMasters/notesMaster1.xml" Id="R69c5815380ba43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ce8f1686d74145" /><Relationship Type="http://schemas.openxmlformats.org/officeDocument/2006/relationships/notesMaster" Target="/ppt/notesMasters/notesMaster1.xml" Id="R27277213bf824b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876eab82034879" /><Relationship Type="http://schemas.openxmlformats.org/officeDocument/2006/relationships/notesMaster" Target="/ppt/notesMasters/notesMaster1.xml" Id="R6a87e6b0fb4f44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5487a2c1a34747" /><Relationship Type="http://schemas.openxmlformats.org/officeDocument/2006/relationships/notesMaster" Target="/ppt/notesMasters/notesMaster1.xml" Id="R11c7d63667b04c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开场先给出一句话定位：ScienceX 是开源、本地优先、可追溯的 AI 科研工作台。</a:t>
            </a:r>
          </a:p>
          <a:p xmlns:a="http://schemas.openxmlformats.org/drawingml/2006/main">
            <a:r>
              <a:t>强调“工作台”三个字。它不是只回答问题的聊天框，而是承载研究项目、研究线程、工具调用、数据版本和研究产物的桌面环境。</a:t>
            </a:r>
          </a:p>
          <a:p xmlns:a="http://schemas.openxmlformats.org/drawingml/2006/main">
            <a:r>
              <a:t>这一页只建立共同语言：我们要解决的不是让 AI 说得更多，而是让研究过程更连续、更可核对。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科研时间经常被四类工作切碎：找资料、跟进度、追逻辑和改表达。它们重要，但重复、规模大，也容易丢上下文。</a:t>
            </a:r>
          </a:p>
          <a:p xmlns:a="http://schemas.openxmlformats.org/drawingml/2006/main">
            <a:r>
              <a:t>ScienceX 对每一类工作都要求留下可检查的产物。例如检索不是给几个链接，而是形成带出处的文献表；进度不是聊天记录，而是阶段总结和下一步清单。</a:t>
            </a:r>
          </a:p>
          <a:p xmlns:a="http://schemas.openxmlformats.org/drawingml/2006/main">
            <a:r>
              <a:t>右侧是不能外包的部分。研究者仍然决定读什么、信什么、优先做什么，以及结论是否成立。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 ScienceX 的责任边界。左边是系统擅长的执行、整理、计算和记录，右边是研究者必须承担的判断。</a:t>
            </a:r>
          </a:p>
          <a:p xmlns:a="http://schemas.openxmlformats.org/drawingml/2006/main">
            <a:r>
              <a:t>中间的“确认”很关键。自动化结果只有在研究者检查来源、方法、告警和产物之后，才可以进入下一轮研究状态。</a:t>
            </a:r>
          </a:p>
          <a:p xmlns:a="http://schemas.openxmlformats.org/drawingml/2006/main">
            <a:r>
              <a:t>因此我们把当前运行模式明确写成 Human-driven Research Loop。ScienceX 能加速研究，但不替代研究者签署最终结论。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这里展示的是当前品牌首页中的真实产品界面，已经裁切并脱敏。</a:t>
            </a:r>
          </a:p>
          <a:p xmlns:a="http://schemas.openxmlformats.org/drawingml/2006/main">
            <a:r>
              <a:t>左侧研究线程承载研究问题、过程说明、文件和后续行动；右上是定时任务入口；右下是产品里可查看的科研 Skills。</a:t>
            </a:r>
          </a:p>
          <a:p xmlns:a="http://schemas.openxmlformats.org/drawingml/2006/main">
            <a:r>
              <a:t>这说明 ScienceX 的价值不在于功能数量，而在于这些能力是否在同一个研究上下文中持续工作。</a:t>
            </a:r>
          </a:p>
          <a:p xmlns:a="http://schemas.openxmlformats.org/drawingml/2006/main">
            <a:r>
              <a:t>定时任务也有明确边界：本地任务只在应用运行、设备保持唤醒时执行。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ScienceX 的核心不是线性工作流，而是 Research Loop。研究问题产生候选假设，假设需要证据与数据，再进入实验或计算。</a:t>
            </a:r>
          </a:p>
          <a:p xmlns:a="http://schemas.openxmlformats.org/drawingml/2006/main">
            <a:r>
              <a:t>结果必须连同边界一起被保存，然后转化成下一轮问题。闭环的价值，是每一轮都能知道我们改了什么、为什么改、结果如何变化。</a:t>
            </a:r>
          </a:p>
          <a:p xmlns:a="http://schemas.openxmlformats.org/drawingml/2006/main">
            <a:r>
              <a:t>底部的 Research Memory 是状态层。它保存目标、假设、数据版本、证据关系、关键决策、结果和未解决问题。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这一页刻意把现在、下一阶段和长期愿景分开，避免把未来能力当成现状。</a:t>
            </a:r>
          </a:p>
          <a:p xmlns:a="http://schemas.openxmlformats.org/drawingml/2006/main">
            <a:r>
              <a:t>当前可用的是 Research Assistant：研究线程、本地项目、科研 Skills、数据版本、确定性分析、证据和重放。</a:t>
            </a:r>
          </a:p>
          <a:p xmlns:a="http://schemas.openxmlformats.org/drawingml/2006/main">
            <a:r>
              <a:t>下一阶段才是更完整的 Research Agent，它需要在人工确认后组织计划、执行和验证。AI Scientist 是长期愿景，强调结果持续改变候选假设和研究方向。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这条案例用模拟细胞活力数据演示完整研究链路，三分钟内完成版本化实验设计、确定性 4PL 分析、技术证据评估和结果重放。</a:t>
            </a:r>
          </a:p>
          <a:p xmlns:a="http://schemas.openxmlformats.org/drawingml/2006/main">
            <a:r>
              <a:t>四个事实可以核对：24 个孔位、SHA-256 输入与产物哈希、固定原始版本重放，以及三类研究产物。</a:t>
            </a:r>
          </a:p>
          <a:p xmlns:a="http://schemas.openxmlformats.org/drawingml/2006/main">
            <a:r>
              <a:t>更重要的是，它保留失败和不确定性。缺孔输入会明确失败，弱响应会标记“技术证据尚无定论”，系统不会静默补值或把运行完成写成科学结论。</a:t>
            </a:r>
          </a:p>
          <a:p xmlns:a="http://schemas.openxmlformats.org/drawingml/2006/main">
            <a:r>
              <a:t>需要明确：这是产品教学中的模拟数据，不代表真实药效或湿实验验证。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一次研究推进分成五个动作。先理解当前问题和证据，再形成计划，之后调用已授权能力执行。</a:t>
            </a:r>
          </a:p>
          <a:p xmlns:a="http://schemas.openxmlformats.org/drawingml/2006/main">
            <a:r>
              <a:t>执行后必须验证输入、结果、告警和产物，最后由研究者确认哪些状态值得保留。</a:t>
            </a:r>
          </a:p>
          <a:p xmlns:a="http://schemas.openxmlformats.org/drawingml/2006/main">
            <a:r>
              <a:t>底部的状态层把每次运行连接起来。这样下一次不是从空白聊天开始，而是从已有目标、假设、数据版本和未解决问题继续。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当前首页列出 20 个科研 Skills。它们按研究任务组织，而不是按技术栈堆叠。</a:t>
            </a:r>
          </a:p>
          <a:p xmlns:a="http://schemas.openxmlformats.org/drawingml/2006/main">
            <a:r>
              <a:t>这一页先看研究前半程：发现与检索、调研与推理、研究与实验。研究者能看到 Skill 的名称、用途和适用边界。</a:t>
            </a:r>
          </a:p>
          <a:p xmlns:a="http://schemas.openxmlformats.org/drawingml/2006/main">
            <a:r>
              <a:t>例如 scansci-pdf 负责论文获取流程，good-question 用评审式追问暴露论证缺口，experiment-design 把研究问题转成实验设计。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这一页是研究后半程。写作与呈现能力负责把研究过程组织成论文、图像、幻灯片、视频和课程产物。</a:t>
            </a:r>
          </a:p>
          <a:p xmlns:a="http://schemas.openxmlformats.org/drawingml/2006/main">
            <a:r>
              <a:t>审查与记忆能力负责论文审查、引用核对和长期上下文；能力评测则在采用新的 MCP 或 Skill 之前检查质量。</a:t>
            </a:r>
          </a:p>
          <a:p xmlns:a="http://schemas.openxmlformats.org/drawingml/2006/main">
            <a:r>
              <a:t>需要再次强调，已集成不等于无条件可运行。某些 Skills 需要本机依赖、外部服务或用户授权，ScienceX 不会默认获得论文库、数据库或其他系统的访问权。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ScienceX 可以连接本地文件、代码与终端、模型提供商、MCP、数据源和计算环境，但每一项都以本机配置和用户授权为前提。</a:t>
            </a:r>
          </a:p>
          <a:p xmlns:a="http://schemas.openxmlformats.org/drawingml/2006/main">
            <a:r>
              <a:t>连接环境不等于自动拥有访问权。ScienceX 不会默认获得数据库、论文库或第三方系统权限。</a:t>
            </a:r>
          </a:p>
          <a:p xmlns:a="http://schemas.openxmlformats.org/drawingml/2006/main">
            <a:r>
              <a:t>右侧四条边界是面向科研使用的底线：AI 可以纠错但不替代论证，可以初筛但不替代精读；敏感和未公开数据要先确认边界；运行结果不能被夸大成科学结论。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收束到一个可执行的开始方式。打开本地研究项目，说清范围、输出格式和验收条件，然后检查来源、产物与下一步建议。</a:t>
            </a:r>
          </a:p>
          <a:p xmlns:a="http://schemas.openxmlformats.org/drawingml/2006/main">
            <a:r>
              <a:t>示例指令故意包含四个约束：时间范围、整理维度、每条出处，以及找不到就明确说明。这些约束让任务可检查，也把“不要编造”写成验收标准。</a:t>
            </a:r>
          </a:p>
          <a:p xmlns:a="http://schemas.openxmlformats.org/drawingml/2006/main">
            <a:r>
              <a:t>最后回到产品定位：ScienceX 是科研工作台。它让研究问题、证据、运行和下一步进入同一条可追溯链路。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6860b6d804e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8615fd188848a0" /><Relationship Type="http://schemas.openxmlformats.org/officeDocument/2006/relationships/slideLayout" Target="/ppt/slideLayouts/slideLayout1.xml" Id="R31bf53222a7044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bf53222a7044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f180f54c240e1" /><Relationship Type="http://schemas.openxmlformats.org/officeDocument/2006/relationships/notesSlide" Target="/ppt/notesSlides/notesSlide1.xml" Id="R3626816fd2ce49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a222ae8be4494" /><Relationship Type="http://schemas.openxmlformats.org/officeDocument/2006/relationships/notesSlide" Target="/ppt/notesSlides/notesSlide2.xml" Id="R99383dc6d3ac43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326d9ff464a9e" /><Relationship Type="http://schemas.openxmlformats.org/officeDocument/2006/relationships/notesSlide" Target="/ppt/notesSlides/notesSlide3.xml" Id="Ree4ca02424254c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63262930842d5" /><Relationship Type="http://schemas.openxmlformats.org/officeDocument/2006/relationships/image" Target="/ppt/media/image.png" Id="Rf50b8ce7720b4594" /><Relationship Type="http://schemas.openxmlformats.org/officeDocument/2006/relationships/notesSlide" Target="/ppt/notesSlides/notesSlide4.xml" Id="R57ad90c382ad4e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d438cf82643e8" /><Relationship Type="http://schemas.openxmlformats.org/officeDocument/2006/relationships/notesSlide" Target="/ppt/notesSlides/notesSlide5.xml" Id="Ree898f39153b4a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a138558b748f7" /><Relationship Type="http://schemas.openxmlformats.org/officeDocument/2006/relationships/notesSlide" Target="/ppt/notesSlides/notesSlide6.xml" Id="Rca54d82b55f742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9a66add2048e6" /><Relationship Type="http://schemas.openxmlformats.org/officeDocument/2006/relationships/image" Target="/ppt/media/image2.png" Id="Rcc67db230d5343a1" /><Relationship Type="http://schemas.openxmlformats.org/officeDocument/2006/relationships/notesSlide" Target="/ppt/notesSlides/notesSlide7.xml" Id="R0de186a776a64a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a9288c89b4eba" /><Relationship Type="http://schemas.openxmlformats.org/officeDocument/2006/relationships/notesSlide" Target="/ppt/notesSlides/notesSlide8.xml" Id="R3103f7dedcd548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1507b68dd4e78" /><Relationship Type="http://schemas.openxmlformats.org/officeDocument/2006/relationships/notesSlide" Target="/ppt/notesSlides/notesSlide9.xml" Id="Ra02125c31dcd44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1e3cb41184c86" /><Relationship Type="http://schemas.openxmlformats.org/officeDocument/2006/relationships/notesSlide" Target="/ppt/notesSlides/notesSlide10.xml" Id="Rd5111f08fe9445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d62700be3467d" /><Relationship Type="http://schemas.openxmlformats.org/officeDocument/2006/relationships/notesSlide" Target="/ppt/notesSlides/notesSlide11.xml" Id="R3ec1a2156e1544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9e75c40974d8e" /><Relationship Type="http://schemas.openxmlformats.org/officeDocument/2006/relationships/notesSlide" Target="/ppt/notesSlides/notesSlide12.xml" Id="R534ccb58a2b440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47939-DECE-4E17-AF88-7D7FB1B8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6B3ED-11D0-4ED1-AE72-6806F00D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OPEN SOURCE · LOCAL FIRST ·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640B6-6D13-4876-9BA7-F4F744A0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00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54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7FA31-3E69-4D7A-877E-2AFDC71E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400" b="1" i="0">
                <a:solidFill>
                  <a:srgbClr val="00C86F"/>
                </a:solidFill>
                <a:latin typeface="Songti SC"/>
                <a:ea typeface="Songti SC"/>
                <a:cs typeface="Songti SC"/>
              </a:defRPr>
            </a:pPr>
            <a:r>
              <a:rPr sz="5400" b="1" i="0">
                <a:solidFill>
                  <a:srgbClr val="00C86F"/>
                </a:solidFill>
                <a:latin typeface="Songti SC"/>
                <a:ea typeface="Songti SC"/>
                <a:cs typeface="Songti SC"/>
              </a:rPr>
              <a:t>科研工作台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68226-A8FA-4E2B-97AD-04FD4CEE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defRPr>
            </a:pPr>
            <a:r>
              <a: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rPr>
              <a:t>让研究问题、证据与下一步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defRPr>
            </a:pPr>
            <a:r>
              <a:rPr sz="1875" b="0" i="0">
                <a:solidFill>
                  <a:srgbClr val="C7DAD3"/>
                </a:solidFill>
                <a:latin typeface="Heiti SC"/>
                <a:ea typeface="Heiti SC"/>
                <a:cs typeface="Heiti SC"/>
              </a:rPr>
              <a:t>进入同一条可追溯链路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4376B-77D0-46C0-94AE-4BA5B90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04900"/>
            <a:ext cx="2952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217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217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3DAF0-4C90-4458-B2BC-89A26837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8107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97F03-386B-4AA9-9DD2-F06F7466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476375" cy="1476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73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694E4-9467-4492-8155-8F98AF2A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219200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本地数据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A69AB-C3C1-4567-97BA-76DF10AB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91150"/>
            <a:ext cx="1219200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开放源码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3818C-C0C7-4C22-B677-8718A09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91150"/>
            <a:ext cx="1381125" cy="3429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0B4A3F"/>
          </a:solidFill>
          <a:ln xmlns:a="http://schemas.openxmlformats.org/drawingml/2006/main" w="9525">
            <a:solidFill>
              <a:srgbClr val="1E6D5E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E8E2"/>
                </a:solidFill>
                <a:latin typeface="Heiti SC"/>
                <a:ea typeface="Heiti SC"/>
                <a:cs typeface="Heiti SC"/>
              </a:defRPr>
            </a:pPr>
            <a:r>
              <a:rPr sz="1050" b="1">
                <a:solidFill>
                  <a:srgbClr val="D7E8E2"/>
                </a:solidFill>
                <a:latin typeface="Heiti SC"/>
                <a:ea typeface="Heiti SC"/>
                <a:cs typeface="Heiti SC"/>
              </a:rPr>
              <a:t>跨平台桌面端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01BF4-738A-436C-BAF1-21949763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6EA99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6EA996"/>
                </a:solidFill>
                <a:latin typeface="Avenir Next"/>
                <a:ea typeface="Avenir Next"/>
                <a:cs typeface="Avenir Next"/>
              </a:rPr>
              <a:t>SCIENCEX · BRAND 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1300D-9A69-4EDB-9DF7-65F38657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6EA996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6EA996"/>
                </a:solidFill>
                <a:latin typeface="Avenir Next"/>
                <a:ea typeface="Avenir Next"/>
                <a:cs typeface="Avenir Next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530635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D15894-C5A0-476A-8BD6-487D3F36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2EAD0-28A4-4EC4-B3F6-258672D4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DAILY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B43A6-971C-4F37-82B8-CBF1BEC7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四件重复工作交给 ScienceX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A9C41-362D-45A5-BE99-DAB21592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科研最稀缺的不是信息，而是研究者的注意力。可重复、可检查的工作交给系统，关键判断留给研究者。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C21EC-29EC-4723-8626-EB94FE9B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D815A-3661-4AF7-8378-4414D288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重复工作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12C81-B944-4F9E-8019-398E02E0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形成产物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4578B-2EB6-4B58-89E8-A8265ABA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研究者保留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9DACE-0C14-430F-A7FD-2AF11ED8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CE6B4-734C-4B9D-8921-23AACC30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1C87C-6818-4D99-889D-A2AB47EE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搜索资料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79A5B-C8C0-4F0C-BC7A-BAF5DC26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带出处的文献表与证据摘要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C0158-E693-4EA7-A3DD-FE3AB10F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决定精读什么、相信什么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27D70-5394-40A7-857B-6A673662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EE00C-3094-48F2-B9A9-C51E2D11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727A9-9BF3-4625-87B4-884A5AA0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进度跟踪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D73AF-B0F7-4280-BB5C-B2B0D7B2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进度板、阶段总结与下一步清单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B9725-1FF8-4F4D-B271-00CDB4D2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决定优先级和研究方向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8160E-A30D-4DEC-BAFB-2EFD419F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86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8B91A-F584-4075-88FE-A669B5C3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0C77B-1264-4F01-A5A2-D160238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理清逻辑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6CDB9F-0882-43AC-83AC-A4C26B72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862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论证缺口与待验证问题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B1CA0-0C32-4959-AE55-8E12EAC4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86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回答关键问题、修正论证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67CCE7-BAE6-461C-843B-F4518AB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A00B4-6D28-470B-9E2A-0C6E729A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1D710F-61C7-4022-A906-1239F0EA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修改表达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213457-2F4E-431E-A9E4-204F8BDD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修改建议、差异记录与风格档案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D6146F-9D0F-471D-800E-3D4C320E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244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保留观点、结论和个人风格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E72BB8-4F48-4E7C-8016-9FE7FB88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6CB17C-02BE-42DC-AE07-89E9B42C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43575"/>
            <a:ext cx="110871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15C715-4481-4D08-B392-63B1BCE4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提速的关键不是让 AI 代替思考，而是让它接手重复工作，并把证据和下一步留在研究过程里。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90EB56-B28D-4496-9BF4-BE325F8E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EFFCA8-C471-46E4-9596-59FF51F4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02</a:t>
            </a:r>
          </a:p>
        </p:txBody>
      </p:sp>
    </p:spTree>
    <p:extLst>
      <p:ext uri="{BB962C8B-B14F-4D97-AF65-F5344CB8AC3E}">
        <p14:creationId xmlns:p14="http://schemas.microsoft.com/office/powerpoint/2010/main" val="328132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5587B-BF1F-4906-A206-0A8D8F53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FD877-4895-4158-A779-8243644D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HUMAN IN THE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5ECD1-3871-4C4B-A853-A97FB41A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系统执行，研究者判断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34255-D883-4DC2-AD9A-77FFB23A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高风险操作需要授权，关键证据需要人工复核。ScienceX 承担执行和记录，研究者承担科学判断。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E55BF-A139-475A-AF6C-DF269EC2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69FF2-314F-43EE-A36D-48BC4F22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81175"/>
            <a:ext cx="5219700" cy="36671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D807C-21A1-41AF-A2A9-5C0FD75A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81175"/>
            <a:ext cx="5600700" cy="3667125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0FAF4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6FF32-054A-45A3-8D6C-86846DA2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BF898-9D72-4692-9EA4-92BB35D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9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执行与记录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3ACFA-FB50-4253-BDC1-8BC9FBA9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000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检索、阅读与整理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编码、计算与比较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执行获得授权的工具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D3E4DE"/>
                </a:solidFill>
                <a:latin typeface="Heiti SC"/>
                <a:ea typeface="Heiti SC"/>
                <a:cs typeface="Heiti SC"/>
              </a:rPr>
              <a:t>• 保存过程和候选假设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AA92C-7E45-408D-B16A-9C2C7AF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14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E4875-BA1A-4E7F-AA46-CDBB33FE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92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科学判断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E35D7-02A4-48A6-93DB-712E0B45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4286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提出重要研究问题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审核方案与关键证据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判断结果是否成立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7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• 决定下一轮研究方向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5AE7D-D25A-44A9-930E-59537C8E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670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BAF76-26DB-47B3-AB33-2AF25FA9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5242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275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4B246-2210-4B11-BBE2-9E958CFE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734050"/>
            <a:ext cx="8896350" cy="466725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063A32"/>
          </a:solidFill>
          <a:ln xmlns:a="http://schemas.openxmlformats.org/drawingml/2006/main" w="9525">
            <a:solidFill>
              <a:srgbClr val="06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74E53-2D2A-4B88-B10D-14B1C65C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483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3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Human-driven Research Loop  ·  研究者发起、授权、复核并作出最终判断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42015-FE52-48DF-A99D-64EC6721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FA3C9-566B-4C32-A588-1111A59D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03</a:t>
            </a:r>
          </a:p>
        </p:txBody>
      </p:sp>
    </p:spTree>
    <p:extLst>
      <p:ext uri="{BB962C8B-B14F-4D97-AF65-F5344CB8AC3E}">
        <p14:creationId xmlns:p14="http://schemas.microsoft.com/office/powerpoint/2010/main" val="174964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5695F-39B3-43E4-B3E0-A93AAC83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B28CC-CD04-4DF2-9F50-8327ED23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PRODUCT IN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706BC-4000-4A9D-97C1-552CDB8F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产品已经进入研究过程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EC7B5-9C41-4984-AF47-E43570A2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研究项目、研究线程、定时任务与科研 Skills，已经进入同一个桌面工作台。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CBAA2-AC91-49BB-A2A8-4B5E12F4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b8ce7720b4594"/>
          <a:srcRect xmlns:a="http://schemas.openxmlformats.org/drawingml/2006/main" l="0" t="5685" r="0" b="5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19250"/>
            <a:ext cx="11087100" cy="4572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0676E-AD10-46AA-8B2B-C1EB912F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4E346-5D55-4B33-AC2B-5C3424C1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04</a:t>
            </a:r>
          </a:p>
        </p:txBody>
      </p:sp>
    </p:spTree>
    <p:extLst>
      <p:ext uri="{BB962C8B-B14F-4D97-AF65-F5344CB8AC3E}">
        <p14:creationId xmlns:p14="http://schemas.microsoft.com/office/powerpoint/2010/main" val="11304280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36278F-1B31-4621-9AB1-A8146796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3E7E1-576A-4BEA-99F3-EB2A7CA8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5BC81-4732-4C2A-9533-7AFC31FF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科研不是一次性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16277-E968-4FEC-8DA3-676F7F2D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C5D8D1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C5D8D1"/>
                </a:solidFill>
                <a:latin typeface="Heiti SC"/>
                <a:ea typeface="Heiti SC"/>
                <a:cs typeface="Heiti SC"/>
              </a:rPr>
              <a:t>结果不是终点，而是下一轮研究的输入。ScienceX 保存状态并执行任务，研究者判断证据与方向。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C1907-B983-417C-A59A-19AEC1CD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BA04F-3690-40BF-9402-C3012970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C1B53-F0FC-4C38-96F5-53D73988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3D4D6-2DE9-430B-AC1B-37A7F9EE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D4F88-5655-4E2B-ADC2-EF316F4D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198F3-CD1A-436C-BC48-06F004CA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F9C97-FDFE-4A40-9C20-49D4C666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FD1F4-6F1A-461C-8E43-46E5693C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候选假设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3A484-EF7F-41F4-9F23-320476BE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FBB76-35E3-40B4-8180-C293E821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EADE4-E272-40E5-9B19-4CAF518A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BCA89-B9C8-460F-9196-4C0FFC2E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证据与数据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1E95D-FBA4-4FCE-A4AD-553248FA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B0080-BBC7-419A-B23F-9ED7D4D3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5EB89-FD03-4D29-AD3D-2B7F3A7E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176D1-F5B4-490D-AFDA-5E6DA558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实验 / 计算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66874-02E5-4803-B831-ED827A1A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Experiment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170340-BBB9-4BC0-8C80-7C0DA5EF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A4B40"/>
          </a:solidFill>
          <a:ln xmlns:a="http://schemas.openxmlformats.org/drawingml/2006/main" w="14288">
            <a:solidFill>
              <a:srgbClr val="1C65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252AB0-790D-49A7-B769-FA41846F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E3C40-FD0F-4EDE-BB19-68818468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结果与边界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50FECE-9A78-4026-BEEB-F940172A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89BDAE"/>
                </a:solidFill>
                <a:latin typeface="Avenir Next"/>
                <a:ea typeface="Avenir Next"/>
                <a:cs typeface="Avenir Next"/>
              </a:rPr>
              <a:t>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E87363-50C6-4963-9224-10626C9F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076450"/>
            <a:ext cx="1428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14288">
            <a:solidFill>
              <a:srgbClr val="00C8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1F93CE-9AC9-4257-9A02-C237FD53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28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4B74C4-13DC-47FC-BF94-4D8B0E04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2412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002821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002821"/>
                </a:solidFill>
                <a:latin typeface="Songti SC"/>
                <a:ea typeface="Songti SC"/>
                <a:cs typeface="Songti SC"/>
              </a:rPr>
              <a:t>下一轮问题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A7D4DF-111C-4E63-91AE-AA45507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76550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 i="0">
                <a:solidFill>
                  <a:srgbClr val="075C43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075C43"/>
                </a:solidFill>
                <a:latin typeface="Avenir Next"/>
                <a:ea typeface="Avenir Next"/>
                <a:cs typeface="Avenir Next"/>
              </a:rPr>
              <a:t>Next question</a:t>
            </a:r>
          </a:p>
        </p:txBody>
      </p:sp>
      <p:cxnSp>
        <p:nvCxnSpPr>
          <p:cNvPr id="7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336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005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674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7343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601200" y="26384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C99F"/>
            </a:solidFill>
            <a:prstDash val="solid"/>
            <a:head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26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1419225" y="3200400"/>
            <a:ext cx="9334500" cy="228600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rgbClr val="00C86F"/>
            </a:solidFill>
            <a:prstDash val="solid"/>
            <a:head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0D8589-FDAA-4D71-A864-8DD00603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99822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63D34"/>
          </a:solidFill>
          <a:ln xmlns:a="http://schemas.openxmlformats.org/drawingml/2006/main" w="9525">
            <a:solidFill>
              <a:srgbClr val="1B66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E00890-6A7C-45A4-921C-14399D8C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910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MEMORY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50CDA6-76C3-4C1E-8491-EC7C0312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14875"/>
            <a:ext cx="925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研究目标 · 候选假设 · 数据版本 · 证据关系 · 关键决策 · 结果 · 未解决问题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D85A4E-B309-4EFD-9CAB-CA529629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15000"/>
            <a:ext cx="861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BED7CF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BED7CF"/>
                </a:solidFill>
                <a:latin typeface="Heiti SC"/>
                <a:ea typeface="Heiti SC"/>
                <a:cs typeface="Heiti SC"/>
              </a:rPr>
              <a:t>当前闭环由研究者驱动。ScienceX 协助执行、记录与重放，不替代最终科学判断。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A041E3-E2A5-4988-B626-AF5D5FD5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584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D34B64-057B-4A31-95E6-19E5256B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B8A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B8A5"/>
                </a:solidFill>
                <a:latin typeface="Avenir Next"/>
                <a:ea typeface="Avenir Next"/>
                <a:cs typeface="Avenir Next"/>
              </a:rPr>
              <a:t>SCIENCEX · 05</a:t>
            </a:r>
          </a:p>
        </p:txBody>
      </p:sp>
    </p:spTree>
    <p:extLst>
      <p:ext uri="{BB962C8B-B14F-4D97-AF65-F5344CB8AC3E}">
        <p14:creationId xmlns:p14="http://schemas.microsoft.com/office/powerpoint/2010/main" val="2131795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C9F534-549C-4A8C-B04B-C764E96B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F6457-DAE4-4DD6-8D8C-3388B105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CAPABILITY MATURITY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E91A5-4914-479A-AF38-FAD7A4B6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从回答问题，到持续推进研究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AC41B-D99F-407E-9917-9C54E2B8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产品能力与长期愿景分开表达。当前可用、下一阶段与长期愿景，不混在同一张能力清单里。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E746C-6C84-4D2A-B7DB-F74906AD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54F1E-5361-4725-AA95-A97849F3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0FAF4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D5929-F5A1-48EF-8E3D-18A9C585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7D65D-D84D-419D-A058-2262ADF0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2821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002821"/>
                </a:solidFill>
                <a:latin typeface="Heiti SC"/>
                <a:ea typeface="Heiti SC"/>
                <a:cs typeface="Heiti SC"/>
              </a:rPr>
              <a:t>当前可用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E33BE-3499-4D80-B71B-E9C6400D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A583A-AE28-41DC-90B6-4A7FB19A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研究线程、本地项目、科研 Skills、数据版本、确定性分析、证据与重放。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38172-2194-47C3-8EDE-AAD28D44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C8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D8024-C2F1-43E2-900F-04A61E6B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保存上下文 · 执行与记录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F841D-D054-4EBF-803B-4276C205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EF27A-E29C-4840-A3FB-B618AC6B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9B66E-1CA6-4B6F-99C7-C8286362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下一阶段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84137-9118-4404-9761-9F1830F2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0747E-8E19-4FB7-A3CB-A652F63E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更完整地组织计划、执行和验证，并在人工确认后更新研究状态。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63C4D-53BA-41C9-A397-ACECCCD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2E363-C911-43F7-B1E4-B710FDD2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计划 · 执行 · 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DB3F7-A8CB-4C30-8DD8-CD32218D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333750" cy="373380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7F9F5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30E40-EF34-4F9A-A1BD-34D583A7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VISION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899EF-B9EF-4480-9E51-21A16863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193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1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长期愿景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ADE87-A0D9-4AD8-A0FA-80D3A4F7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AI Scientist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9CCCFA-4856-4D1F-AB56-15BC1658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62325"/>
            <a:ext cx="2724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425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让结果持续影响候选假设、实验设计和后续研究方向。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A3A01-8899-4E76-8B27-A846A0CC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625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DBC3F7-F198-4F36-9B46-FB0A9C5F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64736E"/>
                </a:solidFill>
                <a:latin typeface="Avenir Next"/>
                <a:ea typeface="Avenir Next"/>
                <a:cs typeface="Avenir Next"/>
              </a:rPr>
              <a:t>Hypothesis · Evidence · Next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61260B-4F9E-43C3-B3E1-9B7BEA78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05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当前产品定位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8638C4-A4D4-45C3-A108-79EB8EDA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721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ScienceX 当前提供 Research Assistant 能力，后续才逐步走向更完整的 Research Agent。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2C3B1C-133B-4826-A41B-71A09AF3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CC9D05-5B0D-442E-AAEB-D25AFE42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06</a:t>
            </a:r>
          </a:p>
        </p:txBody>
      </p:sp>
    </p:spTree>
    <p:extLst>
      <p:ext uri="{BB962C8B-B14F-4D97-AF65-F5344CB8AC3E}">
        <p14:creationId xmlns:p14="http://schemas.microsoft.com/office/powerpoint/2010/main" val="873800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8CA78-65D4-4340-AC0A-D7B88278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75A25-048E-478D-BFC5-68C3F1E4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RUNNABLE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7A03B-8A00-4916-8383-73953BE0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一条可以实际运行和重放的研究链路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E2B0F-036C-4FCF-ABC2-8F1208CD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本地教学案例保留数据版本、运行证据、失败和不确定性，而不是只展示成功结果。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DD23E-F1DB-4EF9-B9E1-89920496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7db230d5343a1"/>
          <a:stretch xmlns:a="http://schemas.openxmlformats.org/drawingml/2006/main"/>
        </p:blipFill>
        <p:spPr>
          <a:xfrm xmlns:a="http://schemas.openxmlformats.org/drawingml/2006/main">
            <a:off x="552450" y="1831181"/>
            <a:ext cx="11087100" cy="3233738"/>
          </a:xfrm>
          <a:prstGeom xmlns:a="http://schemas.openxmlformats.org/drawingml/2006/main" prst="roundRect">
            <a:avLst>
              <a:gd name="adj" fmla="val 52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6FD4C-E70D-4A02-87FE-4A898393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822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2B68F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2B68F2"/>
                </a:solidFill>
                <a:latin typeface="Avenir Next"/>
                <a:ea typeface="Avenir Next"/>
                <a:cs typeface="Avenir Next"/>
              </a:rPr>
              <a:t>03 MIN   ·   24 WELLS   ·   SHA-256   ·   REPLAY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EDDA2-D418-4AE8-91FA-9BE7662C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2CE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BF992-3484-4753-B116-D24895CE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725515"/>
                </a:solidFill>
                <a:latin typeface="Heiti SC"/>
                <a:ea typeface="Heiti SC"/>
                <a:cs typeface="Heiti SC"/>
              </a:defRPr>
            </a:pPr>
            <a:r>
              <a:rPr sz="1275" b="1" i="0">
                <a:solidFill>
                  <a:srgbClr val="725515"/>
                </a:solidFill>
                <a:latin typeface="Heiti SC"/>
                <a:ea typeface="Heiti SC"/>
                <a:cs typeface="Heiti SC"/>
              </a:rPr>
              <a:t>模拟数据，仅用于产品教学；不代表真实药效、湿实验验证或科学结论。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D3C7D-88FD-48A7-B396-0C205307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09996-413D-46E5-9B3C-8D49230A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07</a:t>
            </a:r>
          </a:p>
        </p:txBody>
      </p:sp>
    </p:spTree>
    <p:extLst>
      <p:ext uri="{BB962C8B-B14F-4D97-AF65-F5344CB8AC3E}">
        <p14:creationId xmlns:p14="http://schemas.microsoft.com/office/powerpoint/2010/main" val="111139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D7E7A2-3FA5-4450-B498-B7E5B173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46B7F-DF14-4F21-BDB4-A3C1DBE9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ACFFA-225F-40CC-ABB6-4ABA48D5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ScienceX 承载一次研究推进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DAFC1-EF3F-4D93-BC4D-12F034D1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模型负责推理。ScienceX 读取研究状态、组织执行能力、保存运行证据，并把关键判断交还给研究者。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64F4B-560F-4C3B-B8C3-12C7D132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5648D-9899-45F0-A71C-5E8DC628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76B75-201B-4AC2-9CDE-6BF4507F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BE461-1FBE-4693-81FB-C1FC5DC0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BB28C-9FA6-4B8B-ABFF-780E0F03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546DC-8705-4933-AFEF-A06B078A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170BA-5E3F-4740-846C-29C00EA2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A4D35-5FC1-4001-A6C8-A6D3FB03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DC467-22F0-43E3-9BD8-0E012994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2821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D1ECA-F1FE-484E-AA96-B1D1C805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947B5-20D6-4555-A9F8-BF92C57F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0352E-CB93-40E0-AEE8-E74FF16A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552C4-A92A-43ED-8854-09F5E467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7DE16-5C25-49B7-9FBF-BC3C3097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7645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AF4"/>
          </a:solidFill>
          <a:ln xmlns:a="http://schemas.openxmlformats.org/drawingml/2006/main" w="14288">
            <a:solidFill>
              <a:srgbClr val="CCD9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E6127-9C6C-499D-B58C-1DA5EA8E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57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68BB9-214C-4354-8B8E-5AFA34A1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90800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Learn</a:t>
            </a:r>
          </a:p>
        </p:txBody>
      </p:sp>
      <p:cxnSp>
        <p:nvCxnSpPr>
          <p:cNvPr id="56" name=""/>
          <p:cNvCxnSpPr>
            <a:stCxn xmlns:a="http://schemas.openxmlformats.org/drawingml/2006/main" id="6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20383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9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42862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2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65341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5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8782050" y="26765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F52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6E6C8-84C1-44A6-A4B8-193CD147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读取问题、线程与证据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ED673-6F3E-4A8B-A5AD-59DA229B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拆解任务与执行路径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D91323-30A1-4E32-99F3-CEE15533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调用已授权能力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C7E64-2800-4EBD-985F-04365583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检查输入、结果与产物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E9B1D-73D6-42F0-B881-27788C91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004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确认后保存关键状态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0901CD-33B2-42B9-B79E-8B422682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110871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BBB819-4EB8-4DA5-965F-7BCA668F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RESEARCH MEMORY · STATE 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06E220-B6C9-4F74-A285-F6F49248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65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目标 · 假设 · 数据版本 · 证据 · 关键决策 · 未解决问题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49D01B-F8B3-4556-9718-CF1C78E4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7680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D5E6E0"/>
                </a:solidFill>
                <a:latin typeface="Heiti SC"/>
                <a:ea typeface="Heiti SC"/>
                <a:cs typeface="Heiti SC"/>
              </a:defRPr>
            </a:pPr>
            <a:r>
              <a:rPr sz="1350" b="1" i="0">
                <a:solidFill>
                  <a:srgbClr val="D5E6E0"/>
                </a:solidFill>
                <a:latin typeface="Heiti SC"/>
                <a:ea typeface="Heiti SC"/>
                <a:cs typeface="Heiti SC"/>
              </a:rPr>
              <a:t>自动化执行不等于科学结论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3C15F1-102A-43D6-B341-A7A8453F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7A7C0B-F3B6-49F3-AC4E-CAC7D403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08</a:t>
            </a:r>
          </a:p>
        </p:txBody>
      </p:sp>
    </p:spTree>
    <p:extLst>
      <p:ext uri="{BB962C8B-B14F-4D97-AF65-F5344CB8AC3E}">
        <p14:creationId xmlns:p14="http://schemas.microsoft.com/office/powerpoint/2010/main" val="17925469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0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2266CC-D9D5-4E5B-8DD5-58C95BB7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D46D7-7C83-4F63-9641-B85833E0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BA61D-197E-4570-8ACB-5335F4D0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20 个科研 Skills，把方法带进任务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754C9-E165-4A4C-9C85-05423139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95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这些 Skills 是可以查看、检查和组合的任务方法，不是藏在聊天框里的提示词。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BB61F-9D2E-40CC-ACBC-AC7DDCF9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92A12-A3B0-41B8-AA56-7B40F55E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333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94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B89D6-B915-48D5-8346-6EC45E86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个科研 Skills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18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已集成到 ScienceX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F8D9E-44F8-48E6-AA4F-AD004939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35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发现、推理、实验、表达、审查与评测，共同覆盖从问题到产物的研究过程。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9C335-9C94-4F6F-A327-AEA90896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21197-6625-4D3D-9214-A924FAA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发现与检索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B5EAA-D687-4011-9202-8685ED04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找到方法、论文与可核对来源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F2909-2558-4D2E-B959-6C51B773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194ED-4236-4278-AA1B-294C591C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find-science-skills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351B1-CBEA-48F6-8986-B485125D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giiisp-paper-search-apis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099AE-1B52-41D9-9753-98060EE5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scansci-pdf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4190E-A0DE-4DCE-95DC-1E37D95A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2E6E2-125C-4173-B575-2710A587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调研与推理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6B40B-201E-436D-8503-2C993F73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形成候选方向并暴露论证缺口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5CAFD-14D1-4A21-A330-C18C7DE9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CBFCC-FE53-40D4-AA86-7D29A1BE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sci-employee-deep-research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130E1-0A02-4092-9EB1-8C2F13EE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scispark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257FE-571B-4022-882F-1381B7EF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863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good-question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9EF00C-EE60-40B0-A9A4-D8FE05B9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544B5-A96A-40A8-B68D-6D50E771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研究与实验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C889F2-8E68-4B46-B62D-0C5C6A7E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908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转成设计、数据基线与验证步骤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AF00D-AFCC-4FB1-83DB-2C7629E5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81375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5C4C6A-4CB1-4DF0-A7E1-7A4BC336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576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experiment-design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2DF216-0BD6-45BE-9B9B-D39CE3B4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research-baseline-builder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1D0016-E986-4F52-A335-AE8E7C37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D6C46F-E528-41C7-A51F-D736DFDE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09</a:t>
            </a:r>
          </a:p>
        </p:txBody>
      </p:sp>
    </p:spTree>
    <p:extLst>
      <p:ext uri="{BB962C8B-B14F-4D97-AF65-F5344CB8AC3E}">
        <p14:creationId xmlns:p14="http://schemas.microsoft.com/office/powerpoint/2010/main" val="10483329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EE3660-8DCB-4426-9D91-5C82F842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93DE8-7D26-446D-9C8D-3A70F3ED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RESEARCH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6D3A7-221D-49E0-93FC-8454BF15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95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7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从研究产出到审查，能力边界都可见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095D3-3B42-475C-8714-57B9A69C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953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方法进入任务后，仍需要质量审查、引用核对、长期记忆和新工具采用前的评测。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F7139-5FEE-4E0C-B7FF-C39C7659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CED03-09F9-4607-9F7E-039B3E03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C13E2-C012-436A-8CA5-372F7594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写作与呈现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D291D-D6D6-4F21-BCF7-DCCFEA47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组织论文、图像、幻灯片、视频与课程产物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9F4F8-2DB4-4B28-8673-994967F0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2BA3F-3470-4DAA-97FA-76748298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academic-writing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B616E-A3C7-4D2A-8E6F-32859F7D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338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AA074-A15A-44B0-AE6A-B40F6098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scientific-humanization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86BD1-1DB0-4174-9644-6976EFD0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B2011-4B5D-484A-936D-4A42E38A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03  giiisp-scientific-image-generation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F5480-EA66-448E-A75E-BF15763B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912FC-35B1-485B-A61C-76A708AA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04  visual-deck-builder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E9A5D-6C78-421D-A2AE-D8E93F20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4827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17A74-96DF-4691-A447-5254043E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05  manim-agent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2C8C0-5179-439C-9B77-1BEE1133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86425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9297E-F479-41F0-AFAF-9A85A3D4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06  practical-course-producer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9FC2C-447F-4ABB-97F6-C59BFFB7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79677-2AE4-4B90-99F2-D7E9B1FF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33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审查与记忆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841E71-1FC8-4FC9-AA05-0B2B3600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检查论文与引用，并保存长期研究上下文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760E0-1A16-45F3-97CD-1FEC4302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147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D8F66E-DC42-4D7F-B65A-FCF8BCCF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thesis-audit-reviewer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782FD-07FC-417A-BCF9-66F09AB1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338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3AFF4D-2093-498E-A26B-BD11FB5A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005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papercheck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959CEB-3CB9-4CA0-8550-C93C1191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7197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61E4F1-D9BC-4E46-B4E3-14246B1C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386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03  cognitive-profile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AEE5C7-03CB-4C0D-BC07-9F8AF4EA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01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148D52-6207-4339-8F25-454A0665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768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04  world-threads-entry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B77E16-5355-44FC-9C65-FC997D2C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895FDA-D6E8-4DA3-AA9C-CFE41BAE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2175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能力评测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C610FE-A752-4384-AE6E-2A6158F0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200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采用新工具前检查 MCP 与 Skill 的质量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CD6970-EB1B-4360-97EB-803097E6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86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BD6990-D088-42E2-BF82-FE216E50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01  mcp-criticagent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CCE21D-7294-452B-AC22-0BEE68B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33825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6D96A9-F381-4D0C-A580-5F388E33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02  skill-criticagent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FF5D2D-8B26-48C8-800B-9289560F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110871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5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64DA7E-5921-423A-82D9-5564E37A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08F52"/>
                </a:solidFill>
                <a:latin typeface="Heiti SC"/>
                <a:ea typeface="Heiti SC"/>
                <a:cs typeface="Heiti SC"/>
              </a:defRPr>
            </a:pPr>
            <a:r>
              <a:rPr sz="1200" b="1" i="0">
                <a:solidFill>
                  <a:srgbClr val="008F52"/>
                </a:solidFill>
                <a:latin typeface="Heiti SC"/>
                <a:ea typeface="Heiti SC"/>
                <a:cs typeface="Heiti SC"/>
              </a:rPr>
              <a:t>已集成不等于无条件可运行。依赖、外部服务、连接状态与用户授权仍然决定实际可用范围。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EA8037-05AE-4BC9-87F8-BBBB30A2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192385-F964-4AF7-8AAC-1C229418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10</a:t>
            </a:r>
          </a:p>
        </p:txBody>
      </p:sp>
    </p:spTree>
    <p:extLst>
      <p:ext uri="{BB962C8B-B14F-4D97-AF65-F5344CB8AC3E}">
        <p14:creationId xmlns:p14="http://schemas.microsoft.com/office/powerpoint/2010/main" val="2851805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30AEDE-4052-40E2-892F-017C93DD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21EB3-CBFD-4EF3-BDA9-401DA496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008F52"/>
                </a:solidFill>
                <a:latin typeface="Avenir Next"/>
                <a:ea typeface="Avenir Next"/>
                <a:cs typeface="Avenir Next"/>
              </a:rPr>
              <a:t>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70ACA-4FB2-43FE-B7C6-DE87170C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defRPr>
            </a:pPr>
            <a:r>
              <a:rPr sz="3000" b="1" i="0">
                <a:solidFill>
                  <a:srgbClr val="063A32"/>
                </a:solidFill>
                <a:latin typeface="Songti SC"/>
                <a:ea typeface="Songti SC"/>
                <a:cs typeface="Songti SC"/>
              </a:rPr>
              <a:t>连接真实环境，也明确使用边界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55B35-5C1A-421B-BCA2-BDDB252D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95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112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只调用本机已安装、已配置并获得授权的能力。连接执行环境，不等于扩大访问权限。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FD670-2515-4006-B3B9-F5482BAD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063A32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41ED7-E0DD-47A1-B4F3-9B385F5C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84D22-7D6D-47F6-A36C-1D8C7DAD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40278-2A32-4D37-BA1E-1A1CEE34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43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AUTHORIZED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D15B9-1F82-43AB-AC5E-AAA68869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D68DA-362F-4780-A952-52E83F9F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本地文件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DEB4F-6562-4B54-9369-273D1329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PDF / CSV / 项目目录</a:t>
            </a:r>
          </a:p>
        </p:txBody>
      </p:sp>
      <p:cxnSp>
        <p:nvCxnSpPr>
          <p:cNvPr id="60" name=""/>
          <p:cNvCxnSpPr>
            <a:stCxn xmlns:a="http://schemas.openxmlformats.org/drawingml/2006/main" id="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543175" y="2343150"/>
            <a:ext cx="2667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1777C-0061-46DC-A150-C3088A2C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526DB-7A6B-421D-9153-A5311FC1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代码与终端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B80A0-0F50-45F2-892C-2187A580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仓库 / 命令 / 脚本</a:t>
            </a:r>
          </a:p>
        </p:txBody>
      </p:sp>
      <p:cxnSp>
        <p:nvCxnSpPr>
          <p:cNvPr id="64" name=""/>
          <p:cNvCxnSpPr>
            <a:stCxn xmlns:a="http://schemas.openxmlformats.org/drawingml/2006/main" id="13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543175" y="3609975"/>
            <a:ext cx="2667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2C72C-8090-4087-A7DC-FE8AA5AD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600A7-2FDD-431F-91F0-43330E8C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85975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模型提供商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C3832-3C3C-4B54-B92C-538AEC83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09825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已配置的推理模型</a:t>
            </a:r>
          </a:p>
        </p:txBody>
      </p:sp>
      <p:cxnSp>
        <p:nvCxnSpPr>
          <p:cNvPr id="68" name=""/>
          <p:cNvCxnSpPr>
            <a:stCxn xmlns:a="http://schemas.openxmlformats.org/drawingml/2006/main" id="1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2809875" y="2343150"/>
            <a:ext cx="381000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86A44-BFA4-40D9-A107-B92709B7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529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181D0-33E7-4181-8471-A3672C6D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863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MCP 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974E9-AFCD-4215-B47F-47E6F3CD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101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已启用的扩展工具</a:t>
            </a:r>
          </a:p>
        </p:txBody>
      </p:sp>
      <p:cxnSp>
        <p:nvCxnSpPr>
          <p:cNvPr id="72" name=""/>
          <p:cNvCxnSpPr>
            <a:stCxn xmlns:a="http://schemas.openxmlformats.org/drawingml/2006/main" id="21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809875" y="3609975"/>
            <a:ext cx="38100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29CF22-9306-4582-A445-5B2F9B96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EFFEE4-AFE1-4403-BCBF-4ED4ACD9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626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数据源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46CBF-8AB6-412D-961A-51FE4DBB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864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授权的数据库与服务</a:t>
            </a:r>
          </a:p>
        </p:txBody>
      </p:sp>
      <p:cxnSp>
        <p:nvCxnSpPr>
          <p:cNvPr id="76" name=""/>
          <p:cNvCxnSpPr>
            <a:stCxn xmlns:a="http://schemas.openxmlformats.org/drawingml/2006/main" id="25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809875" y="3609975"/>
            <a:ext cx="666750" cy="2209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66DC0D-4515-49AF-90E8-5EC3CE58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429250"/>
            <a:ext cx="19526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DD0DD-1F6B-4B1B-AAAB-129F6B91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626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063A32"/>
                </a:solidFill>
                <a:latin typeface="Heiti SC"/>
                <a:ea typeface="Heiti SC"/>
                <a:cs typeface="Heiti SC"/>
              </a:rPr>
              <a:t>计算环境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9B6481-913B-4C79-A09C-4F235072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86450"/>
            <a:ext cx="1724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defRPr>
            </a:pPr>
            <a:r>
              <a:rPr sz="975" b="0" i="0">
                <a:solidFill>
                  <a:srgbClr val="64736E"/>
                </a:solidFill>
                <a:latin typeface="Heiti SC"/>
                <a:ea typeface="Heiti SC"/>
                <a:cs typeface="Heiti SC"/>
              </a:rPr>
              <a:t>本机已有计算能力</a:t>
            </a:r>
          </a:p>
        </p:txBody>
      </p:sp>
      <p:cxnSp>
        <p:nvCxnSpPr>
          <p:cNvPr id="80" name=""/>
          <p:cNvCxnSpPr>
            <a:stCxn xmlns:a="http://schemas.openxmlformats.org/drawingml/2006/main" id="29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2809875" y="3609975"/>
            <a:ext cx="2876550" cy="2209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0B5A6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A3CE74-A3D8-4076-A1D7-D37B8DAE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43075"/>
            <a:ext cx="4638675" cy="415290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003A32"/>
          </a:solidFill>
          <a:ln xmlns:a="http://schemas.openxmlformats.org/drawingml/2006/main" w="9525">
            <a:solidFill>
              <a:srgbClr val="003A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F4314F-C67A-471B-8539-E6DF3184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 使用边界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C7AC60-FBFD-4638-A899-CBE297FE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765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8CBE3A-005C-4A18-B385-D0811A22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AI 纠错，不替你写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55944C-126D-44E2-B184-63F03BE2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146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9A0878-8ECE-4A98-B76F-8DA5D649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623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E87A89-D209-41B1-B5D0-643DD4CB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AI 初筛，不替你读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4369E0-FDF2-4D0A-91BB-2D953ACE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004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84D676-E7AF-49AE-A089-690AC65D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481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207D3E-05AF-4ADB-B382-221F179F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数据有边界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1B5547-CB39-424D-BCBF-3BAEF8B0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86275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67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7BD592-5A5E-4E9B-8A5A-39C636D6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33925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FDC483-E42C-427C-A0BD-8AB8BB9F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05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不夸大结果与结论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79E5AD-4840-4B21-9105-5CDA89CE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4578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CFE2DB"/>
                </a:solidFill>
                <a:latin typeface="Heiti SC"/>
                <a:ea typeface="Heiti SC"/>
                <a:cs typeface="Heiti SC"/>
              </a:defRPr>
            </a:pPr>
            <a:r>
              <a:rPr sz="1200" b="1" i="0">
                <a:solidFill>
                  <a:srgbClr val="CFE2DB"/>
                </a:solidFill>
                <a:latin typeface="Heiti SC"/>
                <a:ea typeface="Heiti SC"/>
                <a:cs typeface="Heiti SC"/>
              </a:rPr>
              <a:t>关键证据仍需人工复核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751B05-7EAD-4BCA-B1A3-493DCEB5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9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2F8653-619D-4D8E-8C67-3C407E90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i="0">
                <a:solidFill>
                  <a:srgbClr val="7B8B85"/>
                </a:solidFill>
                <a:latin typeface="Avenir Next"/>
                <a:ea typeface="Avenir Next"/>
                <a:cs typeface="Avenir Next"/>
              </a:rPr>
              <a:t>SCIENCEX · 11</a:t>
            </a:r>
          </a:p>
        </p:txBody>
      </p:sp>
    </p:spTree>
    <p:extLst>
      <p:ext uri="{BB962C8B-B14F-4D97-AF65-F5344CB8AC3E}">
        <p14:creationId xmlns:p14="http://schemas.microsoft.com/office/powerpoint/2010/main" val="7243986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2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A01E2-00B6-469F-8B13-A1658F28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30956-5CD9-4800-AC6B-87382ECA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09 ·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2A278-3BCD-4783-9A3D-A006A465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5334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第一条链路，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41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从一个真实问题开始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47D6C-904F-4F61-9F6C-97D51BAB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BC071-9037-4F4B-A92C-1005CE75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打开本地研究项目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911A3-8FE1-4EB6-85BB-DF48D024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14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80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56752-37A7-49C0-8D67-ECA0F5E7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EF263-F281-4EA2-88B7-5606453C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说清范围、格式和验收条件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135B3-64C4-4D97-A795-049074CC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146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80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C5B77-1669-4227-A033-7C509E4F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71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220B5-9B1B-4C89-92B8-62D618AE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8612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检查来源、产物与下一步建议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CB80D-F308-45DC-80B9-810BE795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57675"/>
            <a:ext cx="109347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A4A3F"/>
          </a:solidFill>
          <a:ln xmlns:a="http://schemas.openxmlformats.org/drawingml/2006/main" w="9525">
            <a:solidFill>
              <a:srgbClr val="2871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ED689-1CE4-460F-86E6-8CA5D7DA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0C86F"/>
                </a:solidFill>
                <a:latin typeface="Heiti SC"/>
                <a:ea typeface="Heiti SC"/>
                <a:cs typeface="Heiti SC"/>
              </a:defRPr>
            </a:pPr>
            <a:r>
              <a:rPr sz="900" b="1" i="0">
                <a:solidFill>
                  <a:srgbClr val="00C86F"/>
                </a:solidFill>
                <a:latin typeface="Heiti SC"/>
                <a:ea typeface="Heiti SC"/>
                <a:cs typeface="Heiti SC"/>
              </a:rPr>
              <a:t>可以直接开始的示例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7DC64-8BC5-4516-B0A8-87228C52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1040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500" b="1" i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“检索近三年关于 X 的代表论文，按方法、数据、结论和局限整理成表，每条附出处；先给 10 篇，找不到就明确说明，不要编造。”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910D3-021E-4FC9-9AAA-350FF51A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0C86F"/>
                </a:solidFill>
                <a:latin typeface="Avenir Next"/>
                <a:ea typeface="Avenir Next"/>
                <a:cs typeface="Avenir Next"/>
              </a:rPr>
              <a:t>ScienceX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6D10E-58DC-49D0-8B06-006A5582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1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 i="0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科研工作台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A6888-C049-4B06-9ADB-752C2F27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5790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A5C9B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A5C9BC"/>
                </a:solidFill>
                <a:latin typeface="Avenir Next"/>
                <a:ea typeface="Avenir Next"/>
                <a:cs typeface="Avenir Next"/>
              </a:rPr>
              <a:t>github.com/insight68/ScienceX</a:t>
            </a:r>
          </a:p>
        </p:txBody>
      </p:sp>
    </p:spTree>
    <p:extLst>
      <p:ext uri="{BB962C8B-B14F-4D97-AF65-F5344CB8AC3E}">
        <p14:creationId xmlns:p14="http://schemas.microsoft.com/office/powerpoint/2010/main" val="1885408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2026-09-04T13:24:29.6640000Z</dcterms:created>
  <dcterms:modified xsi:type="dcterms:W3CDTF">2026-09-04T13:24:29.6640000Z</dcterms:modified>
</coreProperties>
</file>