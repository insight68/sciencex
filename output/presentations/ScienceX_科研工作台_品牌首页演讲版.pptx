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a273a326e24d17" /><Relationship Type="http://schemas.openxmlformats.org/officeDocument/2006/relationships/extended-properties" Target="/docProps/app.xml" Id="R6b8e217ee7d6434f" /><Relationship Type="http://schemas.openxmlformats.org/officeDocument/2006/relationships/officeDocument" Target="/ppt/presentation.xml" Id="R4426c3a224d84b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bdb1f0bb7c43fb"/>
  </p:sldMasterIdLst>
  <p:notesMasterIdLst>
    <p:notesMasterId xmlns:r="http://schemas.openxmlformats.org/officeDocument/2006/relationships" r:id="Rdcc9c35d9a2940c2"/>
  </p:notesMasterIdLst>
  <p:sldIdLst>
    <p:sldId xmlns:r="http://schemas.openxmlformats.org/officeDocument/2006/relationships" id="256" r:id="Rb2793e1ab35d4370"/>
    <p:sldId xmlns:r="http://schemas.openxmlformats.org/officeDocument/2006/relationships" id="257" r:id="R7b21d421eb024542"/>
    <p:sldId xmlns:r="http://schemas.openxmlformats.org/officeDocument/2006/relationships" id="258" r:id="Rde073fb9c4d54fcd"/>
    <p:sldId xmlns:r="http://schemas.openxmlformats.org/officeDocument/2006/relationships" id="259" r:id="R3a56ddbcb57d45f8"/>
    <p:sldId xmlns:r="http://schemas.openxmlformats.org/officeDocument/2006/relationships" id="260" r:id="Rdda72cfa000f4c95"/>
    <p:sldId xmlns:r="http://schemas.openxmlformats.org/officeDocument/2006/relationships" id="261" r:id="R26e276841e634465"/>
    <p:sldId xmlns:r="http://schemas.openxmlformats.org/officeDocument/2006/relationships" id="262" r:id="R7083b9e2db914a26"/>
    <p:sldId xmlns:r="http://schemas.openxmlformats.org/officeDocument/2006/relationships" id="263" r:id="Ra5418984941e4bf9"/>
    <p:sldId xmlns:r="http://schemas.openxmlformats.org/officeDocument/2006/relationships" id="264" r:id="R16d07c72ba9d413e"/>
    <p:sldId xmlns:r="http://schemas.openxmlformats.org/officeDocument/2006/relationships" id="265" r:id="R44efce7e335e4537"/>
    <p:sldId xmlns:r="http://schemas.openxmlformats.org/officeDocument/2006/relationships" id="266" r:id="Rb489bedbf98a4f34"/>
    <p:sldId xmlns:r="http://schemas.openxmlformats.org/officeDocument/2006/relationships" id="267" r:id="Re910b48edab744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c54c3d177e43fb" /><Relationship Type="http://schemas.openxmlformats.org/officeDocument/2006/relationships/slideMaster" Target="/ppt/slideMasters/slideMaster1.xml" Id="Rb0bdb1f0bb7c43fb" /><Relationship Type="http://schemas.openxmlformats.org/officeDocument/2006/relationships/notesMaster" Target="/ppt/notesMasters/notesMaster1.xml" Id="Rdcc9c35d9a2940c2" /><Relationship Type="http://schemas.openxmlformats.org/officeDocument/2006/relationships/presProps" Target="/ppt/presProps.xml" Id="R0dde47efada74eb8" /><Relationship Type="http://schemas.openxmlformats.org/officeDocument/2006/relationships/tableStyles" Target="/ppt/tableStyles.xml" Id="R55296e66f4174504" /><Relationship Type="http://schemas.openxmlformats.org/officeDocument/2006/relationships/slide" Target="/ppt/slides/slide1.xml" Id="Rb2793e1ab35d4370" /><Relationship Type="http://schemas.openxmlformats.org/officeDocument/2006/relationships/slide" Target="/ppt/slides/slide2.xml" Id="R7b21d421eb024542" /><Relationship Type="http://schemas.openxmlformats.org/officeDocument/2006/relationships/slide" Target="/ppt/slides/slide3.xml" Id="Rde073fb9c4d54fcd" /><Relationship Type="http://schemas.openxmlformats.org/officeDocument/2006/relationships/slide" Target="/ppt/slides/slide4.xml" Id="R3a56ddbcb57d45f8" /><Relationship Type="http://schemas.openxmlformats.org/officeDocument/2006/relationships/slide" Target="/ppt/slides/slide5.xml" Id="Rdda72cfa000f4c95" /><Relationship Type="http://schemas.openxmlformats.org/officeDocument/2006/relationships/slide" Target="/ppt/slides/slide6.xml" Id="R26e276841e634465" /><Relationship Type="http://schemas.openxmlformats.org/officeDocument/2006/relationships/slide" Target="/ppt/slides/slide7.xml" Id="R7083b9e2db914a26" /><Relationship Type="http://schemas.openxmlformats.org/officeDocument/2006/relationships/slide" Target="/ppt/slides/slide8.xml" Id="Ra5418984941e4bf9" /><Relationship Type="http://schemas.openxmlformats.org/officeDocument/2006/relationships/slide" Target="/ppt/slides/slide9.xml" Id="R16d07c72ba9d413e" /><Relationship Type="http://schemas.openxmlformats.org/officeDocument/2006/relationships/slide" Target="/ppt/slides/slide10.xml" Id="R44efce7e335e4537" /><Relationship Type="http://schemas.openxmlformats.org/officeDocument/2006/relationships/slide" Target="/ppt/slides/slide11.xml" Id="Rb489bedbf98a4f34" /><Relationship Type="http://schemas.openxmlformats.org/officeDocument/2006/relationships/slide" Target="/ppt/slides/slide12.xml" Id="Re910b48edab7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c650526fe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8e1e076384f47" /><Relationship Type="http://schemas.openxmlformats.org/officeDocument/2006/relationships/notesMaster" Target="/ppt/notesMasters/notesMaster1.xml" Id="Rc4bbd6b9a310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d4f141979c4505" /><Relationship Type="http://schemas.openxmlformats.org/officeDocument/2006/relationships/notesMaster" Target="/ppt/notesMasters/notesMaster1.xml" Id="R073f41c96cc14c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9359f65984608" /><Relationship Type="http://schemas.openxmlformats.org/officeDocument/2006/relationships/notesMaster" Target="/ppt/notesMasters/notesMaster1.xml" Id="Rdec631468e3e42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fd9a4be5e4ecf" /><Relationship Type="http://schemas.openxmlformats.org/officeDocument/2006/relationships/notesMaster" Target="/ppt/notesMasters/notesMaster1.xml" Id="R9a641fce2f694c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b48d94999547db" /><Relationship Type="http://schemas.openxmlformats.org/officeDocument/2006/relationships/notesMaster" Target="/ppt/notesMasters/notesMaster1.xml" Id="R644f7d7eeb3c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3c77e660d94aab" /><Relationship Type="http://schemas.openxmlformats.org/officeDocument/2006/relationships/notesMaster" Target="/ppt/notesMasters/notesMaster1.xml" Id="R68461276060e49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3c883dad694217" /><Relationship Type="http://schemas.openxmlformats.org/officeDocument/2006/relationships/notesMaster" Target="/ppt/notesMasters/notesMaster1.xml" Id="Ra5320b3668f6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aeabbf80214fee" /><Relationship Type="http://schemas.openxmlformats.org/officeDocument/2006/relationships/notesMaster" Target="/ppt/notesMasters/notesMaster1.xml" Id="R28a15b43f48a43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9357b6cf314f58" /><Relationship Type="http://schemas.openxmlformats.org/officeDocument/2006/relationships/notesMaster" Target="/ppt/notesMasters/notesMaster1.xml" Id="R8b0c66e543c8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6db44190244b79" /><Relationship Type="http://schemas.openxmlformats.org/officeDocument/2006/relationships/notesMaster" Target="/ppt/notesMasters/notesMaster1.xml" Id="Rb312b317297648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fccc5282bd43c8" /><Relationship Type="http://schemas.openxmlformats.org/officeDocument/2006/relationships/notesMaster" Target="/ppt/notesMasters/notesMaster1.xml" Id="Raf56ea2e16d0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afa1a36e7f4396" /><Relationship Type="http://schemas.openxmlformats.org/officeDocument/2006/relationships/notesMaster" Target="/ppt/notesMasters/notesMaster1.xml" Id="R146f0b4f6dfe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开场先给出一句话定位：ScienceX 是开源、本地优先、可追溯的 AI 科研工作台。</a:t>
            </a:r>
          </a:p>
          <a:p xmlns:a="http://schemas.openxmlformats.org/drawingml/2006/main">
            <a:r>
              <a:t>强调“工作台”三个字。它不是只回答问题的聊天框，而是承载研究项目、研究线程、工具调用、数据版本和研究产物的桌面环境。</a:t>
            </a:r>
          </a:p>
          <a:p xmlns:a="http://schemas.openxmlformats.org/drawingml/2006/main">
            <a:r>
              <a:t>这一页只建立共同语言：我们要解决的不是让 AI 说得更多，而是让研究过程更连续、更可核对。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科研时间经常被四类工作切碎：找资料、跟进度、追逻辑和改表达。它们重要，但重复、规模大，也容易丢上下文。</a:t>
            </a:r>
          </a:p>
          <a:p xmlns:a="http://schemas.openxmlformats.org/drawingml/2006/main">
            <a:r>
              <a:t>ScienceX 对每一类工作都要求留下可检查的产物。例如检索不是给几个链接，而是形成带出处的文献表；进度不是聊天记录，而是阶段总结和下一步清单。</a:t>
            </a:r>
          </a:p>
          <a:p xmlns:a="http://schemas.openxmlformats.org/drawingml/2006/main">
            <a:r>
              <a:t>右侧是不能外包的部分。研究者仍然决定读什么、信什么、优先做什么，以及结论是否成立。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ScienceX 的责任边界。左边是系统擅长的执行、整理、计算和记录，右边是研究者必须承担的判断。</a:t>
            </a:r>
          </a:p>
          <a:p xmlns:a="http://schemas.openxmlformats.org/drawingml/2006/main">
            <a:r>
              <a:t>中间的“确认”很关键。自动化结果只有在研究者检查来源、方法、告警和产物之后，才可以进入下一轮研究状态。</a:t>
            </a:r>
          </a:p>
          <a:p xmlns:a="http://schemas.openxmlformats.org/drawingml/2006/main">
            <a:r>
              <a:t>因此我们把当前运行模式明确写成 Human-driven Research Loop。ScienceX 能加速研究，但不替代研究者签署最终结论。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这里展示的是当前品牌首页中的真实产品界面，已经裁切并脱敏。</a:t>
            </a:r>
          </a:p>
          <a:p xmlns:a="http://schemas.openxmlformats.org/drawingml/2006/main">
            <a:r>
              <a:t>左侧研究线程承载研究问题、过程说明、文件和后续行动；右上是定时任务入口；右下是产品里可查看的科研 Skills。</a:t>
            </a:r>
          </a:p>
          <a:p xmlns:a="http://schemas.openxmlformats.org/drawingml/2006/main">
            <a:r>
              <a:t>这说明 ScienceX 的价值不在于功能数量，而在于这些能力是否在同一个研究上下文中持续工作。</a:t>
            </a:r>
          </a:p>
          <a:p xmlns:a="http://schemas.openxmlformats.org/drawingml/2006/main">
            <a:r>
              <a:t>定时任务也有明确边界：本地任务只在应用运行、设备保持唤醒时执行。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的核心不是线性工作流，而是 Research Loop。研究问题产生候选假设，假设需要证据与数据，再进入实验或计算。</a:t>
            </a:r>
          </a:p>
          <a:p xmlns:a="http://schemas.openxmlformats.org/drawingml/2006/main">
            <a:r>
              <a:t>结果必须连同边界一起被保存，然后转化成下一轮问题。闭环的价值，是每一轮都能知道我们改了什么、为什么改、结果如何变化。</a:t>
            </a:r>
          </a:p>
          <a:p xmlns:a="http://schemas.openxmlformats.org/drawingml/2006/main">
            <a:r>
              <a:t>底部的 Research Memory 是状态层。它保存目标、假设、数据版本、证据关系、关键决策、结果和未解决问题。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这一页刻意把现在、下一阶段和长期愿景分开，避免把未来能力当成现状。</a:t>
            </a:r>
          </a:p>
          <a:p xmlns:a="http://schemas.openxmlformats.org/drawingml/2006/main">
            <a:r>
              <a:t>当前可用的是 Research Assistant：研究线程、本地项目、科研 Skills、数据版本、确定性分析、证据和重放。</a:t>
            </a:r>
          </a:p>
          <a:p xmlns:a="http://schemas.openxmlformats.org/drawingml/2006/main">
            <a:r>
              <a:t>下一阶段才是更完整的 Research Agent，它需要在人工确认后组织计划、执行和验证。AI Scientist 是长期愿景，强调结果持续改变候选假设和研究方向。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这条案例用模拟细胞活力数据演示完整研究链路，三分钟内完成版本化实验设计、确定性 4PL 分析、技术证据评估和结果重放。</a:t>
            </a:r>
          </a:p>
          <a:p xmlns:a="http://schemas.openxmlformats.org/drawingml/2006/main">
            <a:r>
              <a:t>四个事实可以核对：24 个孔位、SHA-256 输入与产物哈希、固定原始版本重放，以及三类研究产物。</a:t>
            </a:r>
          </a:p>
          <a:p xmlns:a="http://schemas.openxmlformats.org/drawingml/2006/main">
            <a:r>
              <a:t>更重要的是，它保留失败和不确定性。缺孔输入会明确失败，弱响应会标记“技术证据尚无定论”，系统不会静默补值或把运行完成写成科学结论。</a:t>
            </a:r>
          </a:p>
          <a:p xmlns:a="http://schemas.openxmlformats.org/drawingml/2006/main">
            <a:r>
              <a:t>需要明确：这是产品教学中的模拟数据，不代表真实药效或湿实验验证。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一次研究推进分成五个动作。先理解当前问题和证据，再形成计划，之后调用已授权能力执行。</a:t>
            </a:r>
          </a:p>
          <a:p xmlns:a="http://schemas.openxmlformats.org/drawingml/2006/main">
            <a:r>
              <a:t>执行后必须验证输入、结果、告警和产物，最后由研究者确认哪些状态值得保留。</a:t>
            </a:r>
          </a:p>
          <a:p xmlns:a="http://schemas.openxmlformats.org/drawingml/2006/main">
            <a:r>
              <a:t>底部的状态层把每次运行连接起来。这样下一次不是从空白聊天开始，而是从已有目标、假设、数据版本和未解决问题继续。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当前首页列出 20 个科研 Skills。它们按研究任务组织，而不是按技术栈堆叠。</a:t>
            </a:r>
          </a:p>
          <a:p xmlns:a="http://schemas.openxmlformats.org/drawingml/2006/main">
            <a:r>
              <a:t>这一页先看研究前半程：发现与检索、调研与推理、研究与实验。研究者能看到 Skill 的名称、用途和适用边界。</a:t>
            </a:r>
          </a:p>
          <a:p xmlns:a="http://schemas.openxmlformats.org/drawingml/2006/main">
            <a:r>
              <a:t>例如 scansci-pdf 负责论文获取流程，good-question 用评审式追问暴露论证缺口，experiment-design 把研究问题转成实验设计。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这一页是研究后半程。写作与呈现能力负责把研究过程组织成论文、图像、幻灯片、视频和课程产物。</a:t>
            </a:r>
          </a:p>
          <a:p xmlns:a="http://schemas.openxmlformats.org/drawingml/2006/main">
            <a:r>
              <a:t>审查与记忆能力负责论文审查、引用核对和长期上下文；能力评测则在采用新的 MCP 或 Skill 之前检查质量。</a:t>
            </a:r>
          </a:p>
          <a:p xmlns:a="http://schemas.openxmlformats.org/drawingml/2006/main">
            <a:r>
              <a:t>需要再次强调，已集成不等于无条件可运行。某些 Skills 需要本机依赖、外部服务或用户授权，ScienceX 不会默认获得论文库、数据库或其他系统的访问权。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可以连接本地文件、代码与终端、模型提供商、MCP、数据源和计算环境，但每一项都以本机配置和用户授权为前提。</a:t>
            </a:r>
          </a:p>
          <a:p xmlns:a="http://schemas.openxmlformats.org/drawingml/2006/main">
            <a:r>
              <a:t>连接环境不等于自动拥有访问权。ScienceX 不会默认获得数据库、论文库或第三方系统权限。</a:t>
            </a:r>
          </a:p>
          <a:p xmlns:a="http://schemas.openxmlformats.org/drawingml/2006/main">
            <a:r>
              <a:t>右侧四条边界是面向科研使用的底线：AI 可以纠错但不替代论证，可以初筛但不替代精读；敏感和未公开数据要先确认边界；运行结果不能被夸大成科学结论。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收束到一个可执行的开始方式。打开本地研究项目，说清范围、输出格式和验收条件，然后检查来源、产物与下一步建议。</a:t>
            </a:r>
          </a:p>
          <a:p xmlns:a="http://schemas.openxmlformats.org/drawingml/2006/main">
            <a:r>
              <a:t>示例指令故意包含四个约束：时间范围、整理维度、每条出处，以及找不到就明确说明。这些约束让任务可检查，也把“不要编造”写成验收标准。</a:t>
            </a:r>
          </a:p>
          <a:p xmlns:a="http://schemas.openxmlformats.org/drawingml/2006/main">
            <a:r>
              <a:t>最后回到产品定位：ScienceX 是科研工作台。它让研究问题、证据、运行和下一步进入同一条可追溯链路。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a0123b4e9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6f5fe8ab1451c" /><Relationship Type="http://schemas.openxmlformats.org/officeDocument/2006/relationships/slideLayout" Target="/ppt/slideLayouts/slideLayout1.xml" Id="R082bdb495ced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bdb495ced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50bd6c81e4efb" /><Relationship Type="http://schemas.openxmlformats.org/officeDocument/2006/relationships/notesSlide" Target="/ppt/notesSlides/notesSlide1.xml" Id="R7eff571df22f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e7b7c0d764d76" /><Relationship Type="http://schemas.openxmlformats.org/officeDocument/2006/relationships/notesSlide" Target="/ppt/notesSlides/notesSlide2.xml" Id="R5aa5db43cf064c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d6337e15e4b1a" /><Relationship Type="http://schemas.openxmlformats.org/officeDocument/2006/relationships/notesSlide" Target="/ppt/notesSlides/notesSlide3.xml" Id="Ra1df04d064cc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351d533264c61" /><Relationship Type="http://schemas.openxmlformats.org/officeDocument/2006/relationships/image" Target="/ppt/media/image.png" Id="Re561edb6c94c455c" /><Relationship Type="http://schemas.openxmlformats.org/officeDocument/2006/relationships/notesSlide" Target="/ppt/notesSlides/notesSlide4.xml" Id="R578da2014e844e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d06ee0af249ca" /><Relationship Type="http://schemas.openxmlformats.org/officeDocument/2006/relationships/notesSlide" Target="/ppt/notesSlides/notesSlide5.xml" Id="R99f13aed70a647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1430917e541d3" /><Relationship Type="http://schemas.openxmlformats.org/officeDocument/2006/relationships/notesSlide" Target="/ppt/notesSlides/notesSlide6.xml" Id="R7141b9bd1d6a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031b233ab4a34" /><Relationship Type="http://schemas.openxmlformats.org/officeDocument/2006/relationships/image" Target="/ppt/media/image2.png" Id="Rdb4a561927ae4201" /><Relationship Type="http://schemas.openxmlformats.org/officeDocument/2006/relationships/notesSlide" Target="/ppt/notesSlides/notesSlide7.xml" Id="R852bbce87a0d44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3d7aa4ff4a12" /><Relationship Type="http://schemas.openxmlformats.org/officeDocument/2006/relationships/notesSlide" Target="/ppt/notesSlides/notesSlide8.xml" Id="R6ee46c35913f49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97e7950804f25" /><Relationship Type="http://schemas.openxmlformats.org/officeDocument/2006/relationships/notesSlide" Target="/ppt/notesSlides/notesSlide9.xml" Id="Rd196240b83e84e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78b593afd43e0" /><Relationship Type="http://schemas.openxmlformats.org/officeDocument/2006/relationships/notesSlide" Target="/ppt/notesSlides/notesSlide10.xml" Id="R33c94968e0354f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66c9975fc4df3" /><Relationship Type="http://schemas.openxmlformats.org/officeDocument/2006/relationships/notesSlide" Target="/ppt/notesSlides/notesSlide11.xml" Id="R731456114b644c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6fcecdc1047fb" /><Relationship Type="http://schemas.openxmlformats.org/officeDocument/2006/relationships/notesSlide" Target="/ppt/notesSlides/notesSlide12.xml" Id="R90d365bd9455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7C77C-7E28-456D-9A0E-68301CC2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6F65E-2D76-4801-8761-8000657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OPEN SOURCE · LOCAL FIRST ·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FCB4-4009-4569-A63B-B0247678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00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4A358-1D10-413D-BC34-C0AD89ED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defRPr>
            </a:pPr>
            <a:r>
              <a: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04619-723E-4790-A585-3CCF4504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让研究问题、证据与下一步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进入同一条可追溯链路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ADBD9-6BF5-4274-BBF3-B33A3FF4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04900"/>
            <a:ext cx="295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E5B09-3785-4D83-BCED-6F87323B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810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D05C2-E9BB-476D-9986-A035016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476375" cy="1476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3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056B5-AEC5-4400-BB62-6264E6F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本地数据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8CE54-90FE-40E2-AD58-A00399BE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开放源码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3536B-F119-44B2-9C49-577A5143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1381125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跨平台桌面端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0914F-173D-488F-AC54-62FC57E0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SCIENCEX · BRAND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486B7-99A8-4656-9F66-F2DFC70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302384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2BB606-D853-4429-A15C-48B40EF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F901F-D99B-49D5-B026-B9C7D178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DAILY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7F0E-0A21-4910-8389-09F0B60D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四件重复工作交给 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4B8AD-308D-4D98-A80C-D844D08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科研最稀缺的不是信息，而是研究者的注意力。可重复、可检查的工作交给系统，关键判断留给研究者。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A588E-D522-4A1C-B413-7BC1B4C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A6D32-8F70-4CA8-B024-BC6684C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重复工作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158D3-E2C7-478E-953E-7FE2366D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形成产物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3C53C-D0E8-4886-AF6E-74AB9647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研究者保留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40EF8-D727-44FE-8BFA-0D97975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AE5AB-67B9-4F4A-B371-BA09915F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E5F31-6C8F-4720-BB10-552AA36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搜索资料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0ED8F-54E4-46BC-B1B3-9D7E6D63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带出处的文献表与证据摘要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CC4A3-BA29-440B-9821-03DCD25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决定精读什么、相信什么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0CEDF-58D1-4D8B-AA6F-4A08C0D5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2BE0D-8386-49BC-8D91-EDFE0188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D6D63-F10A-4303-8326-A0975C7F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进度跟踪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6B9F9-24A4-4B67-940C-ECA94FD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进度板、阶段总结与下一步清单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6D30A-7674-45C4-BAE5-19A87927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决定优先级和研究方向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1F243-382A-436C-8C3C-77C57FF9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DDC1C-7FCB-4887-9278-E52E91CE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ECCFA-FB9D-42DA-B80E-8F8482C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理清逻辑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A7C46-644B-47CA-9840-C753FDF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论证缺口与待验证问题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F2011-6901-4BA5-B296-ABA6A600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回答关键问题、修正论证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8D042-8F6E-45EC-8970-2339E8E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C7736-A045-4359-8D7A-04FCCCE2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C6D28-BE56-4F73-AE5B-D5843D25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修改表达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8B8D0-A0E0-42B8-A740-451187BD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修改建议、差异记录与风格档案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BB74F-E6D1-4007-A337-AE97D8E9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24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保留观点、结论和个人风格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05540-979F-4839-AFA8-830F965D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A34A36-80B5-4CCE-BFB1-CCD8AE00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87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5BBA9-6CF9-4569-9793-04E5C96E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提速的关键不是让 AI 代替思考，而是让它接手重复工作，并把证据和下一步留在研究过程里。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86444-F153-41D0-BBAF-AB7111A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E917C-DE72-482F-967B-B9816D0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02</a:t>
            </a:r>
          </a:p>
        </p:txBody>
      </p:sp>
    </p:spTree>
    <p:extLst>
      <p:ext uri="{BB962C8B-B14F-4D97-AF65-F5344CB8AC3E}">
        <p14:creationId xmlns:p14="http://schemas.microsoft.com/office/powerpoint/2010/main" val="936098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0BEEA-8CA6-4081-9FA1-862EE7B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DBF7B-5A1C-4D9B-8967-C75334C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HUMAN IN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D95AB-5D1B-470F-860E-A2FEF47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系统执行，研究者判断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5ACBA-B189-42DC-B36A-1C35A642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高风险操作需要授权，关键证据需要人工复核。ScienceX 承担执行和记录，研究者承担科学判断。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4A9D6-A18F-4B3E-96E2-94F10CEC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7B9B1-DC80-44F8-92F0-5E950A64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5219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5B582-20D1-4747-A0B9-8C7BB9FF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81175"/>
            <a:ext cx="5600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F57AF-41C9-44E7-9B3F-9014C446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C628-6A6D-42C0-AEA8-038BFACE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执行与记录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F9DBA-8A02-4EE3-8A36-B82DAC22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00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检索、阅读与整理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编码、计算与比较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执行获得授权的工具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保存过程和候选假设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4942D-6306-422B-94FD-1D0705A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A5E2E-5157-4BFB-BF19-A0905434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科学判断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4F61F-5847-4303-80A0-2074883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提出重要研究问题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审核方案与关键证据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判断结果是否成立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决定下一轮研究方向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C80D5-56B4-4E70-8756-5AC7612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0E1B0-6704-49F0-96E5-5AD71551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242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9CC87-98FB-446C-928F-C7AFF732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34050"/>
            <a:ext cx="889635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063A32"/>
          </a:solidFill>
          <a:ln xmlns:a="http://schemas.openxmlformats.org/drawingml/2006/main" w="9525">
            <a:solidFill>
              <a:srgbClr val="06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837F7-5AFF-4130-B0BB-FD9D154F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Human-driven Research Loop  ·  研究者发起、授权、复核并作出最终判断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B7B05-71B0-4B01-878C-3E69D1F1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53863-045C-48A4-93A5-A1FBC4A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03</a:t>
            </a:r>
          </a:p>
        </p:txBody>
      </p:sp>
    </p:spTree>
    <p:extLst>
      <p:ext uri="{BB962C8B-B14F-4D97-AF65-F5344CB8AC3E}">
        <p14:creationId xmlns:p14="http://schemas.microsoft.com/office/powerpoint/2010/main" val="1629545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74856-324C-4A0A-ABED-83FAF4F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65437-8A76-4147-BE98-0621E815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PRODUCT IN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4B9B-6AE6-41ED-BDF7-D09E751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产品已经进入研究过程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58B49-B836-46CB-BB60-3D3EA887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研究项目、研究线程、定时任务与科研 Skills，已经进入同一个桌面工作台。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D585F-8C9F-4DA2-BCFB-251FF9E9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1edb6c94c455c"/>
          <a:srcRect xmlns:a="http://schemas.openxmlformats.org/drawingml/2006/main" l="0" t="5685" r="0" b="5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19250"/>
            <a:ext cx="11087100" cy="4572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EE5B8-5234-4BC1-82E9-A320D994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46F8-1CF9-4EE1-ACF8-53D1C884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04</a:t>
            </a:r>
          </a:p>
        </p:txBody>
      </p:sp>
    </p:spTree>
    <p:extLst>
      <p:ext uri="{BB962C8B-B14F-4D97-AF65-F5344CB8AC3E}">
        <p14:creationId xmlns:p14="http://schemas.microsoft.com/office/powerpoint/2010/main" val="785105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8F5046-2884-42DB-9277-2298C289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54E25-BF73-4B10-B5AD-7BCBED4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C265A-669E-4A59-8296-D2246A39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科研不是一次性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10F37-F4D2-4A45-8B38-A73E786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rPr>
              <a:t>结果不是终点，而是下一轮研究的输入。ScienceX 保存状态并执行任务，研究者判断证据与方向。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A37BE-F9E2-499E-A970-7D8A362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8811A-E691-4A94-8FF9-0B4C1574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EE9B9-5DE1-4B97-B1A9-3A4D737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180FB-7F09-4080-93C9-68F9E42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A0866-375D-4D8E-9E75-65248AB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317B1-14D0-42A7-B1FE-16DCA485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CF1B2-6B8D-4B27-9F91-3555662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0BEA-D587-4617-ACC8-0F0D2B76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候选假设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3287C-59F5-41BA-9FDC-954A7EC1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30899-6958-439D-AD21-1530E5C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639F8-B130-437B-87CD-192509C1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0C4F3-0300-49FC-B939-2DF9723C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证据与数据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FE81F-8AF9-4826-8D69-EB75DEA7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D6011-DD43-4398-9ABA-99F00DB6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1135D-195A-4BF4-97ED-5F43CD7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182A4-B1E0-460E-9CCC-25B0075D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实验 / 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87CAC-58C5-40C4-8B4F-3045F51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D19B9-A9A1-4632-A762-9B516AF3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2CB0C-6599-47B3-BD79-912B70E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2A4A3-1A7E-412F-A6F5-0B127DA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FECD6-74B1-424C-AF32-BCF8E7A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0CC33-304B-4ED9-AB45-8D6162AD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14288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D5D387-D654-44FD-A38D-49D4D34A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1432C-1515-4E31-A027-AC02CB7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rPr>
              <a:t>下一轮问题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56042-A4B9-443B-83AC-3EDF4304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rPr>
              <a:t>Next question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336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005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343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6012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6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419225" y="3200400"/>
            <a:ext cx="93345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00C86F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C9C33-5BAA-4B12-8B25-92D75841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98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63D34"/>
          </a:solidFill>
          <a:ln xmlns:a="http://schemas.openxmlformats.org/drawingml/2006/main" w="9525">
            <a:solidFill>
              <a:srgbClr val="1B66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B00C83-C8DB-4057-A56C-6DD64B9A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91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C787C2-4B83-47B0-95F6-70D7627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4875"/>
            <a:ext cx="925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研究目标 · 候选假设 · 数据版本 · 证据关系 · 关键决策 · 结果 · 未解决问题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3FCDA8-942E-4753-AE20-B7392B2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rPr>
              <a:t>当前闭环由研究者驱动。ScienceX 协助执行、记录与重放，不替代最终科学判断。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CF25F0-5DF6-4179-96AB-52EC1265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58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E94F20-26A2-4943-A866-8F12748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rPr>
              <a:t>SCIENCEX · 05</a:t>
            </a:r>
          </a:p>
        </p:txBody>
      </p:sp>
    </p:spTree>
    <p:extLst>
      <p:ext uri="{BB962C8B-B14F-4D97-AF65-F5344CB8AC3E}">
        <p14:creationId xmlns:p14="http://schemas.microsoft.com/office/powerpoint/2010/main" val="414164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C46D4-76A0-44B4-899D-5E617EAD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8CCEA-D854-42E2-8E0C-7768B6D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CAPABILITY 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5B5FF-7599-4833-92A5-3795C19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从回答问题，到持续推进研究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CC7D0-FE5C-4EA2-A863-977CED74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产品能力与长期愿景分开表达。当前可用、下一阶段与长期愿景，不混在同一张能力清单里。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B270A-AD2A-49BC-BDF9-85F375CB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168E-BD23-4E87-8569-9C856E7D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A1496-0F22-49F4-9ABA-544C51E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09BDA-8325-445B-84F8-B9933A6C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2821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002821"/>
                </a:solidFill>
                <a:latin typeface="Heiti SC"/>
                <a:ea typeface="Heiti SC"/>
                <a:cs typeface="Heiti SC"/>
              </a:rPr>
              <a:t>当前可用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AA3E1-F1E2-42EA-AA28-CBDD936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C8A70-17E1-40EA-8E89-B89C5D93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研究线程、本地项目、科研 Skills、数据版本、确定性分析、证据与重放。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981E-8491-47CD-B148-8775CD7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C8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F54AD-7ADB-46E3-B17A-99CC2295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保存上下文 · 执行与记录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256D0-6FB9-40F4-B490-F75A301B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4EB9B-1FF0-4F8A-ABD2-3FE5B16C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91C6A-8ED6-4418-8A19-D3FD23BC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下一阶段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D61C0-32DF-4CF8-80EA-266120E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C1148-0E81-4E3E-AEE2-628192A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更完整地组织计划、执行和验证，并在人工确认后更新研究状态。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E4EE1-4B2C-47FA-AD41-4CAA5975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573FA-8D2B-41CE-9267-DB60C46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计划 · 执行 · 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3B755-2D3E-42D9-9CEF-A6DD0BF6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713B7-CDDC-4114-8809-032B373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1A936-0CC5-4FC8-A012-3DCCE39C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长期愿景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4CB49-E539-417A-A8E7-2A342A2E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AI Scientist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858AF-A03D-4C3A-A4AC-284B943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让结果持续影响候选假设、实验设计和后续研究方向。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17146-8978-4250-BE82-81244F7E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43D1F-1D45-4F2E-901F-0847682C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Hypothesis · Evidence · 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359C4-01E3-4FE4-B44D-59698A8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当前产品定位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93134-830E-467C-BF4B-71F696CE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ScienceX 当前提供 Research Assistant 能力，后续才逐步走向更完整的 Research Agent。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D503C-2BD2-4337-A880-B22E2B8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5D575-DDFA-430D-B1E5-C16E0A7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06</a:t>
            </a:r>
          </a:p>
        </p:txBody>
      </p:sp>
    </p:spTree>
    <p:extLst>
      <p:ext uri="{BB962C8B-B14F-4D97-AF65-F5344CB8AC3E}">
        <p14:creationId xmlns:p14="http://schemas.microsoft.com/office/powerpoint/2010/main" val="911688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6FB22-3E76-4E87-8581-7785DE2C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229EB-C64D-4A4B-A639-62127297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RUNNABLE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51DF5-8376-4121-9477-356F1039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一条可以实际运行和重放的研究链路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BF133-02B9-414D-BC91-55A9345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本地教学案例保留数据版本、运行证据、失败和不确定性，而不是只展示成功结果。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8E693-ACF7-45CF-BD77-8CA2EC8F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a561927ae4201"/>
          <a:stretch xmlns:a="http://schemas.openxmlformats.org/drawingml/2006/main"/>
        </p:blipFill>
        <p:spPr>
          <a:xfrm xmlns:a="http://schemas.openxmlformats.org/drawingml/2006/main">
            <a:off x="552450" y="1831181"/>
            <a:ext cx="11087100" cy="3233738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DD791-C067-4D34-8F8D-617FA65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822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rPr>
              <a:t>03 MIN   ·   24 WELLS   ·   SHA-256   ·  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B000E-5500-4B51-B26C-8CDC9054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2CE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41E3B-48C9-4707-9C29-27C513CC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rPr>
              <a:t>模拟数据，仅用于产品教学；不代表真实药效、湿实验验证或科学结论。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6425-849F-4C16-A26E-14672D30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72B24-7E17-450A-BF31-01D04C29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07</a:t>
            </a:r>
          </a:p>
        </p:txBody>
      </p:sp>
    </p:spTree>
    <p:extLst>
      <p:ext uri="{BB962C8B-B14F-4D97-AF65-F5344CB8AC3E}">
        <p14:creationId xmlns:p14="http://schemas.microsoft.com/office/powerpoint/2010/main" val="819146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8A594-7201-4FC1-BD85-68A7634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CFB55-A2C3-48D1-85D8-1C647E77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BB1EC-516B-4904-BDCE-1417BA8A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ScienceX 承载一次研究推进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BDDD2-D640-453D-8441-938D1FD2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模型负责推理。ScienceX 读取研究状态、组织执行能力、保存运行证据，并把关键判断交还给研究者。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03AFC-EFB7-4585-98AD-FE1786E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330F1-8B95-40F4-8A1D-756C4A7E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3040-F21C-4EF5-AB0C-821E4522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0A2B2-54AE-463C-B851-DD915E8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7E33C-F123-4A54-9E72-7B62B37F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151C7-266E-4F30-94B2-C2110C5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B5151-C9C7-4D4C-BDA8-770157AF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AE91B-4E1A-4E4C-A077-20D332BD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CA716-9CDB-439F-9868-25816C7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F415C-54D0-46CE-BD0B-660AAAF3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03D41-B14F-4BB5-9394-A2980D62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ECE90-BAD5-415C-97F0-6C799DA6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FDAD5-58B0-468D-BB16-80913D4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1056B-8411-455D-BA02-A53E2964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B0C87-D381-469C-9BFB-ACBED0AD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5D934-1E0A-4C95-A8BB-E220C756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cxnSp>
        <p:nvCxnSpPr>
          <p:cNvPr id="56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0383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862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5341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87820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C496-FE05-4187-B74A-CBA6B83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读取问题、线程与证据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1EBB6-10C8-4A7E-8E6B-43552FF0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拆解任务与执行路径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B4297-9AA2-43B0-B492-557AAAB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调用已授权能力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3AE25-631D-4930-9F88-ADB05DD1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检查输入、结果与产物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80F2B-F53B-406D-B52D-46F26252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确认后保存关键状态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9CED6-E6F6-47EA-93D2-DC09BDF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871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7CACA-92DA-4FF7-B676-9C87EA65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 · STATE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D7C5B-6A24-4988-A966-CE8F942B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目标 · 假设 · 数据版本 · 证据 · 关键决策 · 未解决问题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293D68-3242-45F5-99C6-88E934F6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rPr>
              <a:t>自动化执行不等于科学结论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61DEF6-16AC-4EB4-B123-63CD3214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B7D9B3-A87C-4790-BF69-91143575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08</a:t>
            </a:r>
          </a:p>
        </p:txBody>
      </p:sp>
    </p:spTree>
    <p:extLst>
      <p:ext uri="{BB962C8B-B14F-4D97-AF65-F5344CB8AC3E}">
        <p14:creationId xmlns:p14="http://schemas.microsoft.com/office/powerpoint/2010/main" val="1057593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349A8-CEAE-4BAF-8267-8F2CD0E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C2932-47D5-48C7-97A5-6019F4B7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18A8-0D6F-4FEF-A733-4830553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20 个科研 Skills，把方法带进任务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511FF-D951-409A-885F-9A4537B2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这些 Skills 是可以查看、检查和组合的任务方法，不是藏在聊天框里的提示词。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9D317-F5DB-4644-90A0-99A5A677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57725-5C87-4F82-B373-F7B98232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33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8D018-2E45-4897-BDAC-76409DEF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个科研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已集成到 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5A786-891B-4381-B7A1-57071392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发现、推理、实验、表达、审查与评测，共同覆盖从问题到产物的研究过程。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48575-F0CB-4F09-8006-7BD4B2F6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BE4E6-D6E9-49DE-852C-441EA27C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发现与检索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8E444-9062-4B7E-BF2C-4782373F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找到方法、论文与可核对来源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D3558-A4F5-4DA7-8659-7989E6A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3DF54-A0E5-4F6B-A654-5E8109E6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find-science-skills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7767C-CFEA-47E0-AB19-566DC1D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giiisp-paper-search-apis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B9A18-AA53-4336-9F6E-BCBABCC4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scansci-pdf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95FDF-A7D1-4AF5-B7AF-F20639A0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E186E-4E3F-4172-919D-7D3D91F8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调研与推理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C516A-7008-412B-873B-2BD4F6DD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形成候选方向并暴露论证缺口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99639-F047-4941-A762-70A83B4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72347-4CA2-4170-9C6C-0295160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sci-employee-deep-research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31A12-2E51-44C2-A2F6-1FDAA90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BC512-7D27-4880-AD1B-60C850DF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good-question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E2826-031E-4E49-950A-9C2203BD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918DC-6CFF-4CF8-8644-DB3E9495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研究与实验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368BE-0535-4319-BCF6-D9F608FC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转成设计、数据基线与验证步骤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3BBC2-2F96-4DDF-AE7B-379F633E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75B90-7086-4A07-95E4-2E737D0B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experiment-design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410BE-D01F-446F-AA04-D52A5346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research-baseline-builder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D5561-EFB1-4D99-86BB-952EA64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9EEBF-9FA4-4507-93F0-0652917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09</a:t>
            </a:r>
          </a:p>
        </p:txBody>
      </p:sp>
    </p:spTree>
    <p:extLst>
      <p:ext uri="{BB962C8B-B14F-4D97-AF65-F5344CB8AC3E}">
        <p14:creationId xmlns:p14="http://schemas.microsoft.com/office/powerpoint/2010/main" val="1693605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DC3567-1DE0-4812-BB52-3AA91D1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74CF6-6717-49DE-9EE4-E53190C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C6AA-0B27-4E0A-8C1F-A3CBF2FE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从研究产出到审查，能力边界都可见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841EF-87A1-424D-89DD-07601563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方法进入任务后，仍需要质量审查、引用核对、长期记忆和新工具采用前的评测。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0848B-4DD4-49FE-84DC-93EFAA5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3E9BF-F463-4AB4-8890-90BC3796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631E5-15D3-4F5D-868A-F613B986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写作与呈现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D153E-FD15-4AC0-8B79-F232E8BE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组织论文、图像、幻灯片、视频与课程产物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60403-A035-4619-AAE2-01C375C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4AEF1-845B-4BEA-9FB1-9B064852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academic-writing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402C-7440-491A-AA25-2B2AC6A4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0BF2E-068F-4307-9C9B-3CF8603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scientific-humanization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16B87-AF01-4E79-B936-7024D9B4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7FDCA-4932-4523-B265-14A2D3B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giiisp-scientific-image-generation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AD9EA-595E-471B-9F2B-BA125EC3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06D68-2E35-4AB5-948E-8A9671AB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visual-deck-builder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E73E3-E770-444B-A4EF-1914F89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0C10F-473E-4D9F-ACDC-A3F5808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05  manim-agent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AC24A-0388-49DC-8109-C2642B13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5A900-8F74-4BB2-BBB1-701820E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06  practical-course-producer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7E736-0CDC-4BC3-B478-9993D108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BE550-7484-49E4-A76A-E7E5C8A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审查与记忆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0519B-E964-418E-8DA3-F9C6CE4D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检查论文与引用，并保存长期研究上下文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D8A32B-8079-4780-A856-3EE86C1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269B1-ABED-48D2-B511-D60E3E7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thesis-audit-reviewer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86D14-1BAD-4B3F-9C2F-C03A9AD1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338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E38FD-4B19-4199-87B2-ED29C7C3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papercheck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777C1-0060-4047-8A82-B19121E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719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90BF5-6DEF-46AA-93DD-0BE0A2B0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cognitive-profile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C460A-D68D-4150-839A-5BD10AA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6BC51-768C-4052-B730-3D38F0A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76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world-threads-entry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5D25CC-5EB2-437E-BC84-EBBE06FF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FE9C3-5993-436D-A5A3-C60F374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能力评测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60BBA3-E250-4F40-A5C5-0307DD78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采用新工具前检查 MCP 与 Skill 的质量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A8118-8FD9-48FC-820A-80FF2A2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03593B-A91F-4F01-ADF9-0F4744C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mcp-criticagent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D09608-8549-4C0D-8049-2AE7202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33825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589C4C-5C61-477B-A12E-1DE9699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skill-criticagent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4AF510-B4DA-43D7-BF55-DFA48A01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AE90F9-56A8-411B-8FD5-A8F2706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已集成不等于无条件可运行。依赖、外部服务、连接状态与用户授权仍然决定实际可用范围。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0CDB82-35AF-4BEB-91D7-A8E89D4C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ADB9F6-44F8-4A85-A477-F33D45B0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10</a:t>
            </a:r>
          </a:p>
        </p:txBody>
      </p:sp>
    </p:spTree>
    <p:extLst>
      <p:ext uri="{BB962C8B-B14F-4D97-AF65-F5344CB8AC3E}">
        <p14:creationId xmlns:p14="http://schemas.microsoft.com/office/powerpoint/2010/main" val="7324730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E8D490-DA58-44B2-8B1F-7FE2716B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25C45-C02A-447F-B728-B42E484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DB3C6-45F4-4D37-B1F6-3F87F383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连接真实环境，也明确使用边界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C1BFF-2E15-42A3-B486-71D6B5B6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只调用本机已安装、已配置并获得授权的能力。连接执行环境，不等于扩大访问权限。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2BCCC-D06A-4FCD-B24A-B92056E1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2469D-57EF-47A1-A316-531B308E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062D9-2450-41BE-BEB5-855775D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DE0A6-C6E0-47E1-AD91-BCDA802B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43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AUTHORIZED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4197E-1A48-4915-B3B0-1CF6DF8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F8385-D13F-4FDA-ACE8-C6FA3717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本地文件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573EB-EF5A-4108-A283-43CA2D24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PDF / CSV / 项目目录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AE498-A7E0-4584-8A67-6894A14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CF42C-9098-4001-9EDA-45295D14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A7CE3-7BBB-42DA-845B-B5CDBD0A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代码与终端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38A16-6B24-47F0-B875-96D781E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仓库 / 命令 / 脚本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C99CF-04EC-4AAC-B4B5-B6A1A9D1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60A19-2A10-4AD2-92CE-A150BC5D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46AA3-C92E-43F4-B542-BEC46CAF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模型提供商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89CD4-49A1-4126-802D-EFE29999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已配置的推理模型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D1CE1-232A-4F07-81E5-B4EC587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F93D5-D4D2-4918-8ABB-30D29266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D4D7C-746E-4A77-B14D-07D1B26A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MCP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CF139-B45B-45E1-98D4-6DCD1D6F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已启用的扩展工具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72E75-87F8-47D1-B7CD-B3EE5B62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FCE9-3CC2-4EF7-8E08-848C760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CB9A4-CB11-4F87-BF87-876A6CAE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数据源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75BC0-F155-4DD5-A4A0-DA9B23CE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授权的数据库与服务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3996D-ECD8-402A-A0A4-23D49EF8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43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55A98-F721-4591-A6E6-404DCC8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EE400-4548-4921-8AAA-CBE735F5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计算环境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D32D3-F26D-4A7E-A6EE-86D7E23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本机已有计算能力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DAEC9-FFB6-4054-B154-0491735B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43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8A3340-41D2-4796-AE8C-279029F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43075"/>
            <a:ext cx="4638675" cy="415290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CA61B-78E7-4FE4-85FC-3E050A3F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 使用边界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850A05-3D27-4CEE-B2C5-A899143F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765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CBE129-F8B9-4266-A1E5-73052934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纠错，不替你写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1BA2C-D93A-4CDF-9261-537BCFA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23727-ABF6-4F5F-B937-19D44B5E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623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B2E0CD-B581-4646-8677-95B68B1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初筛，不替你读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9CD8F3-B5A2-4F2F-A685-27F86B39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004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01E75-5693-4AF2-8298-1790FD7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481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F7F38B-FED5-48AC-9773-8A60292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数据有边界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D6D20A-636C-494E-9C06-0BFB911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862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F922C9-CCC7-4289-8E42-2760964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339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B78F5C-3EEB-4582-B1EF-86FC595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不夸大结果与结论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EF4EB3-1306-441A-884A-56E14223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57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rPr>
              <a:t>关键证据仍需人工复核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8F88D8-2C6A-4854-BECC-B3B05DE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2EE051-441F-46FE-B92A-F4A60C4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11</a:t>
            </a:r>
          </a:p>
        </p:txBody>
      </p:sp>
    </p:spTree>
    <p:extLst>
      <p:ext uri="{BB962C8B-B14F-4D97-AF65-F5344CB8AC3E}">
        <p14:creationId xmlns:p14="http://schemas.microsoft.com/office/powerpoint/2010/main" val="719073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12D3D-5721-433F-9F5C-789A4D82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A0CAB-B8D6-4692-A503-8ACA81DD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09 ·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FC913-BC25-491E-95A9-930DF184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5334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第一条链路，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从一个真实问题开始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2C801-540D-4A73-B5F3-BE4E6309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FFA3-7D24-430C-8C6A-4400855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打开本地研究项目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A4877-FB97-43E8-B163-057556C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96FA0-ECE8-499A-BF73-FF278A33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53DE-7FCF-4934-B983-EEA1EBBA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说清范围、格式和验收条件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1AFC5-5DED-481E-9FA2-C450C992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56C74-5089-436F-BEE7-0A184E7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BAAEF-D446-41DF-9956-E70E362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检查来源、产物与下一步建议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65008-A652-4E74-A859-CE1EB5EC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10934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A4A3F"/>
          </a:solidFill>
          <a:ln xmlns:a="http://schemas.openxmlformats.org/drawingml/2006/main" w="9525">
            <a:solidFill>
              <a:srgbClr val="2871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090BA-A661-4563-B348-D6C57CBE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defRPr>
            </a:pPr>
            <a:r>
              <a: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rPr>
              <a:t>可以直接开始的示例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E0BB3-BF18-4B99-8A44-EE645283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40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“检索近三年关于 X 的代表论文，按方法、数据、结论和局限整理成表，每条附出处；先给 10 篇，找不到就明确说明，不要编造。”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A9387-D2C3-4D29-931D-F43CD10C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F613C-0F02-409D-81E5-13F50C42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77C97-49A5-4F86-B261-3B6B35A6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rPr>
              <a:t>github.com/insight68/ScienceX</a:t>
            </a:r>
          </a:p>
        </p:txBody>
      </p:sp>
    </p:spTree>
    <p:extLst>
      <p:ext uri="{BB962C8B-B14F-4D97-AF65-F5344CB8AC3E}">
        <p14:creationId xmlns:p14="http://schemas.microsoft.com/office/powerpoint/2010/main" val="1461861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2026-09-04T13:28:33.3650000Z</dcterms:created>
  <dcterms:modified xsi:type="dcterms:W3CDTF">2026-09-04T13:28:33.3650000Z</dcterms:modified>
</coreProperties>
</file>